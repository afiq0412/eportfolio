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105"/>
  </p:notesMasterIdLst>
  <p:handoutMasterIdLst>
    <p:handoutMasterId r:id="rId106"/>
  </p:handoutMasterIdLst>
  <p:sldIdLst>
    <p:sldId id="330" r:id="rId3"/>
    <p:sldId id="332" r:id="rId4"/>
    <p:sldId id="333" r:id="rId5"/>
    <p:sldId id="334" r:id="rId6"/>
    <p:sldId id="335" r:id="rId7"/>
    <p:sldId id="336" r:id="rId8"/>
    <p:sldId id="337" r:id="rId9"/>
    <p:sldId id="338" r:id="rId10"/>
    <p:sldId id="339" r:id="rId11"/>
    <p:sldId id="340" r:id="rId12"/>
    <p:sldId id="360" r:id="rId13"/>
    <p:sldId id="359" r:id="rId14"/>
    <p:sldId id="358" r:id="rId15"/>
    <p:sldId id="357" r:id="rId16"/>
    <p:sldId id="356" r:id="rId17"/>
    <p:sldId id="355" r:id="rId18"/>
    <p:sldId id="354" r:id="rId19"/>
    <p:sldId id="353" r:id="rId20"/>
    <p:sldId id="352" r:id="rId21"/>
    <p:sldId id="351" r:id="rId22"/>
    <p:sldId id="350" r:id="rId23"/>
    <p:sldId id="349" r:id="rId24"/>
    <p:sldId id="348" r:id="rId25"/>
    <p:sldId id="414" r:id="rId26"/>
    <p:sldId id="415" r:id="rId27"/>
    <p:sldId id="416" r:id="rId28"/>
    <p:sldId id="417" r:id="rId29"/>
    <p:sldId id="418" r:id="rId30"/>
    <p:sldId id="419" r:id="rId31"/>
    <p:sldId id="420" r:id="rId32"/>
    <p:sldId id="421" r:id="rId33"/>
    <p:sldId id="422" r:id="rId34"/>
    <p:sldId id="423" r:id="rId35"/>
    <p:sldId id="424" r:id="rId36"/>
    <p:sldId id="425" r:id="rId37"/>
    <p:sldId id="426" r:id="rId38"/>
    <p:sldId id="427" r:id="rId39"/>
    <p:sldId id="428" r:id="rId40"/>
    <p:sldId id="429" r:id="rId41"/>
    <p:sldId id="430" r:id="rId42"/>
    <p:sldId id="431" r:id="rId43"/>
    <p:sldId id="432" r:id="rId44"/>
    <p:sldId id="433" r:id="rId45"/>
    <p:sldId id="347" r:id="rId46"/>
    <p:sldId id="346" r:id="rId47"/>
    <p:sldId id="345" r:id="rId48"/>
    <p:sldId id="344" r:id="rId49"/>
    <p:sldId id="343" r:id="rId50"/>
    <p:sldId id="342" r:id="rId51"/>
    <p:sldId id="375" r:id="rId52"/>
    <p:sldId id="341" r:id="rId53"/>
    <p:sldId id="374" r:id="rId54"/>
    <p:sldId id="373" r:id="rId55"/>
    <p:sldId id="372" r:id="rId56"/>
    <p:sldId id="371" r:id="rId57"/>
    <p:sldId id="370" r:id="rId58"/>
    <p:sldId id="369" r:id="rId59"/>
    <p:sldId id="368" r:id="rId60"/>
    <p:sldId id="367" r:id="rId61"/>
    <p:sldId id="366" r:id="rId62"/>
    <p:sldId id="365" r:id="rId63"/>
    <p:sldId id="364" r:id="rId64"/>
    <p:sldId id="363" r:id="rId65"/>
    <p:sldId id="362" r:id="rId66"/>
    <p:sldId id="361" r:id="rId67"/>
    <p:sldId id="395" r:id="rId68"/>
    <p:sldId id="394" r:id="rId69"/>
    <p:sldId id="393" r:id="rId70"/>
    <p:sldId id="392" r:id="rId71"/>
    <p:sldId id="391" r:id="rId72"/>
    <p:sldId id="390" r:id="rId73"/>
    <p:sldId id="389" r:id="rId74"/>
    <p:sldId id="388" r:id="rId75"/>
    <p:sldId id="387" r:id="rId76"/>
    <p:sldId id="386" r:id="rId77"/>
    <p:sldId id="385" r:id="rId78"/>
    <p:sldId id="384" r:id="rId79"/>
    <p:sldId id="383" r:id="rId80"/>
    <p:sldId id="382" r:id="rId81"/>
    <p:sldId id="381" r:id="rId82"/>
    <p:sldId id="380" r:id="rId83"/>
    <p:sldId id="379" r:id="rId84"/>
    <p:sldId id="378" r:id="rId85"/>
    <p:sldId id="377" r:id="rId86"/>
    <p:sldId id="376" r:id="rId87"/>
    <p:sldId id="411" r:id="rId88"/>
    <p:sldId id="410" r:id="rId89"/>
    <p:sldId id="409" r:id="rId90"/>
    <p:sldId id="408" r:id="rId91"/>
    <p:sldId id="407" r:id="rId92"/>
    <p:sldId id="406" r:id="rId93"/>
    <p:sldId id="405" r:id="rId94"/>
    <p:sldId id="404" r:id="rId95"/>
    <p:sldId id="403" r:id="rId96"/>
    <p:sldId id="402" r:id="rId97"/>
    <p:sldId id="401" r:id="rId98"/>
    <p:sldId id="400" r:id="rId99"/>
    <p:sldId id="399" r:id="rId100"/>
    <p:sldId id="398" r:id="rId101"/>
    <p:sldId id="397" r:id="rId102"/>
    <p:sldId id="396" r:id="rId103"/>
    <p:sldId id="412" r:id="rId104"/>
  </p:sldIdLst>
  <p:sldSz cx="9144000" cy="6858000" type="screen4x3"/>
  <p:notesSz cx="6858000" cy="9144000"/>
  <p:embeddedFontLst>
    <p:embeddedFont>
      <p:font typeface="Noto Sans Symbols" panose="020B0604020202020204" charset="0"/>
      <p:regular r:id="rId107"/>
      <p:bold r:id="rId108"/>
      <p:italic r:id="rId109"/>
      <p:boldItalic r:id="rId110"/>
    </p:embeddedFont>
    <p:embeddedFont>
      <p:font typeface="Verdana" panose="020B0604030504040204" pitchFamily="34" charset="0"/>
      <p:regular r:id="rId111"/>
      <p:bold r:id="rId112"/>
      <p:italic r:id="rId113"/>
      <p:boldItalic r:id="rId1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3" orient="horz" pos="4178" userDrawn="1">
          <p15:clr>
            <a:srgbClr val="A4A3A4"/>
          </p15:clr>
        </p15:guide>
        <p15:guide id="4" orient="horz" pos="119" userDrawn="1">
          <p15:clr>
            <a:srgbClr val="A4A3A4"/>
          </p15:clr>
        </p15:guide>
        <p15:guide id="5" orient="horz" pos="709" userDrawn="1">
          <p15:clr>
            <a:srgbClr val="A4A3A4"/>
          </p15:clr>
        </p15:guide>
        <p15:guide id="9" pos="295" userDrawn="1">
          <p15:clr>
            <a:srgbClr val="A4A3A4"/>
          </p15:clr>
        </p15:guide>
        <p15:guide id="10" orient="horz" pos="3974" userDrawn="1">
          <p15:clr>
            <a:srgbClr val="A4A3A4"/>
          </p15:clr>
        </p15:guide>
        <p15:guide id="11" orient="horz" pos="3067" userDrawn="1">
          <p15:clr>
            <a:srgbClr val="A4A3A4"/>
          </p15:clr>
        </p15:guide>
        <p15:guide id="13" pos="5465" userDrawn="1">
          <p15:clr>
            <a:srgbClr val="A4A3A4"/>
          </p15:clr>
        </p15:guide>
        <p15:guide id="14" orient="horz" pos="981" userDrawn="1">
          <p15:clr>
            <a:srgbClr val="A4A3A4"/>
          </p15:clr>
        </p15:guide>
        <p15:guide id="16" orient="horz" pos="822" userDrawn="1">
          <p15:clr>
            <a:srgbClr val="A4A3A4"/>
          </p15:clr>
        </p15:guide>
        <p15:guide id="17" pos="2880" userDrawn="1">
          <p15:clr>
            <a:srgbClr val="A4A3A4"/>
          </p15:clr>
        </p15:guide>
        <p15:guide id="18" orient="horz" pos="4065" userDrawn="1">
          <p15:clr>
            <a:srgbClr val="A4A3A4"/>
          </p15:clr>
        </p15:guide>
        <p15:guide id="19" pos="589" userDrawn="1">
          <p15:clr>
            <a:srgbClr val="A4A3A4"/>
          </p15:clr>
        </p15:guide>
        <p15:guide id="20" pos="183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USER" initials="U" lastIdx="3" clrIdx="7">
    <p:extLst>
      <p:ext uri="{19B8F6BF-5375-455C-9EA6-DF929625EA0E}">
        <p15:presenceInfo xmlns:p15="http://schemas.microsoft.com/office/powerpoint/2012/main" userId="USER" providerId="None"/>
      </p:ext>
    </p:extLst>
  </p:cmAuthor>
  <p:cmAuthor id="1" name="Ruchi Sachdev" initials="" lastIdx="8" clrIdx="1"/>
  <p:cmAuthor id="8" name="DELL" initials="D" lastIdx="1" clrIdx="8">
    <p:extLst>
      <p:ext uri="{19B8F6BF-5375-455C-9EA6-DF929625EA0E}">
        <p15:presenceInfo xmlns:p15="http://schemas.microsoft.com/office/powerpoint/2012/main" userId="DELL" providerId="None"/>
      </p:ext>
    </p:extLst>
  </p:cmAuthor>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11" autoAdjust="0"/>
    <p:restoredTop sz="56764" autoAdjust="0"/>
  </p:normalViewPr>
  <p:slideViewPr>
    <p:cSldViewPr snapToGrid="0" snapToObjects="1">
      <p:cViewPr varScale="1">
        <p:scale>
          <a:sx n="45" d="100"/>
          <a:sy n="45" d="100"/>
        </p:scale>
        <p:origin x="2520" y="34"/>
      </p:cViewPr>
      <p:guideLst>
        <p:guide orient="horz" pos="4178"/>
        <p:guide orient="horz" pos="119"/>
        <p:guide orient="horz" pos="709"/>
        <p:guide pos="295"/>
        <p:guide orient="horz" pos="3974"/>
        <p:guide orient="horz" pos="3067"/>
        <p:guide pos="5465"/>
        <p:guide orient="horz" pos="981"/>
        <p:guide orient="horz" pos="822"/>
        <p:guide pos="2880"/>
        <p:guide orient="horz" pos="4065"/>
        <p:guide pos="589"/>
        <p:guide pos="1837"/>
      </p:guideLst>
    </p:cSldViewPr>
  </p:slideViewPr>
  <p:outlineViewPr>
    <p:cViewPr>
      <p:scale>
        <a:sx n="33" d="100"/>
        <a:sy n="33" d="100"/>
      </p:scale>
      <p:origin x="0" y="-4245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viewProps" Target="view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6.fntdata"/><Relationship Id="rId16" Type="http://schemas.openxmlformats.org/officeDocument/2006/relationships/slide" Target="slides/slide14.xml"/><Relationship Id="rId107" Type="http://schemas.openxmlformats.org/officeDocument/2006/relationships/font" Target="fonts/font1.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font" Target="fonts/font7.fntdata"/><Relationship Id="rId118"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font" Target="fonts/font2.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font" Target="fonts/font8.fntdata"/><Relationship Id="rId119"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3.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font" Target="fonts/font4.fntdata"/><Relationship Id="rId115" Type="http://schemas.openxmlformats.org/officeDocument/2006/relationships/commentAuthors" Target="commentAuthor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font" Target="fonts/font5.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5/29/2024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9823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83645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Object-oriented analysis and design can offer an approach that facilitates logical, rapid, and thorough methods for creating new systems responsive to a changing business landscape.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Object-oriented systems describe entities as objects where objects are part of a general concept called classes.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Reusable—means you can become more efficient, because you do not have to start at the beginning to describe an object every time it is needed for software development.</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UML is a powerful tool that can greatly improve the quality of your systems analysis and design, and thereby help create higher-quality information systems.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8461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94853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Object-oriented programming differs from traditional programming by examining the objects that are part of a system.</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55731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Objects are represented by and grouped into classes that are optimal for reuse and maintainability.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60828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Arial" panose="020B0604020202020204" pitchFamily="34" charset="0"/>
              </a:rPr>
              <a:t>What makes object-oriented programming, and thus object-oriented analysis and design, different from classical programming is the technique of putting all of an object’s attributes and methods within one self-contained structure, the class itself.</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Names—class names are usually nouns or short phrases and begin with an uppercase letter.</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Instantiate—when a program runs, objects can be created from the established class.</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Attribute—examples might be size, color, and make</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Method—the processes that a class knows to carry out, also called an operation.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08308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illustration shows a rectangle which is divided horizontally into three sections.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first section shows Rental Car, which is the Class name.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second section shows attributes and consists of size, color, make, and model.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third section shows Methods (Operations), and consists of rent Out (), check In (), and service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94698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The parent class is called the base class.</a:t>
            </a:r>
          </a:p>
          <a:p>
            <a:pPr lvl="0"/>
            <a:r>
              <a:rPr lang="en-US" altLang="en-US" dirty="0">
                <a:solidFill>
                  <a:srgbClr val="000000"/>
                </a:solidFill>
                <a:latin typeface="Arial" panose="020B0604020202020204" pitchFamily="34" charset="0"/>
              </a:rPr>
              <a:t>The child class is called the derived class.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Allows the programmer to define once but use many times.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02616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a:lnSpc>
                <a:spcPct val="115000"/>
              </a:lnSpc>
              <a:spcBef>
                <a:spcPts val="0"/>
              </a:spcBef>
              <a:spcAft>
                <a:spcPts val="0"/>
              </a:spcAft>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size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color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make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model</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available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ratePerDay</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ratePerWeek</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ratePerMile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style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rentOut(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checkIn(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service(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addNew(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Truck</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size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color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make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model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available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ratePerDay</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ratePerWeek</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ratePerMile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length</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4WheelDrive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manualShift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rentOut(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checkIn(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service(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addNew(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Vehicle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size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color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make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model</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available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ratePerDay</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ratePerWeek</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ratePerMile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rentOut(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checkIn(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service(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addNew(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99555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CRC cards are created based on scenarios that outline system requirements.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5556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a:solidFill>
                  <a:srgbClr val="000000"/>
                </a:solidFill>
                <a:latin typeface="Arial" panose="020B0604020202020204" pitchFamily="34" charset="0"/>
                <a:cs typeface="Arial" panose="020B0604020202020204" pitchFamily="34" charset="0"/>
              </a:rPr>
              <a:t>The purpose of the Object Think column and the Property column is to clarify thinking and help move toward creating the UML diagram.</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four tables begin with fields for filling in the following information: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Class Name: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Superclasses: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Subclasses: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After these details, the tables consist of four columns, with four column heads, Responsibilities, Collaborators, Object Think, and Property.</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tables depict the following information: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Table 1: Class Name: Department</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1: Add a new department; Course; I know my name; Department name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2: Provide department information; blank; I know my department chair; Chair name.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Table 2: Class Name: Course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1: Add a new course; Department; I know my course number; Course number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2: Change course information; Textbook; I know my description; Course description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3: Display course information; Assignment; I know my number of credits; Credits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4 shows Collaborators: Exam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Table 3: Class Name: Textbook</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1: Add a new textbook; Course; I know my I S B N; I S B 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2: Change textbook information; blank; I know my author; Author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3: Find textbook information; blank; I know my title; Title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4: Remove obsolete textbooks; blank; I know my edition; Edition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6: blank; blank; I know my publisher; Publisher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7: blank; blank; I know if I am required; Required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Table 4: Class Name: Assignment</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1: Add a new assignment; Course; I know my assignment number; Task number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2: Change an assignment; blank; I know my description; Task description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3: View an assignment; blank; I know how many points I am worth; Points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Row 4: blank; blank; I know when I am due; Due date</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31415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Identify all the classes you can—when all classes have been identified, the analysts can then compile them, weed out the illogical ones, and write each one on its own card.</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Creating scenarios—actual walkthroughs of system functions.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The responsibilities will eventually evolve into methods in the UML.</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The think statements can later be converted to attributes in the UML.</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0985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UML provides a standardized set of tools to document the analysis and design of a software system.</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Things—the objects.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Relationships—the glue that holds things together.</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Diagrams—categorized as either structural or behavioral.</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39446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Things are the primary elements of the UML (objects).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388079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Relationships are the glue that holds the things together.</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20992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Structural relationships show inheritance.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5416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75696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Two main types of diagrams.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096207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395744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Originally, introduced as a diagram for use in the object-oriented UML, use cases are now used regardless of the approach to systems development. They can be used as part of the SDLC or in agile modeling.</a:t>
            </a:r>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24</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972406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A use case always describes three things: </a:t>
            </a:r>
          </a:p>
          <a:p>
            <a:pPr marL="628650" lvl="1" indent="-171450">
              <a:buFontTx/>
              <a:buChar char="•"/>
            </a:pPr>
            <a:r>
              <a:rPr lang="en-US" altLang="en-US" dirty="0">
                <a:solidFill>
                  <a:srgbClr val="000000"/>
                </a:solidFill>
                <a:latin typeface="Arial" panose="020B0604020202020204" pitchFamily="34" charset="0"/>
              </a:rPr>
              <a:t>an actor that initiates an event</a:t>
            </a:r>
          </a:p>
          <a:p>
            <a:pPr marL="628650" lvl="1" indent="-171450">
              <a:buFontTx/>
              <a:buChar char="•"/>
            </a:pPr>
            <a:r>
              <a:rPr lang="en-US" altLang="en-US" dirty="0">
                <a:solidFill>
                  <a:srgbClr val="000000"/>
                </a:solidFill>
                <a:latin typeface="Arial" panose="020B0604020202020204" pitchFamily="34" charset="0"/>
              </a:rPr>
              <a:t>the event that triggers a use case</a:t>
            </a:r>
          </a:p>
          <a:p>
            <a:pPr marL="628650" lvl="1" indent="-171450">
              <a:buFontTx/>
              <a:buChar char="•"/>
            </a:pPr>
            <a:r>
              <a:rPr lang="en-US" altLang="en-US" dirty="0">
                <a:solidFill>
                  <a:srgbClr val="000000"/>
                </a:solidFill>
                <a:latin typeface="Arial" panose="020B0604020202020204" pitchFamily="34" charset="0"/>
              </a:rPr>
              <a:t>the use case that performs the actions triggered by the event</a:t>
            </a:r>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25</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512196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Sometimes a table is created with actor profiles that list the actors, their background, and their skills.</a:t>
            </a:r>
          </a:p>
          <a:p>
            <a:pPr lvl="0"/>
            <a:r>
              <a:rPr lang="en-US" altLang="en-US" dirty="0">
                <a:solidFill>
                  <a:srgbClr val="000000"/>
                </a:solidFill>
                <a:latin typeface="Arial" panose="020B0604020202020204" pitchFamily="34" charset="0"/>
              </a:rPr>
              <a:t>These profiles can be useful to understand how the actor interacts with the system.</a:t>
            </a:r>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26</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383619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A use case documents a single transaction or event.</a:t>
            </a:r>
          </a:p>
          <a:p>
            <a:pPr lvl="0"/>
            <a:r>
              <a:rPr lang="en-US" altLang="en-US" dirty="0">
                <a:solidFill>
                  <a:srgbClr val="000000"/>
                </a:solidFill>
                <a:latin typeface="Arial" panose="020B0604020202020204" pitchFamily="34" charset="0"/>
              </a:rPr>
              <a:t>An event is an input to the system that happens at a specific time and place and causes the system to do something.</a:t>
            </a:r>
          </a:p>
          <a:p>
            <a:pPr lvl="0"/>
            <a:endParaRPr lang="en-US" altLang="en-US" dirty="0">
              <a:solidFill>
                <a:srgbClr val="000000"/>
              </a:solidFill>
              <a:latin typeface="Arial" panose="020B0604020202020204" pitchFamily="34" charset="0"/>
            </a:endParaRPr>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27</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519631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28</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0149798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29</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3975933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b="0" i="0" u="none" strike="noStrike" kern="1200" cap="none" dirty="0">
                <a:solidFill>
                  <a:schemeClr val="dk1"/>
                </a:solidFill>
                <a:effectLst/>
                <a:latin typeface="Arial"/>
                <a:ea typeface="Arial"/>
                <a:cs typeface="Arial"/>
                <a:sym typeface="Arial"/>
              </a:rPr>
              <a:t>The table is as follows.</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Relationship Symbol Meaning Communicates A horizontal solid line. An actor is connected to a use case using a line with no arrowheads.</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Includes A dashed arrow with arrow head on the left end. A use case contains a behavior that is common to more than one other use case. The arrow points to the common use case.</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Extends A dashed arrow with arrow head on the right end. A different use case handles exceptions from the basic use case. The arrow points from the extended to the basic use case.</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Generalizes A solid arrow with arrow head on the right end. One UML "thing” is more general than another thing. The arrow points to the general thing.</a:t>
            </a:r>
            <a:endParaRPr lang="en-US" dirty="0"/>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30</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9748591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a:solidFill>
                  <a:srgbClr val="000000"/>
                </a:solidFill>
                <a:latin typeface="Arial" panose="020B0604020202020204" pitchFamily="34" charset="0"/>
              </a:rPr>
              <a:t>Communicates—used to connect an actor to a use case. The task of the use case is to give some sort of result that is beneficial to the actor in the system.</a:t>
            </a:r>
          </a:p>
          <a:p>
            <a:pPr lvl="0"/>
            <a:endParaRPr lang="en-US" altLang="en-US" noProof="0" dirty="0">
              <a:solidFill>
                <a:srgbClr val="000000"/>
              </a:solidFill>
              <a:latin typeface="Arial" panose="020B0604020202020204" pitchFamily="34" charset="0"/>
            </a:endParaRPr>
          </a:p>
          <a:p>
            <a:pPr lvl="0"/>
            <a:r>
              <a:rPr lang="en-US" altLang="en-US" noProof="0" dirty="0">
                <a:solidFill>
                  <a:srgbClr val="000000"/>
                </a:solidFill>
                <a:latin typeface="Arial" panose="020B0604020202020204" pitchFamily="34" charset="0"/>
              </a:rPr>
              <a:t>Includes—describes the situation in which a use case contains behavior that is common to more than one use case.</a:t>
            </a:r>
          </a:p>
          <a:p>
            <a:pPr lvl="0"/>
            <a:endParaRPr lang="en-US" altLang="en-US" noProof="0" dirty="0">
              <a:solidFill>
                <a:srgbClr val="000000"/>
              </a:solidFill>
              <a:latin typeface="Arial" panose="020B0604020202020204" pitchFamily="34" charset="0"/>
            </a:endParaRPr>
          </a:p>
          <a:p>
            <a:pPr lvl="0"/>
            <a:r>
              <a:rPr lang="en-US" altLang="en-US" noProof="0" dirty="0">
                <a:solidFill>
                  <a:srgbClr val="000000"/>
                </a:solidFill>
                <a:latin typeface="Arial" panose="020B0604020202020204" pitchFamily="34" charset="0"/>
              </a:rPr>
              <a:t>Extends—describes the situation in which one use case possesses the behavior that allows the new use case to handle a variation or exception from the basic use case.</a:t>
            </a:r>
          </a:p>
          <a:p>
            <a:pPr lvl="0"/>
            <a:endParaRPr lang="en-US" altLang="en-US" noProof="0" dirty="0">
              <a:solidFill>
                <a:srgbClr val="000000"/>
              </a:solidFill>
              <a:latin typeface="Arial" panose="020B0604020202020204" pitchFamily="34" charset="0"/>
            </a:endParaRPr>
          </a:p>
          <a:p>
            <a:pPr lvl="0"/>
            <a:r>
              <a:rPr lang="en-US" altLang="en-US" noProof="0" dirty="0">
                <a:solidFill>
                  <a:srgbClr val="000000"/>
                </a:solidFill>
                <a:latin typeface="Arial" panose="020B0604020202020204" pitchFamily="34" charset="0"/>
              </a:rPr>
              <a:t>Generalizes—implies that one thing is more typical than the other thing.</a:t>
            </a:r>
          </a:p>
          <a:p>
            <a:pPr lvl="0"/>
            <a:endParaRPr lang="en-US" altLang="en-US" noProof="0" dirty="0">
              <a:solidFill>
                <a:srgbClr val="000000"/>
              </a:solidFill>
              <a:latin typeface="Arial" panose="020B0604020202020204" pitchFamily="34" charset="0"/>
            </a:endParaRPr>
          </a:p>
          <a:p>
            <a:pPr lvl="0"/>
            <a:r>
              <a:rPr lang="en-US" altLang="en-US" noProof="0" dirty="0">
                <a:solidFill>
                  <a:srgbClr val="000000"/>
                </a:solidFill>
                <a:latin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noProof="0" dirty="0">
                <a:solidFill>
                  <a:srgbClr val="000000"/>
                </a:solidFill>
                <a:effectLst/>
                <a:latin typeface="Times New Roman" panose="02020603050405020304" pitchFamily="18" charset="0"/>
                <a:ea typeface="Times New Roman" panose="02020603050405020304" pitchFamily="18" charset="0"/>
              </a:rPr>
              <a:t>Communicates Relationship: A solid line connecting "Student" and "Enroll in Course."</a:t>
            </a:r>
            <a:br>
              <a:rPr lang="en-US" sz="1800" noProof="0" dirty="0">
                <a:solidFill>
                  <a:srgbClr val="000000"/>
                </a:solidFill>
                <a:effectLst/>
                <a:latin typeface="Times New Roman" panose="02020603050405020304" pitchFamily="18" charset="0"/>
                <a:ea typeface="Times New Roman" panose="02020603050405020304" pitchFamily="18" charset="0"/>
              </a:rPr>
            </a:br>
            <a:r>
              <a:rPr lang="en-US" sz="1800" noProof="0" dirty="0">
                <a:solidFill>
                  <a:srgbClr val="000000"/>
                </a:solidFill>
                <a:effectLst/>
                <a:latin typeface="Times New Roman" panose="02020603050405020304" pitchFamily="18" charset="0"/>
                <a:ea typeface="Times New Roman" panose="02020603050405020304" pitchFamily="18" charset="0"/>
              </a:rPr>
              <a:t>Includes Relationship: A dashed left arrow each from "Enroll in Course" and "Arrange Housing" to "Pay Student Fees." Generalizes Relationship: A solid right arrow from "Part-time Student" to "Student." Extends Relationship: A dashed right arrow from "Student Health Insurance" to "Pay Student Fees." The text below the arrow reads, "student states amount of coverage."</a:t>
            </a:r>
            <a:endParaRPr lang="en-US" sz="1800" noProof="0" dirty="0">
              <a:effectLst/>
              <a:latin typeface="Calibri" panose="020F0502020204030204" pitchFamily="34" charset="0"/>
              <a:ea typeface="Calibri" panose="020F0502020204030204" pitchFamily="34" charset="0"/>
            </a:endParaRPr>
          </a:p>
          <a:p>
            <a:pPr lvl="0"/>
            <a:endParaRPr lang="en-US" altLang="en-US" noProof="0" dirty="0">
              <a:solidFill>
                <a:srgbClr val="000000"/>
              </a:solidFill>
              <a:latin typeface="Arial" panose="020B0604020202020204" pitchFamily="34" charset="0"/>
            </a:endParaRPr>
          </a:p>
          <a:p>
            <a:pPr lvl="0"/>
            <a:endParaRPr lang="en-US" altLang="en-US" noProof="0" dirty="0">
              <a:solidFill>
                <a:srgbClr val="000000"/>
              </a:solidFill>
              <a:latin typeface="Arial" panose="020B0604020202020204" pitchFamily="34" charset="0"/>
            </a:endParaRPr>
          </a:p>
          <a:p>
            <a:endParaRPr lang="en-US" noProof="0"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31</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7365298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32</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870328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When diagramming a use case, start by asking the users to list everything the system should do for them.</a:t>
            </a:r>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33</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8633889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a:solidFill>
                  <a:srgbClr val="000000"/>
                </a:solidFill>
                <a:latin typeface="Arial" panose="020B0604020202020204" pitchFamily="34" charset="0"/>
              </a:rPr>
              <a:t>Example of a use case diagram representing a system used to plan a conference.</a:t>
            </a:r>
          </a:p>
          <a:p>
            <a:pPr lvl="0"/>
            <a:endParaRPr lang="en-US" altLang="en-US" noProof="0" dirty="0">
              <a:solidFill>
                <a:srgbClr val="000000"/>
              </a:solidFill>
              <a:latin typeface="Arial" panose="020B0604020202020204" pitchFamily="34" charset="0"/>
            </a:endParaRPr>
          </a:p>
          <a:p>
            <a:pPr lvl="0"/>
            <a:r>
              <a:rPr lang="en-US" altLang="en-US" noProof="0" dirty="0">
                <a:solidFill>
                  <a:srgbClr val="000000"/>
                </a:solidFill>
                <a:latin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Times New Roman" panose="02020603050405020304" pitchFamily="18" charset="0"/>
                <a:ea typeface="Times New Roman" panose="02020603050405020304" pitchFamily="18" charset="0"/>
              </a:rPr>
              <a:t>The diagram shows various relationships in the plan as follows. A solid line between "Caterer" and "Plan Catering." A solid line between "Conference Chair" and "Plan Catering." A solid line between "Conference Chair" and "Arrange Speaker."  A solid line between "Keynote Speaker" and "Arrange Speaker." A solid line between "Speaker" and "Arrange Speaker." A solid right arrow between "Keynote Speaker" and "Speaker." A dashed arrow (include) between "Arrange Speaker" and "Reserve Room." A dashed arrow (include) between "Reserve Room" and "Register for Conference." A solid line between "Reserve Room" and "Hotel Reservations." A dashed arrow (extend) between "Register for Conference" and "Arrange Language Translation." A solid line between "Register for Conference" and "Participant." A solid line between "Arrange Language Translation" and "Participant."</a:t>
            </a:r>
            <a:endParaRPr lang="en-US" sz="1200" noProof="0" dirty="0">
              <a:effectLst/>
              <a:latin typeface="Calibri" panose="020F0502020204030204" pitchFamily="34" charset="0"/>
              <a:ea typeface="Calibri" panose="020F0502020204030204" pitchFamily="34" charset="0"/>
            </a:endParaRPr>
          </a:p>
          <a:p>
            <a:pPr lvl="0"/>
            <a:endParaRPr lang="en-US" altLang="en-US" noProof="0" dirty="0">
              <a:solidFill>
                <a:srgbClr val="000000"/>
              </a:solidFill>
              <a:latin typeface="Arial" panose="020B0604020202020204" pitchFamily="34" charset="0"/>
            </a:endParaRPr>
          </a:p>
          <a:p>
            <a:endParaRPr lang="en-US" noProof="0"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34</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476207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Each use case has a description referred to as the use case scenario.</a:t>
            </a:r>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35</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1626614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nSpc>
                <a:spcPct val="90000"/>
              </a:lnSpc>
            </a:pPr>
            <a:r>
              <a:rPr lang="en-US" altLang="en-US" sz="1000" dirty="0">
                <a:solidFill>
                  <a:srgbClr val="000000"/>
                </a:solidFill>
                <a:latin typeface="Arial" panose="020B0604020202020204" pitchFamily="34" charset="0"/>
              </a:rPr>
              <a:t>(First area) </a:t>
            </a:r>
          </a:p>
          <a:p>
            <a:pPr lvl="0">
              <a:lnSpc>
                <a:spcPct val="90000"/>
              </a:lnSpc>
            </a:pPr>
            <a:r>
              <a:rPr lang="en-US" altLang="en-US" sz="1000" dirty="0">
                <a:solidFill>
                  <a:srgbClr val="000000"/>
                </a:solidFill>
                <a:latin typeface="Arial" panose="020B0604020202020204" pitchFamily="34" charset="0"/>
              </a:rPr>
              <a:t>Use case identifiers and initiators—orients the reader and contains: </a:t>
            </a:r>
          </a:p>
          <a:p>
            <a:pPr lvl="0">
              <a:lnSpc>
                <a:spcPct val="90000"/>
              </a:lnSpc>
            </a:pPr>
            <a:r>
              <a:rPr lang="en-US" altLang="en-US" sz="1000" dirty="0">
                <a:solidFill>
                  <a:srgbClr val="000000"/>
                </a:solidFill>
                <a:latin typeface="Arial" panose="020B0604020202020204" pitchFamily="34" charset="0"/>
              </a:rPr>
              <a:t>	1. The use case name and a unique ID</a:t>
            </a:r>
          </a:p>
          <a:p>
            <a:pPr lvl="0">
              <a:lnSpc>
                <a:spcPct val="90000"/>
              </a:lnSpc>
            </a:pPr>
            <a:r>
              <a:rPr lang="en-US" altLang="en-US" sz="1000" dirty="0">
                <a:solidFill>
                  <a:srgbClr val="000000"/>
                </a:solidFill>
                <a:latin typeface="Arial" panose="020B0604020202020204" pitchFamily="34" charset="0"/>
              </a:rPr>
              <a:t>	2. The application area or system that this use case belongs to</a:t>
            </a:r>
          </a:p>
          <a:p>
            <a:pPr lvl="0">
              <a:lnSpc>
                <a:spcPct val="90000"/>
              </a:lnSpc>
            </a:pPr>
            <a:r>
              <a:rPr lang="en-US" altLang="en-US" sz="1000" dirty="0">
                <a:solidFill>
                  <a:srgbClr val="000000"/>
                </a:solidFill>
                <a:latin typeface="Arial" panose="020B0604020202020204" pitchFamily="34" charset="0"/>
              </a:rPr>
              <a:t>	3. The actors involved in the use case</a:t>
            </a:r>
          </a:p>
          <a:p>
            <a:pPr lvl="0">
              <a:lnSpc>
                <a:spcPct val="90000"/>
              </a:lnSpc>
            </a:pPr>
            <a:r>
              <a:rPr lang="en-US" altLang="en-US" sz="1000" dirty="0">
                <a:solidFill>
                  <a:srgbClr val="000000"/>
                </a:solidFill>
                <a:latin typeface="Arial" panose="020B0604020202020204" pitchFamily="34" charset="0"/>
              </a:rPr>
              <a:t>	4. A brief description of what the use case accomplishes</a:t>
            </a:r>
          </a:p>
          <a:p>
            <a:pPr lvl="0">
              <a:lnSpc>
                <a:spcPct val="90000"/>
              </a:lnSpc>
            </a:pPr>
            <a:r>
              <a:rPr lang="en-US" altLang="en-US" sz="1000" dirty="0">
                <a:solidFill>
                  <a:srgbClr val="000000"/>
                </a:solidFill>
                <a:latin typeface="Arial" panose="020B0604020202020204" pitchFamily="34" charset="0"/>
              </a:rPr>
              <a:t>	5. The triggering event</a:t>
            </a:r>
          </a:p>
          <a:p>
            <a:pPr lvl="0">
              <a:lnSpc>
                <a:spcPct val="90000"/>
              </a:lnSpc>
            </a:pPr>
            <a:r>
              <a:rPr lang="en-US" altLang="en-US" sz="1000" dirty="0">
                <a:solidFill>
                  <a:srgbClr val="000000"/>
                </a:solidFill>
                <a:latin typeface="Arial" panose="020B0604020202020204" pitchFamily="34" charset="0"/>
              </a:rPr>
              <a:t>	6. Type of trigger:</a:t>
            </a:r>
          </a:p>
          <a:p>
            <a:pPr marL="1543050" lvl="3" indent="-171450">
              <a:lnSpc>
                <a:spcPct val="90000"/>
              </a:lnSpc>
              <a:buFontTx/>
              <a:buChar char="•"/>
            </a:pPr>
            <a:r>
              <a:rPr lang="en-US" altLang="en-US" sz="1000" dirty="0">
                <a:solidFill>
                  <a:srgbClr val="000000"/>
                </a:solidFill>
                <a:latin typeface="Arial" panose="020B0604020202020204" pitchFamily="34" charset="0"/>
              </a:rPr>
              <a:t>external or temporal</a:t>
            </a:r>
          </a:p>
          <a:p>
            <a:pPr marL="1543050" lvl="3" indent="-171450">
              <a:lnSpc>
                <a:spcPct val="90000"/>
              </a:lnSpc>
              <a:buFontTx/>
              <a:buChar char="•"/>
            </a:pPr>
            <a:r>
              <a:rPr lang="en-US" altLang="en-US" sz="1000" dirty="0">
                <a:solidFill>
                  <a:srgbClr val="000000"/>
                </a:solidFill>
                <a:latin typeface="Arial" panose="020B0604020202020204" pitchFamily="34" charset="0"/>
              </a:rPr>
              <a:t>external—those started by an actor</a:t>
            </a:r>
          </a:p>
          <a:p>
            <a:pPr marL="1543050" lvl="3" indent="-171450">
              <a:lnSpc>
                <a:spcPct val="90000"/>
              </a:lnSpc>
              <a:buFontTx/>
              <a:buChar char="•"/>
            </a:pPr>
            <a:r>
              <a:rPr lang="en-US" altLang="en-US" sz="1000" dirty="0">
                <a:solidFill>
                  <a:srgbClr val="000000"/>
                </a:solidFill>
                <a:latin typeface="Arial" panose="020B0604020202020204" pitchFamily="34" charset="0"/>
              </a:rPr>
              <a:t>temporal—triggered or started by time</a:t>
            </a:r>
          </a:p>
          <a:p>
            <a:pPr lvl="0">
              <a:lnSpc>
                <a:spcPct val="90000"/>
              </a:lnSpc>
            </a:pPr>
            <a:r>
              <a:rPr lang="en-US" altLang="en-US" sz="1000" dirty="0">
                <a:solidFill>
                  <a:srgbClr val="000000"/>
                </a:solidFill>
                <a:latin typeface="Arial" panose="020B0604020202020204" pitchFamily="34" charset="0"/>
              </a:rPr>
              <a:t>	7. May list stakeholders</a:t>
            </a:r>
          </a:p>
          <a:p>
            <a:pPr lvl="0">
              <a:lnSpc>
                <a:spcPct val="90000"/>
              </a:lnSpc>
            </a:pPr>
            <a:endParaRPr lang="en-US" altLang="en-US" sz="1000" dirty="0">
              <a:solidFill>
                <a:srgbClr val="000000"/>
              </a:solidFill>
              <a:latin typeface="Arial" panose="020B0604020202020204" pitchFamily="34" charset="0"/>
            </a:endParaRPr>
          </a:p>
          <a:p>
            <a:pPr lvl="0">
              <a:lnSpc>
                <a:spcPct val="90000"/>
              </a:lnSpc>
            </a:pPr>
            <a:r>
              <a:rPr lang="en-US" altLang="en-US" sz="1000" dirty="0">
                <a:solidFill>
                  <a:srgbClr val="000000"/>
                </a:solidFill>
                <a:latin typeface="Arial" panose="020B0604020202020204" pitchFamily="34" charset="0"/>
              </a:rPr>
              <a:t>(Second area) </a:t>
            </a:r>
          </a:p>
          <a:p>
            <a:pPr lvl="0">
              <a:lnSpc>
                <a:spcPct val="90000"/>
              </a:lnSpc>
            </a:pPr>
            <a:r>
              <a:rPr lang="en-US" altLang="en-US" sz="1000" dirty="0">
                <a:solidFill>
                  <a:srgbClr val="000000"/>
                </a:solidFill>
                <a:latin typeface="Arial" panose="020B0604020202020204" pitchFamily="34" charset="0"/>
              </a:rPr>
              <a:t>Includes the steps performed, and the information required for each of the steps.</a:t>
            </a:r>
          </a:p>
          <a:p>
            <a:pPr lvl="0">
              <a:lnSpc>
                <a:spcPct val="90000"/>
              </a:lnSpc>
            </a:pPr>
            <a:endParaRPr lang="en-US" altLang="en-US" sz="1000" dirty="0">
              <a:solidFill>
                <a:srgbClr val="000000"/>
              </a:solidFill>
              <a:latin typeface="Arial" panose="020B0604020202020204" pitchFamily="34" charset="0"/>
            </a:endParaRPr>
          </a:p>
          <a:p>
            <a:pPr lvl="0">
              <a:lnSpc>
                <a:spcPct val="90000"/>
              </a:lnSpc>
            </a:pPr>
            <a:r>
              <a:rPr lang="en-US" altLang="en-US" sz="1000" dirty="0">
                <a:solidFill>
                  <a:srgbClr val="000000"/>
                </a:solidFill>
                <a:latin typeface="Arial" panose="020B0604020202020204" pitchFamily="34" charset="0"/>
              </a:rPr>
              <a:t>(Third area) </a:t>
            </a:r>
          </a:p>
          <a:p>
            <a:pPr lvl="0">
              <a:lnSpc>
                <a:spcPct val="90000"/>
              </a:lnSpc>
            </a:pPr>
            <a:r>
              <a:rPr lang="en-US" altLang="en-US" sz="1000" dirty="0">
                <a:solidFill>
                  <a:srgbClr val="000000"/>
                </a:solidFill>
                <a:latin typeface="Arial" panose="020B0604020202020204" pitchFamily="34" charset="0"/>
              </a:rPr>
              <a:t>		Preconditions </a:t>
            </a:r>
          </a:p>
          <a:p>
            <a:pPr lvl="0">
              <a:lnSpc>
                <a:spcPct val="90000"/>
              </a:lnSpc>
            </a:pPr>
            <a:r>
              <a:rPr lang="en-US" altLang="en-US" sz="1000" dirty="0">
                <a:solidFill>
                  <a:srgbClr val="000000"/>
                </a:solidFill>
                <a:latin typeface="Arial" panose="020B0604020202020204" pitchFamily="34" charset="0"/>
              </a:rPr>
              <a:t>		Post conditions </a:t>
            </a:r>
          </a:p>
          <a:p>
            <a:pPr lvl="0">
              <a:lnSpc>
                <a:spcPct val="90000"/>
              </a:lnSpc>
            </a:pPr>
            <a:r>
              <a:rPr lang="en-US" altLang="en-US" sz="1000" dirty="0">
                <a:solidFill>
                  <a:srgbClr val="000000"/>
                </a:solidFill>
                <a:latin typeface="Arial" panose="020B0604020202020204" pitchFamily="34" charset="0"/>
              </a:rPr>
              <a:t>		Assumptions</a:t>
            </a:r>
          </a:p>
          <a:p>
            <a:pPr lvl="0">
              <a:lnSpc>
                <a:spcPct val="90000"/>
              </a:lnSpc>
            </a:pPr>
            <a:r>
              <a:rPr lang="en-US" altLang="en-US" sz="1000" dirty="0">
                <a:solidFill>
                  <a:srgbClr val="000000"/>
                </a:solidFill>
                <a:latin typeface="Arial" panose="020B0604020202020204" pitchFamily="34" charset="0"/>
              </a:rPr>
              <a:t>		Outstanding issues</a:t>
            </a:r>
          </a:p>
          <a:p>
            <a:pPr lvl="0">
              <a:lnSpc>
                <a:spcPct val="90000"/>
              </a:lnSpc>
            </a:pPr>
            <a:r>
              <a:rPr lang="en-US" altLang="en-US" sz="1000" dirty="0">
                <a:solidFill>
                  <a:srgbClr val="000000"/>
                </a:solidFill>
                <a:latin typeface="Arial" panose="020B0604020202020204" pitchFamily="34" charset="0"/>
              </a:rPr>
              <a:t>		Statement of priority (optional)</a:t>
            </a:r>
          </a:p>
          <a:p>
            <a:pPr lvl="0">
              <a:lnSpc>
                <a:spcPct val="90000"/>
              </a:lnSpc>
            </a:pPr>
            <a:r>
              <a:rPr lang="en-US" altLang="en-US" sz="1000" dirty="0">
                <a:solidFill>
                  <a:srgbClr val="000000"/>
                </a:solidFill>
                <a:latin typeface="Arial" panose="020B0604020202020204" pitchFamily="34" charset="0"/>
              </a:rPr>
              <a:t>		Statement of risk (optional)</a:t>
            </a:r>
          </a:p>
          <a:p>
            <a:pPr lvl="0">
              <a:lnSpc>
                <a:spcPct val="90000"/>
              </a:lnSpc>
            </a:pPr>
            <a:endParaRPr lang="en-US" altLang="en-US" sz="1000" dirty="0">
              <a:solidFill>
                <a:srgbClr val="000000"/>
              </a:solidFill>
              <a:latin typeface="Arial" panose="020B0604020202020204" pitchFamily="34" charset="0"/>
            </a:endParaRPr>
          </a:p>
          <a:p>
            <a:pPr lvl="0">
              <a:lnSpc>
                <a:spcPct val="90000"/>
              </a:lnSpc>
            </a:pPr>
            <a:r>
              <a:rPr lang="en-US" altLang="en-US" sz="1000" dirty="0">
                <a:solidFill>
                  <a:srgbClr val="000000"/>
                </a:solidFill>
                <a:latin typeface="Arial" panose="020B0604020202020204" pitchFamily="34" charset="0"/>
              </a:rPr>
              <a:t>Long Description:</a:t>
            </a:r>
          </a:p>
          <a:p>
            <a:pPr lvl="0">
              <a:lnSpc>
                <a:spcPct val="90000"/>
              </a:lnSpc>
            </a:pPr>
            <a:r>
              <a:rPr lang="en-US" sz="1200" b="0" i="0" u="none" strike="noStrike" kern="1200" cap="none" dirty="0">
                <a:solidFill>
                  <a:schemeClr val="dk1"/>
                </a:solidFill>
                <a:effectLst/>
                <a:latin typeface="Arial"/>
                <a:ea typeface="Arial"/>
                <a:cs typeface="Arial"/>
                <a:sym typeface="Arial"/>
              </a:rPr>
              <a:t>Use case name: Register for Conference Blank Unique I D: Conf R G 003</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Area: Conference Planning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Actor(s): Participant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Stakeholder: Conference Sponsor, Conference Speakers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Level: Blue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Description: Allow conference participant to register online for the conference using a secure Website.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Triggering Event: Participant uses Conference Registration Website, enters user I D and password, and clicks the logon button.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Trigger type: External and temporal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Steps Performed (Main Path) Blank Information for Steps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1. Participant logs in using the secure Web server. Blank User I D, Password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2. Participant record is read and password is verified. Blank Participant Record, user I D, Password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3. Participant and session information is displayed on the Registration Web page. Blank Participant Record, Session Record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4. Participant enters information on the Registration Web form and clicks Submit button. Blank Registration Web Form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5. Registration information is validated on the Web server. Blank Registration Web Form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6. Registration Confirmation page is displayed to confirm registration information. Blank Confirmation Web Page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7. Credit card is charged for registration fees. Blank Secure Credit Card Web Page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8. Add Registration Journal record is written. Blank Confirmation Web Page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9. Registration record is updated on the Registration Master. Blank Confirmation Web Page, Registration Record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10. Session record is updated for each selected session on the Session Master. Blank Confirmation Web Page, Session Record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11. Participant record is updated for the participant on the Participant Master. Blank Confirmation Web Page, Participant Record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12. Successful Registration Confirmation Web page is sent to the participant. Blank Registration Record Confirmation Number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Preconditions: Participant has already registered and has created a user account.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Postconditions: Participant has successfully registered for the conference.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Assumptions: Participant has a browser and a valid user I D and password.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Success Guarantee: Participant has registered for the conference and is enrolled in all selected sessions.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Minimum Guarantee: Participant was able to logon.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Requirements Met: Allow conference participants to be able to register for the conference using a secure Website.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Outstanding Issues: How should a rejected credit card be handled?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Priority: High Blank Blank</a:t>
            </a:r>
            <a:br>
              <a:rPr lang="en-US" sz="1200" b="0" i="0" u="none" strike="noStrike" kern="1200" cap="none" dirty="0">
                <a:solidFill>
                  <a:schemeClr val="dk1"/>
                </a:solidFill>
                <a:effectLst/>
                <a:latin typeface="Arial"/>
                <a:ea typeface="Arial"/>
                <a:cs typeface="Arial"/>
                <a:sym typeface="Arial"/>
              </a:rPr>
            </a:br>
            <a:r>
              <a:rPr lang="en-US" sz="1200" b="0" i="0" u="none" strike="noStrike" kern="1200" cap="none" dirty="0">
                <a:solidFill>
                  <a:schemeClr val="dk1"/>
                </a:solidFill>
                <a:effectLst/>
                <a:latin typeface="Arial"/>
                <a:ea typeface="Arial"/>
                <a:cs typeface="Arial"/>
                <a:sym typeface="Arial"/>
              </a:rPr>
              <a:t>Risk: Medium Blank Blank</a:t>
            </a:r>
            <a:endParaRPr lang="en-US" altLang="en-US" sz="1000" dirty="0">
              <a:solidFill>
                <a:srgbClr val="000000"/>
              </a:solidFill>
              <a:latin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36</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5267894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37</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8216708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38</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2854227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39</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072921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40</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51917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41</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1269468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Identify all the actors in the problem domain—the systems analyst can concentrate on what humans want and need to use the system, extend their capabilities, and enjoy their interaction with technology.</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Actions that need to be completed are also clearly shown on the use case diagram—this makes it easy for the analyst to identify processes and aids in communication with other analysts on the team and business executives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The use case scenario is also worthwhile—because a lot of the information the users impart to the analysts are in story form, it is easy to capture on the use case scenario form.</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Simplicity and lack of technical detail—used to show the scope of a system, along with the major features of the system and the actors that work with those major features.</a:t>
            </a:r>
          </a:p>
          <a:p>
            <a:endParaRPr lang="en-US" dirty="0"/>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42</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685399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43</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3245658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Each use case may create one or more sequence diagrams.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Statechart diagrams—useful for determining class methods.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741420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illustration gives the following information: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Use Case Diagram, which branches out to Class diagram; Use case scenario; and Activity diagram.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Class Diagram has a note reading Use cases and sequence diagrams help determine classes; it is pointed to by statechart diagram, which has a note reading each class may have a statechart diagram to help determine operations.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Use case Scenario points to Sequence diagram, which points to Class diagram, and connects in both directions with Communication diagram. Sequence diagram has a note reading each use case scenario may create one sequence diagram; a note pointing to both sequence and communication diagrams reads Sequence and communication diagrams are interchangeable.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Use case diagram shows the path of communication between two people.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Class diagram shows four rectangles in two rows of two, connecting clockwise from top left. The connecting lines are labelled clockwise: from left to right 1, and 1...asterisk in the upper row, and 1, and asterisk 1 in the bottom row.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Use case scenario shows three rows labelled with Identifiers, Steps, and Conditions.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Sequence diagram shows three rectangles connecting with three cylinders below them, where the middle cylinder is short while the other two are of same size. From left to right, each cylinder points to the next. The left cylinder also connects directly to the right one. All cylinders have X written below them.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Communication diagram shows three rectangles placed horizontally, connected to each other, with arrows pointing from the center out. There is another rectangle below the middle one, with arrows pointing from top to bottom.</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State chart diagram shows four rectangles, where the top left rectangle points to the right and to the one below it; the top right points out of the diagram. The two rectangles at the bottom have arrows pointing in from the right, and from the right to the leftmost one, as well as from the left to the right.</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Activity diagram shows a black dot on the bottom right, which points to a rounded rectangle on the left side, which points to a diamond. Two arrows from the diamond point to another rectangle in the upper row and to another circled dot above it.</a:t>
            </a:r>
            <a:endParaRPr lang="en-US" noProof="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402183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In a use case, an actor using the system initiates an event that begins a related series of interactions in the system.</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Use cases are used to document a single transaction or event.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22300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a:solidFill>
                  <a:srgbClr val="000000"/>
                </a:solidFill>
                <a:latin typeface="Arial" panose="020B0604020202020204" pitchFamily="34" charset="0"/>
                <a:cs typeface="Arial" panose="020B0604020202020204" pitchFamily="34" charset="0"/>
              </a:rPr>
              <a:t>Use case diagrams provide the basis for creating other types of diagrams such as class diagrams and activity diagrams.</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illustration is as follows: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student is connected to Add Student, which is also connected to Registration.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 student points with a dotted arrow to Verify Identity. Registration connects to Enroll in class. Verify identity is pointed to by dotted arrows labelled &lt;&lt;include&gt;&gt; from Add Student, Enroll in Class, View Student Information, and Change student information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Financial Office connects to Enroll in Class. The Bookstore connects to Purchase Textbook, which points to Enroll in Class with a dotted arrow labeled extend. Department connects to Transfer credits which connects to Student. The Student connects to Enroll in Class; View student Information; and Change Student information; all point to Verify Identity.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557962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a:solidFill>
                  <a:srgbClr val="000000"/>
                </a:solidFill>
                <a:latin typeface="Arial" panose="020B0604020202020204" pitchFamily="34" charset="0"/>
                <a:cs typeface="Arial" panose="020B0604020202020204" pitchFamily="34" charset="0"/>
              </a:rPr>
              <a:t>Use case scenarios are helpful in drawing sequence diagrams.</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Use-case scenario is as follows: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Use case name: Change Student Information; Unique I D: Student U C 005</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Area: Student System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Actor(s): Student</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 Allow student to change his or her own information, such as name, home address, home telephone, campus address, campus telephone, cell phone, and other information using a secure website.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Triggering Event: Student uses Change Student Information website, enters student ID and password, and clicks the Submit button.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Trigger type: External, Checked, or Temporal</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Steps Performed (Main Path); Information for steps: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 Student logs on to the secure web server; Student ID, Password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Student record is read and password is veriﬁed; Student Record, Student ID, Password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 Current student personal information is displayed on the Change Student web page; Student Record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 Student enters changes on the Change Student Web form and clicks Submit button; Change Student Web Form</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5. Changes are validated on the web server; Change Student Web Form</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6. Change Student Journal record is written; Change Student Web Form</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7. Student record is updated on the Student Master; Change Student Web Form, Student Record.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8. Conﬁrmation web page is sent to the student; Confirmation Page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Preconditions: Student is on the Change Student Information web page.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Postconditions: Student has successfully changed personal information.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Assumptions: Student has a browser and a valid user ID and password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Requirements Met: Allow students to be able to change personal information using a secure website.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Outstanding Issues: Should the number of times a student is allowed to logon be controlled?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Priority: Medium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Risk: Medium</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708662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An activity diagram is usually created for one use case and may show the different possible scenarios.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883038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a:lnSpc>
                <a:spcPct val="115000"/>
              </a:lnSpc>
              <a:spcBef>
                <a:spcPts val="0"/>
              </a:spcBef>
              <a:spcAft>
                <a:spcPts val="0"/>
              </a:spcAft>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flow chart begins from the Start point and leads to Activity. The Activity points to a Fork. The Fork leads to a Branch, which points to one Activity with [condition] and to a second Activity with [else]. Both the Activities point to a Merge, which points to Join. The fork also points to a separate Activity, which also points to Join; this area is shown in a different color. The Join points to End.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notes pointing to different components in the flowchart read:</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Forks allow activities to go in parallel.</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Branches allow alternative activities given different conditions.</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Ponting to the area in a different color: We can add swimlanes to this diagram to assign responsibilities.</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709309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The sequence of activities can be determined from physical data flow diagrams—look for places that decisions are made, and ask what happens for each of the decision outcomes.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Can be created by examining all the scenarios for a use case—each path through the various decisions included on the use case is a different scenario.</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067778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Useful to show how the data must be transmitted or converted—such as from Web to server or from server to mainframe.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Help to divide up the tasks in a team—the analyst must ensure that the data that the various team members need is available and correctly defined.</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The activity diagram provides a map of a use case, and allows the analyst to experiment with moving portions of the design to different platforms and ask “What if?” for a variety of decisions. The use of unique symbols and swimlanes makes this diagram one that people want to use to communicate with others.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011760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diagram is as follows: The diagram shows three swimlanes: Client Web page, Web server, and Mainframe. The diagram starts from the Client Web Page, which points to the Logon System. The Logon System transmits Forms to Receive Web Form under Web Server, which sends User ID and Password to Get Student Record, under Mainframe. From there it sends record status to a branch represented by a diamond. The branch sends Not found to Display Error Message under Web server which sends an error message to the Logon System; or the branch sends Exchange data placed in Message Queue to Display Current Student Data under Web Server. From there, a Web form is sent to Enter Changes under Client Web Page. Enter Changes sends a Web Form Received to Validate Changes under Web Server. Validate Changes sends Validation Status to a branch. If Invalid Data is received, it is sent to Display Error Message, which sends Error Messages to Enter Changes. If Valid Data is received, it is sent to a fork to Update Student Record and to Create Change Student Journal Record. Record Updated; and Record Written respectively are sent to a Join and on to Display Confirmation. Confirmation is then sent and Activity terminates. It is also possible for the Login System to send a Cancel message and end the process.</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41559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In practice, sequence diagrams are derived from use case analysis and are used in systems design to derive the interactions, relationships, and methods of the objects in the system.</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Each use case scenario may create one sequence diagram, although sequence diagrams are not always created for minor scenarios.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43925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a:solidFill>
                  <a:srgbClr val="000000"/>
                </a:solidFill>
                <a:latin typeface="Arial" panose="020B0604020202020204" pitchFamily="34" charset="0"/>
                <a:cs typeface="Arial" panose="020B0604020202020204" pitchFamily="34" charset="0"/>
              </a:rPr>
              <a:t>The boxes along the top of the diagram show the actors and classes or object instances.</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The left-most object is the starting object and may be a person, window, dialog box, or other user interface.</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A vertical line represents the lifeline for the class or object, which corresponds to the time from when it is created through when it is destroyed.</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Horizontal arrows show messages or signals that are sent between the classes.</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Timing is displayed from top to bottom; the first interaction is drawn at the top of the diagram, and the interaction that occurs last is drawn at the bottom of the diagram.</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Two rectangles read, Class; and Object, Class.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rectangle depicting, Class is linked with a dotted line to a long cylindrical shape below it; which is linked with a dotted line to an X below it.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rectangle depicting Object, Class is linked to a small cylinder by a dotted line and again to another small cylinder by a dotted line. The second cylinder is linked again to an X below it with a dotted line. The long cylinder on the left points a solid arrow labeled method (Parameter) to the first small cylinder on right. The small cylinder points back with a dotted arrow labeled return. The longer cylinder points to the second small cylinder with a solid arrow labeled asynchronous Signal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315444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a:solidFill>
                  <a:srgbClr val="000000"/>
                </a:solidFill>
                <a:latin typeface="Arial" panose="020B0604020202020204" pitchFamily="34" charset="0"/>
                <a:cs typeface="Arial" panose="020B0604020202020204" pitchFamily="34" charset="0"/>
              </a:rPr>
              <a:t>During the systems design phase, the sequence diagrams are defined to derive the methods and interactions between classes.</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Long Description:</a:t>
            </a:r>
          </a:p>
          <a:p>
            <a:pPr marL="0" marR="0">
              <a:lnSpc>
                <a:spcPct val="115000"/>
              </a:lnSpc>
              <a:spcBef>
                <a:spcPts val="0"/>
              </a:spcBef>
              <a:spcAft>
                <a:spcPts val="0"/>
              </a:spcAft>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 the sequence diagram, the top row contains four rectangles, labeled ::new Student User Interface; ::Student; ::dorm; and ::program. ::new Student User Interface and Student each link below to long cylinders of equal size with dotted lines. ::dorm links to a shorter third cylinder that starts below the top of the first two. ::program links to a smaller fourth cylinder below the level of the third. The first cylinder points to the second cylinder with a solid arrow marked initialize(). A dotted arrow labeled as return student Number points from the second cylinder to the first.</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first cylinder points to the third cylinder with a solid arrow, labeled select Dorm(); and a dashed arrow labeled return dorm Room points back to the first cylinder. The third cylinder connects with a dashed line to an X below.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rectangle depicting program links to the smallest cylinder below it with a longer broken line. The first cylinder points to the fourth cylinder with a solid arrow labeled select Program(). The small cylinder points back at first cylinder with a broken arrow, labeled return program Advisor. The fourth cylinder is connected below to a dashed line ending in an X. The first cylinder points to the second cylinder with a solid arrow labeled student Complete(). Both the cylinders end with a dotted line to an X below them.</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559895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In order to show time ordering you must indicate a sequence number and describe the message.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609664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 the diagram there are four components. The first three components are placed horizontally in the first row, and are labeled student, new Student User Interface, and program.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new Student User Interface is connected to student by connectors with arrows labeled 1: initialize (), and 4:student Complete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new student username is also linked to the fourth component, Dorm, below it, with a connector with an arrow labeled 2: select Dorm (); and to Program on the right with a connector and arrow labeled 3: select Program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780532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50770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a:pPr>
            <a:r>
              <a:rPr lang="en-US" dirty="0">
                <a:solidFill>
                  <a:srgbClr val="000000"/>
                </a:solidFill>
              </a:rPr>
              <a:t>Classes—represented by a rectangle on the class diagram.</a:t>
            </a:r>
          </a:p>
          <a:p>
            <a:pPr lvl="0">
              <a:defRPr/>
            </a:pPr>
            <a:endParaRPr lang="en-US" dirty="0">
              <a:solidFill>
                <a:srgbClr val="000000"/>
              </a:solidFill>
            </a:endParaRPr>
          </a:p>
          <a:p>
            <a:pPr lvl="0">
              <a:defRPr/>
            </a:pPr>
            <a:r>
              <a:rPr lang="en-US" dirty="0">
                <a:solidFill>
                  <a:srgbClr val="000000"/>
                </a:solidFill>
              </a:rPr>
              <a:t>Attributes—what the class knows about the characteristics of the objects:</a:t>
            </a:r>
          </a:p>
          <a:p>
            <a:pPr marL="628650" lvl="1" indent="-171450">
              <a:buFont typeface="Arial" pitchFamily="34" charset="0"/>
              <a:buChar char="•"/>
              <a:defRPr/>
            </a:pPr>
            <a:r>
              <a:rPr lang="en-US" dirty="0">
                <a:solidFill>
                  <a:srgbClr val="000000"/>
                </a:solidFill>
              </a:rPr>
              <a:t>Private—only available in the object</a:t>
            </a:r>
          </a:p>
          <a:p>
            <a:pPr marL="628650" lvl="1" indent="-171450">
              <a:buFont typeface="Arial" pitchFamily="34" charset="0"/>
              <a:buChar char="•"/>
              <a:defRPr/>
            </a:pPr>
            <a:r>
              <a:rPr lang="en-US" dirty="0">
                <a:solidFill>
                  <a:srgbClr val="000000"/>
                </a:solidFill>
              </a:rPr>
              <a:t>Public—visible to other objects outside its class</a:t>
            </a:r>
          </a:p>
          <a:p>
            <a:pPr marL="628650" lvl="1" indent="-171450">
              <a:buFont typeface="Arial" pitchFamily="34" charset="0"/>
              <a:buChar char="•"/>
              <a:defRPr/>
            </a:pPr>
            <a:r>
              <a:rPr lang="en-US" dirty="0">
                <a:solidFill>
                  <a:srgbClr val="000000"/>
                </a:solidFill>
              </a:rPr>
              <a:t>Protected—hidden from all classes except immediate subclasses</a:t>
            </a:r>
          </a:p>
          <a:p>
            <a:pPr lvl="1">
              <a:defRPr/>
            </a:pPr>
            <a:endParaRPr lang="en-US" dirty="0">
              <a:solidFill>
                <a:srgbClr val="000000"/>
              </a:solidFill>
            </a:endParaRPr>
          </a:p>
          <a:p>
            <a:pPr lvl="0">
              <a:defRPr/>
            </a:pPr>
            <a:r>
              <a:rPr lang="en-US" dirty="0">
                <a:solidFill>
                  <a:srgbClr val="000000"/>
                </a:solidFill>
              </a:rPr>
              <a:t>Methods—small sections of code that work with the attributes:</a:t>
            </a:r>
          </a:p>
          <a:p>
            <a:pPr marL="628650" lvl="1" indent="-171450">
              <a:buFont typeface="Arial" pitchFamily="34" charset="0"/>
              <a:buChar char="•"/>
              <a:defRPr/>
            </a:pPr>
            <a:r>
              <a:rPr lang="en-US" dirty="0">
                <a:solidFill>
                  <a:srgbClr val="000000"/>
                </a:solidFill>
              </a:rPr>
              <a:t>Standard—basic things that all classes of object know how to do</a:t>
            </a:r>
          </a:p>
          <a:p>
            <a:pPr marL="628650" lvl="1" indent="-171450">
              <a:buFont typeface="Arial" pitchFamily="34" charset="0"/>
              <a:buChar char="•"/>
              <a:defRPr/>
            </a:pPr>
            <a:r>
              <a:rPr lang="en-US" dirty="0">
                <a:solidFill>
                  <a:srgbClr val="000000"/>
                </a:solidFill>
              </a:rPr>
              <a:t>Custom—designed for a specific class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85845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diagram depicts: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From left to right, the diagram starts with the class Department with the attributes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departmentName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departmentChair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addDepartment( )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viewDepartment(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These are connected by an open diamond and a link to the class Course with the attributes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courseNumber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courseDescription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numberOfCredits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departmentNumber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addCourse(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changeCourse(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ﬁndCourse(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class Course is connected with a line to the class Textbook on the right. The left side of the line shows 1 and right side of the line shows 1..asterisk.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Textbook attributes are: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ISBN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author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title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edition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publisher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required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addText( )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changeText( )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ﬁndText( )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removeText(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Course is connected below to the classes Assignment and Exam with a solid diamond at the Course end of the connections. The connectors connecting Course and Assignment, and both connectors are labeled Is a part of; and consists of. The class Assignment includes attributes: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assignmentNumber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assignmentDescription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assignmentPoints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assignmentDueDate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addAssignment( )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changeAssignment( )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viewAssignment(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 has the attributes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examNumber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examName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examPoints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examVersion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addExam( )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changeExam( )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ﬁndExam(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line between department and course is labeled, has a at the top and is for a at the bottom.</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340584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Example: plus sign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435894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678639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Represent real-world items—such as people, things , and so on.</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The entities represented on an entity-relationship diagram—CASE tools will allow you to create a UML entity class from an entity on an E-R diagram.</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886410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 attributes of these classes are those found on the display or report. The methods are those required to work with the display, or produce the report.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832866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298560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Often a control class will be derived just to make another class reusable (example: logon process).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The rules for creating sequence diagrams are that all interface classes must be connected to a control class and in a similar fashion all entity classes must be connected to a control class.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927472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The techniques of horizontal balancing can be used with any class method.</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314187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From left to right, the diagram shows a Student as an actor followed by the classes View Student User Interface, also labeled Boundary or interface class; View Student Interface Controller; Student, also labeled entity class; Section; Course; and Calculate Grade Point Average, labeled Control Class.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diagram shows following sequences: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 student information: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first sequence flowing forward from Student as an actor to View student user interface to Student shows: provide userLogon, logon(), getStudent().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sequence moving backward from Student to Student as an actor shows: return studentData, return student Webpage, display student WebPage.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 Course information: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Next sequence moving forward from Student as an actor to Section shows: Click nextButton, send studentNumber(), getSection().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sequence moving backward from Section to Student shows return sectionGrade.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sequence moving forward from Section to Calculate Grade Point Average shows CalculateGPA().</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sequence moving forward from Section to Course shows getCourse().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sequence moving backward from: Calculate Grade Point Average to :Course shows getCredits().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sequence moving forward from Course to Calculate Grade Point Average shows returnCredits()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sequence moving backward from Course to View Student Interface Controller shows return courseData.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sequence moving backward from Grade Point Average to Student as an actor shows: return GPA, return courseWebPage, Display courseWebPage.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notes pointing to the following elements in the diagram show: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94199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616174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Associations—a structural connection between classes or objects.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Whole/part—when one class represents the whole object and other classes represent parts.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4190811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diagram connects Student 1. .asterisk with0 asterisk Course with a solid line. The class Section below connects to the line between Student and Course with a dotted line, dividing the line into two parts. The first part of solid line reads Takes and second part reads Has. The attributes are follows: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studentNumber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creditsCompleted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gradePointAverage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department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major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minor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ﬁndStudent(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graduateStudent(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initialize(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studentComplete(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viewStudent(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Section: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studentNumber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courseNumber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year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semester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grade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addSection(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changeGrade(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enrollStudent(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recordGrade(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withdrawStudent(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Course: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courseNumber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courseDescription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numberOfCredits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departmentNumber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addCourse(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changeCourse(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ﬁndCourse(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6227492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1341312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When one class represents the whole object, and other classes represent parts—the whole acts as a container for the parts.</a:t>
            </a:r>
          </a:p>
          <a:p>
            <a:pPr lvl="0"/>
            <a:endParaRPr lang="en-US" altLang="en-US" dirty="0">
              <a:solidFill>
                <a:srgbClr val="000000"/>
              </a:solidFill>
              <a:latin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485352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908909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Examples: a library with books or a voting district with voters.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68145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Example: an insurance policy with riders.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936608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 the diagram, Student is connected to Campus organization, with an open diamond on the Campus Organization end.. The Fund-raising Activity is connected to Campus Organization with a solid diamond on the Campus Organization end. The information depicted is: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studentNumber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creditsCompleted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gradePointAverage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department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major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minor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Plus changeStudent(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ﬁndStudent(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graduateStudent(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initialize(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studentComplete(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viewStudent(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Campus Organization: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organizationNumber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organizationName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organizationType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president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treasurer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secretary</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accountBalance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numberOfMembers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changeOfficers(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new(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Fund Raising Activity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activityNumber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activityDescription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activityType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amountSpent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amountReceived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dateCompleted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new(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recordAmount(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339503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Example: a car is a vehicle, a truck is a vehicle.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2986093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Helps to foster reuse—because the code is used many times.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Helps to maintain existing program code—this allows the analyst to define attributes and methods once but use them many times, in each inherited class.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781216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The subclass method overrides the superclass method—</a:t>
            </a:r>
          </a:p>
          <a:p>
            <a:pPr marL="628650" lvl="1" indent="-171450">
              <a:buFontTx/>
              <a:buChar char="•"/>
            </a:pPr>
            <a:r>
              <a:rPr lang="en-US" altLang="en-US" dirty="0">
                <a:solidFill>
                  <a:srgbClr val="000000"/>
                </a:solidFill>
                <a:latin typeface="Arial" panose="020B0604020202020204" pitchFamily="34" charset="0"/>
              </a:rPr>
              <a:t>the subclass inherits a parent method but may add to it or modify it.</a:t>
            </a:r>
          </a:p>
          <a:p>
            <a:pPr marL="628650" lvl="1" indent="-171450">
              <a:buFontTx/>
              <a:buChar char="•"/>
            </a:pPr>
            <a:r>
              <a:rPr lang="en-US" altLang="en-US" dirty="0">
                <a:solidFill>
                  <a:srgbClr val="000000"/>
                </a:solidFill>
                <a:latin typeface="Arial" panose="020B0604020202020204" pitchFamily="34" charset="0"/>
              </a:rPr>
              <a:t>the subclass may change the type of data or change how the method works.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When attributes or methods are defined more than once, the most specific one is used—the compiled program walks up the chain of classes, looking for methods.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067785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Abstract classes are general classes—used when gen/spec is included in the design.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3827200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noProof="0" dirty="0">
                <a:solidFill>
                  <a:srgbClr val="000000"/>
                </a:solidFill>
                <a:latin typeface="Arial" panose="020B0604020202020204" pitchFamily="34" charset="0"/>
                <a:cs typeface="Arial" panose="020B0604020202020204" pitchFamily="34" charset="0"/>
              </a:rPr>
              <a:t>Person is an abstract class, with no instances.</a:t>
            </a:r>
          </a:p>
          <a:p>
            <a:pPr lvl="0"/>
            <a:endParaRPr lang="en-US" altLang="en-US" noProof="0" dirty="0">
              <a:solidFill>
                <a:srgbClr val="000000"/>
              </a:solidFill>
              <a:latin typeface="Arial" panose="020B0604020202020204" pitchFamily="34" charset="0"/>
              <a:cs typeface="Arial" panose="020B0604020202020204" pitchFamily="34" charset="0"/>
            </a:endParaRPr>
          </a:p>
          <a:p>
            <a:pPr lvl="0"/>
            <a:r>
              <a:rPr lang="en-US" altLang="en-US" noProof="0" dirty="0">
                <a:solidFill>
                  <a:srgbClr val="000000"/>
                </a:solidFill>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From bottom to top, the diagram shows the following:</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Faculty and Administrator point to Employee showing: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under the connecting line Faculty isa Employee; above the connecting line Faculty canbea employee.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Above the connecting line, Administrator canbea Employee; above the line , Administrator isakinda Employee.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Employee and Student point to Person, showing: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Employee canbea Person above the connecting line; Employee isa Person below the connecting line.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 canbea Person above the line; Student isa Person below the line.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attributes of the classes are as follows: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Faculty:</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degree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position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webURL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changePosition(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changeURL(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Administrator: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title</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changeEmployee(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Employee: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employeeNumber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salary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YTDGross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YTDWithholding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dateHired</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department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changeEmployee(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printTaxInformation(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producePaycheck(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studentNumber</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creditsCompleted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gradePointAverage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department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major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minor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ﬁndStudent(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graduateStudent(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initialize(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studentComplete(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viewStudent(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Person: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lastName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ﬁrstName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street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apartment</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city</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state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zip</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telephone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cellPhone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minus email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changeAddress( )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Plus changeName( )</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93707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Identify abstract classes by looking to see if a number of classes or database tables have the same elements, or if a number of classes have the same methods.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Analyzing documents and memos—use the CRC method.</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Examining use cases, looking for nouns—each noun may lead to a candidate, or potential, class.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9040969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Standard methods –</a:t>
            </a:r>
          </a:p>
          <a:p>
            <a:pPr lvl="0"/>
            <a:r>
              <a:rPr lang="en-US" altLang="en-US" dirty="0">
                <a:solidFill>
                  <a:srgbClr val="000000"/>
                </a:solidFill>
                <a:latin typeface="Arial" panose="020B0604020202020204" pitchFamily="34" charset="0"/>
              </a:rPr>
              <a:t>	new()</a:t>
            </a:r>
          </a:p>
          <a:p>
            <a:pPr lvl="0"/>
            <a:r>
              <a:rPr lang="en-US" altLang="en-US" dirty="0">
                <a:solidFill>
                  <a:srgbClr val="000000"/>
                </a:solidFill>
                <a:latin typeface="Arial" panose="020B0604020202020204" pitchFamily="34" charset="0"/>
              </a:rPr>
              <a:t>	&lt;&lt;create&gt;&gt;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5447259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Consists of the name of the method in the receiving class, as well as the attributes that are passed with the method name—the receiving class must have a method corresponding to the message name.</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May be thought of as an output or an input—the first class must supply the parameters included with the message and the second class parameters.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5653819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Event—something that happens at a specific time and place.</a:t>
            </a:r>
          </a:p>
          <a:p>
            <a:pPr marL="628650" lvl="1" indent="-171450">
              <a:buFontTx/>
              <a:buChar char="•"/>
            </a:pPr>
            <a:r>
              <a:rPr lang="en-US" altLang="en-US" dirty="0">
                <a:solidFill>
                  <a:srgbClr val="000000"/>
                </a:solidFill>
                <a:latin typeface="Arial" panose="020B0604020202020204" pitchFamily="34" charset="0"/>
              </a:rPr>
              <a:t>Signals or asynchronous messages—occur when the calling program does not wait for a returning message.</a:t>
            </a:r>
          </a:p>
          <a:p>
            <a:pPr marL="628650" lvl="1" indent="-171450">
              <a:buFontTx/>
              <a:buChar char="•"/>
            </a:pPr>
            <a:r>
              <a:rPr lang="en-US" altLang="en-US" dirty="0">
                <a:solidFill>
                  <a:srgbClr val="000000"/>
                </a:solidFill>
                <a:latin typeface="Arial" panose="020B0604020202020204" pitchFamily="34" charset="0"/>
              </a:rPr>
              <a:t>Synchronous messages—calls to functions or subroutines. </a:t>
            </a:r>
          </a:p>
          <a:p>
            <a:pPr marL="628650" lvl="1" indent="-171450">
              <a:buFontTx/>
              <a:buChar char="•"/>
            </a:pPr>
            <a:r>
              <a:rPr lang="en-US" altLang="en-US" dirty="0">
                <a:solidFill>
                  <a:srgbClr val="000000"/>
                </a:solidFill>
                <a:latin typeface="Arial" panose="020B0604020202020204" pitchFamily="34" charset="0"/>
              </a:rPr>
              <a:t>Temporal events—occur at a predetermined time.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855088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solidFill>
                  <a:srgbClr val="000000"/>
                </a:solidFill>
                <a:latin typeface="Arial" panose="020B0604020202020204" pitchFamily="34" charset="0"/>
              </a:rPr>
              <a:t>Statechart diagrams are not created for all classes.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6819333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From left to right, the diagram shows:</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Application Submitted leads to Potential Student. From there, after requirements are met, Potential student becomes Accepted Student. The Accepted student becomes Dorm Assigned Student, after dorm is selected. From there it leads to Program Student after program is selected, and with student enrolled in class, the student becomes Current Student. After successful course completion, Current student becomes Continuing Student, and again student is enrolled in class and becomes Current Student. If Graduation requirements are completed, Continuing Student becomes Graduated Student, and then student is graduated.</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2618554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Containers for other UML things—such as use cases or classes.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Show system partitioning—indicating which classes or use cases are grouped into a subsystem (logical packages).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Can be component packages—contain physical system components, or use case packages, containing a group of use cases.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Use a folder symbol—with the package name either in the folder tab or centered in the folder.</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May have relationships—may include associations and inheritance.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3652375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diagram contains two parts. The first part is titled Student, inside which four ovals appear, labeled: Add Student, Enroll in Class, Transfer Credits, and View Student Information. </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On left side of the title, Student is linked to Add Student and Transfer Credit. The Department is linked to Transfer Credit. On the right side, the Financial Office and Registration are connected to Enroll in class, and Student is linked to Enroll in Class and View Student Information.</a:t>
            </a:r>
            <a:b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US" sz="1200" noProof="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second part is titled Faculty. Three ovals are labeled: Add Faculty, Assign Faculty, and View Faculty Information. On the left side of the title, Faculty member is linked to Add Faculty, and Assign Faculty. On the right side, Administration is linked with all the three components.</a:t>
            </a:r>
            <a:endParaRPr lang="en-US" sz="1200" noProof="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1312149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ltLang="en-US" dirty="0">
                <a:solidFill>
                  <a:srgbClr val="000000"/>
                </a:solidFill>
                <a:latin typeface="Arial" panose="020B0604020202020204" pitchFamily="34" charset="0"/>
              </a:rPr>
              <a:t>The analyst will initially use the UML toolset to break down the system requirements into a use case model and an object model. The use case model describes the use cases and actors. The object model describes the objects and object associations, and the responsibilities, collaborators, and attributes of the objects.</a:t>
            </a:r>
          </a:p>
          <a:p>
            <a:pPr lvl="0"/>
            <a:endParaRPr lang="en-US" altLang="en-US" dirty="0">
              <a:solidFill>
                <a:srgbClr val="000000"/>
              </a:solidFill>
              <a:latin typeface="Arial" panose="020B0604020202020204" pitchFamily="34" charset="0"/>
            </a:endParaRPr>
          </a:p>
          <a:p>
            <a:pPr lvl="0"/>
            <a:r>
              <a:rPr lang="en-US" altLang="en-US" dirty="0">
                <a:solidFill>
                  <a:srgbClr val="000000"/>
                </a:solidFill>
                <a:latin typeface="Arial" panose="020B0604020202020204" pitchFamily="34" charset="0"/>
              </a:rPr>
              <a:t>“Putting a project on paper before coding will wind up costing less in the long run. It’s much cheaper to erase a diagram than it is to change coding.”</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4390293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4976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3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93309"/>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0" name="Content Placeholder 7">
            <a:extLst>
              <a:ext uri="{FF2B5EF4-FFF2-40B4-BE49-F238E27FC236}">
                <a16:creationId xmlns:a16="http://schemas.microsoft.com/office/drawing/2014/main" id="{F134B295-1575-464D-B039-45FC77F6E904}"/>
              </a:ext>
            </a:extLst>
          </p:cNvPr>
          <p:cNvSpPr>
            <a:spLocks noGrp="1"/>
          </p:cNvSpPr>
          <p:nvPr>
            <p:ph sz="quarter" idx="14" hasCustomPrompt="1"/>
          </p:nvPr>
        </p:nvSpPr>
        <p:spPr>
          <a:xfrm>
            <a:off x="457200" y="2133650"/>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788D2154-32E7-48C3-AE35-FAD057E6FF9A}"/>
              </a:ext>
            </a:extLst>
          </p:cNvPr>
          <p:cNvSpPr>
            <a:spLocks noGrp="1"/>
          </p:cNvSpPr>
          <p:nvPr>
            <p:ph type="body" sz="quarter" idx="15"/>
          </p:nvPr>
        </p:nvSpPr>
        <p:spPr>
          <a:xfrm>
            <a:off x="457200" y="2757489"/>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a:extLst>
              <a:ext uri="{FF2B5EF4-FFF2-40B4-BE49-F238E27FC236}">
                <a16:creationId xmlns:a16="http://schemas.microsoft.com/office/drawing/2014/main" id="{D1DBECC9-51D5-4567-8B86-67F6BDA67BE2}"/>
              </a:ext>
            </a:extLst>
          </p:cNvPr>
          <p:cNvSpPr>
            <a:spLocks noGrp="1"/>
          </p:cNvSpPr>
          <p:nvPr>
            <p:ph sz="quarter" idx="16"/>
          </p:nvPr>
        </p:nvSpPr>
        <p:spPr>
          <a:xfrm>
            <a:off x="457200" y="3429000"/>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665944349"/>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4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93309"/>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0" name="Content Placeholder 7">
            <a:extLst>
              <a:ext uri="{FF2B5EF4-FFF2-40B4-BE49-F238E27FC236}">
                <a16:creationId xmlns:a16="http://schemas.microsoft.com/office/drawing/2014/main" id="{F134B295-1575-464D-B039-45FC77F6E904}"/>
              </a:ext>
            </a:extLst>
          </p:cNvPr>
          <p:cNvSpPr>
            <a:spLocks noGrp="1"/>
          </p:cNvSpPr>
          <p:nvPr>
            <p:ph sz="quarter" idx="14" hasCustomPrompt="1"/>
          </p:nvPr>
        </p:nvSpPr>
        <p:spPr>
          <a:xfrm>
            <a:off x="457200" y="2133650"/>
            <a:ext cx="8229600" cy="387941"/>
          </a:xfrm>
        </p:spPr>
        <p:txBody>
          <a:bodyPr t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788D2154-32E7-48C3-AE35-FAD057E6FF9A}"/>
              </a:ext>
            </a:extLst>
          </p:cNvPr>
          <p:cNvSpPr>
            <a:spLocks noGrp="1"/>
          </p:cNvSpPr>
          <p:nvPr>
            <p:ph type="body" sz="quarter" idx="15"/>
          </p:nvPr>
        </p:nvSpPr>
        <p:spPr>
          <a:xfrm>
            <a:off x="457200" y="2757489"/>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a:extLst>
              <a:ext uri="{FF2B5EF4-FFF2-40B4-BE49-F238E27FC236}">
                <a16:creationId xmlns:a16="http://schemas.microsoft.com/office/drawing/2014/main" id="{D1DBECC9-51D5-4567-8B86-67F6BDA67BE2}"/>
              </a:ext>
            </a:extLst>
          </p:cNvPr>
          <p:cNvSpPr>
            <a:spLocks noGrp="1"/>
          </p:cNvSpPr>
          <p:nvPr>
            <p:ph sz="quarter" idx="16"/>
          </p:nvPr>
        </p:nvSpPr>
        <p:spPr>
          <a:xfrm>
            <a:off x="457200" y="3429000"/>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5">
            <a:extLst>
              <a:ext uri="{FF2B5EF4-FFF2-40B4-BE49-F238E27FC236}">
                <a16:creationId xmlns:a16="http://schemas.microsoft.com/office/drawing/2014/main" id="{9613E62D-CC5C-4655-80D4-20A09AE6BBC1}"/>
              </a:ext>
            </a:extLst>
          </p:cNvPr>
          <p:cNvSpPr>
            <a:spLocks noGrp="1"/>
          </p:cNvSpPr>
          <p:nvPr>
            <p:ph type="body" sz="quarter" idx="17"/>
          </p:nvPr>
        </p:nvSpPr>
        <p:spPr>
          <a:xfrm>
            <a:off x="457200" y="4138138"/>
            <a:ext cx="8229600" cy="449736"/>
          </a:xfrm>
        </p:spPr>
        <p:txBody>
          <a:bodyPr lIns="0" tIns="0" rIns="0" bIns="0"/>
          <a:lstStyle>
            <a:lvl1pPr marL="0" indent="0">
              <a:buNone/>
              <a:defRPr sz="1800">
                <a:latin typeface="+mn-lt"/>
                <a:cs typeface="Arial" panose="020B0604020202020204" pitchFamily="34" charset="0"/>
              </a:defRPr>
            </a:lvl1pPr>
            <a:lvl2pPr indent="0">
              <a:buNone/>
              <a:defRPr sz="1800">
                <a:latin typeface="+mn-lt"/>
                <a:cs typeface="Arial" panose="020B0604020202020204" pitchFamily="34" charset="0"/>
              </a:defRPr>
            </a:lvl2pPr>
            <a:lvl3pPr indent="0">
              <a:buNone/>
              <a:defRPr sz="1800">
                <a:latin typeface="+mn-lt"/>
                <a:cs typeface="Arial" panose="020B0604020202020204" pitchFamily="34" charset="0"/>
              </a:defRPr>
            </a:lvl3pPr>
            <a:lvl4pPr indent="0">
              <a:buNone/>
              <a:defRPr sz="1800">
                <a:latin typeface="+mn-lt"/>
                <a:cs typeface="Arial" panose="020B0604020202020204" pitchFamily="34" charset="0"/>
              </a:defRPr>
            </a:lvl4pPr>
            <a:lvl5pPr indent="0">
              <a:buNone/>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14">
            <a:extLst>
              <a:ext uri="{FF2B5EF4-FFF2-40B4-BE49-F238E27FC236}">
                <a16:creationId xmlns:a16="http://schemas.microsoft.com/office/drawing/2014/main" id="{4FF79913-B31B-4969-A074-439CCBADEF24}"/>
              </a:ext>
            </a:extLst>
          </p:cNvPr>
          <p:cNvSpPr>
            <a:spLocks noGrp="1"/>
          </p:cNvSpPr>
          <p:nvPr>
            <p:ph sz="quarter" idx="18"/>
          </p:nvPr>
        </p:nvSpPr>
        <p:spPr>
          <a:xfrm>
            <a:off x="457200" y="4809649"/>
            <a:ext cx="8229600" cy="487363"/>
          </a:xfrm>
        </p:spPr>
        <p:txBody>
          <a:bodyPr lIns="0" tIns="0" rIns="0" bIns="0"/>
          <a:lstStyle>
            <a:lvl1pPr marL="0" indent="0">
              <a:buNone/>
              <a:defRPr sz="1800">
                <a:latin typeface="+mn-lt"/>
                <a:cs typeface="Arial" panose="020B0604020202020204" pitchFamily="34" charset="0"/>
              </a:defRPr>
            </a:lvl1pPr>
            <a:lvl2pPr>
              <a:defRPr sz="1800">
                <a:latin typeface="+mn-lt"/>
                <a:cs typeface="Arial" panose="020B0604020202020204" pitchFamily="34" charset="0"/>
              </a:defRPr>
            </a:lvl2pPr>
            <a:lvl3pPr>
              <a:defRPr sz="1800">
                <a:latin typeface="+mn-lt"/>
                <a:cs typeface="Arial" panose="020B0604020202020204" pitchFamily="34" charset="0"/>
              </a:defRPr>
            </a:lvl3pPr>
            <a:lvl4pPr>
              <a:defRPr sz="1800">
                <a:latin typeface="+mn-lt"/>
                <a:cs typeface="Arial" panose="020B0604020202020204" pitchFamily="34" charset="0"/>
              </a:defRPr>
            </a:lvl4pPr>
            <a:lvl5pPr>
              <a:defRPr sz="18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65991413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2024, 2019, 2014 </a:t>
            </a:r>
            <a:r>
              <a:rPr lang="en-US" altLang="en-US" sz="1200" b="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76" r:id="rId3"/>
    <p:sldLayoutId id="2147483677" r:id="rId4"/>
    <p:sldLayoutId id="2147483678" r:id="rId5"/>
    <p:sldLayoutId id="2147483679" r:id="rId6"/>
    <p:sldLayoutId id="2147483680" r:id="rId7"/>
    <p:sldLayoutId id="2147483681" r:id="rId8"/>
    <p:sldLayoutId id="2147483683" r:id="rId9"/>
    <p:sldLayoutId id="2147483684"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title"/>
          </p:nvPr>
        </p:nvSpPr>
        <p:spPr>
          <a:xfrm>
            <a:off x="457200" y="193170"/>
            <a:ext cx="8305800" cy="888424"/>
          </a:xfrm>
        </p:spPr>
        <p:txBody>
          <a:bodyPr anchor="ctr"/>
          <a:lstStyle/>
          <a:p>
            <a:pPr>
              <a:lnSpc>
                <a:spcPct val="90000"/>
              </a:lnSpc>
              <a:spcBef>
                <a:spcPts val="600"/>
              </a:spcBef>
              <a:spcAft>
                <a:spcPts val="125"/>
              </a:spcAft>
            </a:pPr>
            <a:r>
              <a:rPr lang="en-US" dirty="0"/>
              <a:t>Systems Analysis &amp; Design</a:t>
            </a:r>
            <a:endParaRPr lang="en-US" dirty="0">
              <a:solidFill>
                <a:schemeClr val="tx2"/>
              </a:solidFill>
            </a:endParaRP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0"/>
              </a:ext>
            </a:extLst>
          </p:cNvPr>
          <p:cNvSpPr>
            <a:spLocks noGrp="1"/>
          </p:cNvSpPr>
          <p:nvPr>
            <p:ph type="body" idx="1"/>
          </p:nvPr>
        </p:nvSpPr>
        <p:spPr>
          <a:xfrm>
            <a:off x="457200" y="1167996"/>
            <a:ext cx="8229600" cy="403109"/>
          </a:xfrm>
        </p:spPr>
        <p:txBody>
          <a:bodyPr anchor="ctr"/>
          <a:lstStyle/>
          <a:p>
            <a:r>
              <a:rPr lang="en-US" dirty="0"/>
              <a:t>Eleventh</a:t>
            </a:r>
            <a:r>
              <a:rPr lang="en-US" dirty="0">
                <a:latin typeface="+mn-lt"/>
              </a:rPr>
              <a:t> Edition</a:t>
            </a:r>
          </a:p>
        </p:txBody>
      </p:sp>
      <p:pic>
        <p:nvPicPr>
          <p:cNvPr id="4" name="Picture 3" descr="Front Cover: Systems Analysis and Design, Eleventh Edition by Kendall and Kendall.">
            <a:extLst>
              <a:ext uri="{FF2B5EF4-FFF2-40B4-BE49-F238E27FC236}">
                <a16:creationId xmlns:a16="http://schemas.microsoft.com/office/drawing/2014/main" id="{AAD60DB6-7CBC-A115-8F49-D7477962C035}"/>
              </a:ext>
            </a:extLst>
          </p:cNvPr>
          <p:cNvPicPr>
            <a:picLocks noChangeAspect="1"/>
          </p:cNvPicPr>
          <p:nvPr/>
        </p:nvPicPr>
        <p:blipFill>
          <a:blip r:embed="rId3"/>
          <a:stretch>
            <a:fillRect/>
          </a:stretch>
        </p:blipFill>
        <p:spPr>
          <a:xfrm>
            <a:off x="571356" y="1694527"/>
            <a:ext cx="3651821" cy="4523624"/>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4"/>
          </p:nvPr>
        </p:nvSpPr>
        <p:spPr>
          <a:xfrm>
            <a:off x="5199018" y="1892642"/>
            <a:ext cx="3254854" cy="1199807"/>
          </a:xfrm>
        </p:spPr>
        <p:txBody>
          <a:bodyPr/>
          <a:lstStyle/>
          <a:p>
            <a:pPr marL="0"/>
            <a:r>
              <a:rPr lang="en-US" dirty="0"/>
              <a:t>Chapter # 10</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5"/>
          </p:nvPr>
        </p:nvSpPr>
        <p:spPr>
          <a:xfrm>
            <a:off x="5199017" y="3315134"/>
            <a:ext cx="3254854" cy="1199806"/>
          </a:xfrm>
        </p:spPr>
        <p:txBody>
          <a:bodyPr/>
          <a:lstStyle/>
          <a:p>
            <a:r>
              <a:rPr lang="en-US" dirty="0"/>
              <a:t>Object-Oriented Systems Analysis and Design Using U</a:t>
            </a:r>
            <a:r>
              <a:rPr lang="en-US" sz="100" dirty="0"/>
              <a:t> </a:t>
            </a:r>
            <a:r>
              <a:rPr lang="en-US" dirty="0"/>
              <a:t>M</a:t>
            </a:r>
            <a:r>
              <a:rPr lang="en-US" sz="100" dirty="0"/>
              <a:t> </a:t>
            </a:r>
            <a:r>
              <a:rPr lang="en-US" dirty="0"/>
              <a:t>L*</a:t>
            </a:r>
          </a:p>
        </p:txBody>
      </p:sp>
      <p:pic>
        <p:nvPicPr>
          <p:cNvPr id="12" name="Picture Placeholder 21" descr="Pearson Logo">
            <a:extLst>
              <a:ext uri="{FF2B5EF4-FFF2-40B4-BE49-F238E27FC236}">
                <a16:creationId xmlns:a16="http://schemas.microsoft.com/office/drawing/2014/main" id="{CF37FB16-D567-464F-82AB-B4CF4A031A4F}"/>
              </a:ext>
            </a:extLst>
          </p:cNvPr>
          <p:cNvPicPr>
            <a:picLocks noChangeAspect="1"/>
          </p:cNvPicPr>
          <p:nvPr/>
        </p:nvPicPr>
        <p:blipFill>
          <a:blip r:embed="rId4"/>
          <a:srcRect t="22152" b="22152"/>
          <a:stretch>
            <a:fillRect/>
          </a:stretch>
        </p:blipFill>
        <p:spPr>
          <a:xfrm>
            <a:off x="315677" y="6420639"/>
            <a:ext cx="1176574" cy="296443"/>
          </a:xfrm>
          <a:prstGeom prst="rect">
            <a:avLst/>
          </a:prstGeom>
          <a:noFill/>
          <a:ln>
            <a:noFill/>
          </a:ln>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0"/>
              </a:ext>
            </a:extLst>
          </p:cNvPr>
          <p:cNvSpPr>
            <a:spLocks noGrp="1"/>
          </p:cNvSpPr>
          <p:nvPr>
            <p:ph sz="quarter" idx="17"/>
          </p:nvPr>
        </p:nvSpPr>
        <p:spPr>
          <a:xfrm>
            <a:off x="2173288" y="6414520"/>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noProof="0" dirty="0"/>
              <a:t>2024, 2019, 2014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43C6BC-6123-3265-FC4D-EBACE04B6494}"/>
              </a:ext>
            </a:extLst>
          </p:cNvPr>
          <p:cNvSpPr>
            <a:spLocks noGrp="1"/>
          </p:cNvSpPr>
          <p:nvPr>
            <p:ph type="title"/>
          </p:nvPr>
        </p:nvSpPr>
        <p:spPr/>
        <p:txBody>
          <a:bodyPr/>
          <a:lstStyle/>
          <a:p>
            <a:r>
              <a:rPr lang="en-US" dirty="0"/>
              <a:t>Learning Objectives </a:t>
            </a:r>
            <a:r>
              <a:rPr lang="en-US" sz="2000" b="0" dirty="0"/>
              <a:t>(1 of 2)</a:t>
            </a:r>
          </a:p>
        </p:txBody>
      </p:sp>
      <p:sp>
        <p:nvSpPr>
          <p:cNvPr id="7" name="Content Placeholder 6">
            <a:extLst>
              <a:ext uri="{FF2B5EF4-FFF2-40B4-BE49-F238E27FC236}">
                <a16:creationId xmlns:a16="http://schemas.microsoft.com/office/drawing/2014/main" id="{2CEE16B6-C07A-2F80-CEF5-A4391EA36CE0}"/>
              </a:ext>
            </a:extLst>
          </p:cNvPr>
          <p:cNvSpPr>
            <a:spLocks noGrp="1"/>
          </p:cNvSpPr>
          <p:nvPr>
            <p:ph sz="quarter" idx="13"/>
          </p:nvPr>
        </p:nvSpPr>
        <p:spPr>
          <a:xfrm>
            <a:off x="457200" y="1556328"/>
            <a:ext cx="8072846" cy="4374210"/>
          </a:xfrm>
        </p:spPr>
        <p:txBody>
          <a:bodyPr/>
          <a:lstStyle/>
          <a:p>
            <a:pPr marL="0" indent="0">
              <a:spcBef>
                <a:spcPts val="0"/>
              </a:spcBef>
              <a:buClr>
                <a:schemeClr val="lt1"/>
              </a:buClr>
              <a:buSzPct val="25000"/>
              <a:buNone/>
              <a:tabLst>
                <a:tab pos="568325" algn="l"/>
              </a:tabLst>
            </a:pPr>
            <a:r>
              <a:rPr lang="en-US" sz="2200" b="1" dirty="0">
                <a:solidFill>
                  <a:srgbClr val="007FA3"/>
                </a:solidFill>
              </a:rPr>
              <a:t>10.1</a:t>
            </a:r>
            <a:r>
              <a:rPr lang="en-US" sz="2200" dirty="0"/>
              <a:t> Understand what object-oriented systems analysis and design is and appreciate its usefulness.</a:t>
            </a:r>
          </a:p>
          <a:p>
            <a:pPr marL="0" indent="0" defTabSz="625475">
              <a:buClr>
                <a:schemeClr val="lt1"/>
              </a:buClr>
              <a:buSzPct val="25000"/>
              <a:buNone/>
            </a:pPr>
            <a:r>
              <a:rPr lang="en-US" sz="2200" b="1" dirty="0">
                <a:solidFill>
                  <a:srgbClr val="007FA3"/>
                </a:solidFill>
              </a:rPr>
              <a:t>10.2</a:t>
            </a:r>
            <a:r>
              <a:rPr lang="en-US" sz="2200" dirty="0"/>
              <a:t> Learn the basics of C</a:t>
            </a:r>
            <a:r>
              <a:rPr lang="en-US" sz="100" dirty="0"/>
              <a:t> </a:t>
            </a:r>
            <a:r>
              <a:rPr lang="en-US" sz="2200" dirty="0"/>
              <a:t>R</a:t>
            </a:r>
            <a:r>
              <a:rPr lang="en-US" sz="100" dirty="0"/>
              <a:t> </a:t>
            </a:r>
            <a:r>
              <a:rPr lang="en-US" sz="2200" dirty="0"/>
              <a:t>C cards and object think.</a:t>
            </a:r>
          </a:p>
          <a:p>
            <a:pPr marL="0" indent="0" defTabSz="625475">
              <a:buClr>
                <a:schemeClr val="lt1"/>
              </a:buClr>
              <a:buSzPct val="25000"/>
              <a:buNone/>
            </a:pPr>
            <a:r>
              <a:rPr lang="en-US" sz="2200" b="1" dirty="0">
                <a:solidFill>
                  <a:srgbClr val="007FA3"/>
                </a:solidFill>
              </a:rPr>
              <a:t>10.3</a:t>
            </a:r>
            <a:r>
              <a:rPr lang="en-US" sz="2200" dirty="0"/>
              <a:t> Comprehend the concepts of unified modeling language (U</a:t>
            </a:r>
            <a:r>
              <a:rPr lang="en-US" sz="100" dirty="0"/>
              <a:t> </a:t>
            </a:r>
            <a:r>
              <a:rPr lang="en-US" sz="2200" dirty="0"/>
              <a:t>M</a:t>
            </a:r>
            <a:r>
              <a:rPr lang="en-US" sz="100" dirty="0"/>
              <a:t> </a:t>
            </a:r>
            <a:r>
              <a:rPr lang="en-US" sz="2200" dirty="0"/>
              <a:t>L), the standard approach for modeling a system in the object-oriented world.</a:t>
            </a:r>
          </a:p>
          <a:p>
            <a:pPr marL="0" indent="0" defTabSz="625475">
              <a:buClr>
                <a:schemeClr val="lt1"/>
              </a:buClr>
              <a:buSzPct val="25000"/>
              <a:buNone/>
            </a:pPr>
            <a:r>
              <a:rPr lang="en-US" sz="2200" b="1" dirty="0">
                <a:solidFill>
                  <a:srgbClr val="007FA3"/>
                </a:solidFill>
              </a:rPr>
              <a:t>10.4</a:t>
            </a:r>
            <a:r>
              <a:rPr lang="en-US" sz="2200" dirty="0"/>
              <a:t> Explore use case modeling.</a:t>
            </a:r>
          </a:p>
          <a:p>
            <a:pPr marL="0" indent="0" defTabSz="625475">
              <a:buClr>
                <a:schemeClr val="lt1"/>
              </a:buClr>
              <a:buSzPct val="25000"/>
              <a:buNone/>
            </a:pPr>
            <a:r>
              <a:rPr lang="en-US" sz="2200" b="1" dirty="0">
                <a:solidFill>
                  <a:srgbClr val="007FA3"/>
                </a:solidFill>
              </a:rPr>
              <a:t>10.5</a:t>
            </a:r>
            <a:r>
              <a:rPr lang="en-US" sz="2200" dirty="0"/>
              <a:t> Learn how to draw and interpret activity diagrams.</a:t>
            </a:r>
          </a:p>
          <a:p>
            <a:pPr marL="0" indent="0" defTabSz="625475">
              <a:buClr>
                <a:schemeClr val="lt1"/>
              </a:buClr>
              <a:buSzPct val="25000"/>
              <a:buNone/>
            </a:pPr>
            <a:r>
              <a:rPr lang="en-US" sz="2200" b="1" dirty="0">
                <a:solidFill>
                  <a:srgbClr val="007FA3"/>
                </a:solidFill>
              </a:rPr>
              <a:t>10.6</a:t>
            </a:r>
            <a:r>
              <a:rPr lang="en-US" sz="2200" dirty="0"/>
              <a:t> Draw and explain sequence and communication diagrams.</a:t>
            </a:r>
          </a:p>
        </p:txBody>
      </p:sp>
    </p:spTree>
    <p:extLst>
      <p:ext uri="{BB962C8B-B14F-4D97-AF65-F5344CB8AC3E}">
        <p14:creationId xmlns:p14="http://schemas.microsoft.com/office/powerpoint/2010/main" val="1218425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F090-2DED-43E4-E73F-23DC8FE399B9}"/>
              </a:ext>
            </a:extLst>
          </p:cNvPr>
          <p:cNvSpPr>
            <a:spLocks noGrp="1"/>
          </p:cNvSpPr>
          <p:nvPr>
            <p:ph type="title"/>
          </p:nvPr>
        </p:nvSpPr>
        <p:spPr/>
        <p:txBody>
          <a:bodyPr/>
          <a:lstStyle/>
          <a:p>
            <a:r>
              <a:rPr lang="en-US" dirty="0"/>
              <a:t>Learning Objectives </a:t>
            </a:r>
            <a:r>
              <a:rPr lang="en-US" sz="2000" b="0" dirty="0"/>
              <a:t>(2 of 2)</a:t>
            </a:r>
          </a:p>
        </p:txBody>
      </p:sp>
      <p:sp>
        <p:nvSpPr>
          <p:cNvPr id="3" name="Content Placeholder 2">
            <a:extLst>
              <a:ext uri="{FF2B5EF4-FFF2-40B4-BE49-F238E27FC236}">
                <a16:creationId xmlns:a16="http://schemas.microsoft.com/office/drawing/2014/main" id="{29D8A8D3-5674-9A02-5ACB-C25F6779C085}"/>
              </a:ext>
            </a:extLst>
          </p:cNvPr>
          <p:cNvSpPr>
            <a:spLocks noGrp="1"/>
          </p:cNvSpPr>
          <p:nvPr>
            <p:ph sz="quarter" idx="13"/>
          </p:nvPr>
        </p:nvSpPr>
        <p:spPr>
          <a:xfrm>
            <a:off x="457200" y="1556327"/>
            <a:ext cx="8229600" cy="4345709"/>
          </a:xfrm>
        </p:spPr>
        <p:txBody>
          <a:bodyPr/>
          <a:lstStyle/>
          <a:p>
            <a:pPr marL="0" indent="0">
              <a:buClr>
                <a:schemeClr val="lt1"/>
              </a:buClr>
              <a:buSzPct val="25000"/>
              <a:buNone/>
              <a:tabLst>
                <a:tab pos="568325" algn="l"/>
              </a:tabLst>
            </a:pPr>
            <a:r>
              <a:rPr lang="en-US" sz="2200" b="1" dirty="0">
                <a:solidFill>
                  <a:srgbClr val="007FA3"/>
                </a:solidFill>
              </a:rPr>
              <a:t>10.7</a:t>
            </a:r>
            <a:r>
              <a:rPr lang="en-US" sz="2200" dirty="0"/>
              <a:t> Be able to develop class diagrams.</a:t>
            </a:r>
          </a:p>
          <a:p>
            <a:pPr marL="0" indent="0">
              <a:buClr>
                <a:schemeClr val="lt1"/>
              </a:buClr>
              <a:buSzPct val="25000"/>
              <a:buNone/>
              <a:tabLst>
                <a:tab pos="568325" algn="l"/>
              </a:tabLst>
            </a:pPr>
            <a:r>
              <a:rPr lang="en-US" sz="2200" b="1" dirty="0">
                <a:solidFill>
                  <a:srgbClr val="007FA3"/>
                </a:solidFill>
              </a:rPr>
              <a:t>10.8</a:t>
            </a:r>
            <a:r>
              <a:rPr lang="en-US" sz="2200" dirty="0"/>
              <a:t> Enhance sequence diagrams based on the class diagrams just developed.</a:t>
            </a:r>
          </a:p>
          <a:p>
            <a:pPr marL="0" indent="0" defTabSz="625475">
              <a:buClr>
                <a:schemeClr val="lt1"/>
              </a:buClr>
              <a:buSzPct val="25000"/>
              <a:buNone/>
            </a:pPr>
            <a:r>
              <a:rPr lang="en-US" sz="2200" b="1" dirty="0">
                <a:solidFill>
                  <a:srgbClr val="007FA3"/>
                </a:solidFill>
              </a:rPr>
              <a:t>10.9</a:t>
            </a:r>
            <a:r>
              <a:rPr lang="en-US" sz="2200" dirty="0"/>
              <a:t> Enhance call diagrams in a variety of ways.</a:t>
            </a:r>
          </a:p>
          <a:p>
            <a:pPr marL="0" indent="0" defTabSz="625475">
              <a:buClr>
                <a:schemeClr val="lt1"/>
              </a:buClr>
              <a:buSzPct val="25000"/>
              <a:buNone/>
            </a:pPr>
            <a:r>
              <a:rPr lang="en-US" sz="2200" b="1" dirty="0">
                <a:solidFill>
                  <a:srgbClr val="007FA3"/>
                </a:solidFill>
              </a:rPr>
              <a:t>10.10</a:t>
            </a:r>
            <a:r>
              <a:rPr lang="en-US" sz="2200" dirty="0"/>
              <a:t> Learn how to develop statechart diagrams.</a:t>
            </a:r>
          </a:p>
          <a:p>
            <a:pPr marL="0" indent="0" defTabSz="625475">
              <a:buClr>
                <a:schemeClr val="lt1"/>
              </a:buClr>
              <a:buSzPct val="25000"/>
              <a:buNone/>
            </a:pPr>
            <a:r>
              <a:rPr lang="en-US" sz="2200" b="1" dirty="0">
                <a:solidFill>
                  <a:srgbClr val="007FA3"/>
                </a:solidFill>
              </a:rPr>
              <a:t>10.11</a:t>
            </a:r>
            <a:r>
              <a:rPr lang="en-US" sz="2200" dirty="0"/>
              <a:t> Learn the fundamentals of decision trees.</a:t>
            </a:r>
          </a:p>
          <a:p>
            <a:pPr marL="0" indent="0" defTabSz="625475">
              <a:buClr>
                <a:schemeClr val="lt1"/>
              </a:buClr>
              <a:buSzPct val="25000"/>
              <a:buNone/>
            </a:pPr>
            <a:r>
              <a:rPr lang="en-US" sz="2200" b="1" dirty="0">
                <a:solidFill>
                  <a:srgbClr val="007FA3"/>
                </a:solidFill>
              </a:rPr>
              <a:t>10.12</a:t>
            </a:r>
            <a:r>
              <a:rPr lang="en-US" sz="2200" dirty="0"/>
              <a:t> Recognize how to put  U</a:t>
            </a:r>
            <a:r>
              <a:rPr lang="en-US" sz="100" dirty="0"/>
              <a:t> </a:t>
            </a:r>
            <a:r>
              <a:rPr lang="en-US" sz="2200" dirty="0"/>
              <a:t>M</a:t>
            </a:r>
            <a:r>
              <a:rPr lang="en-US" sz="100" dirty="0"/>
              <a:t> </a:t>
            </a:r>
            <a:r>
              <a:rPr lang="en-US" sz="2200" dirty="0"/>
              <a:t>L to work.</a:t>
            </a:r>
          </a:p>
          <a:p>
            <a:pPr marL="0" indent="0" defTabSz="803275">
              <a:buClr>
                <a:schemeClr val="lt1"/>
              </a:buClr>
              <a:buSzPct val="25000"/>
              <a:buNone/>
            </a:pPr>
            <a:r>
              <a:rPr lang="en-US" sz="2200" b="1" dirty="0">
                <a:solidFill>
                  <a:srgbClr val="007FA3"/>
                </a:solidFill>
              </a:rPr>
              <a:t>10.13</a:t>
            </a:r>
            <a:r>
              <a:rPr lang="en-US" sz="2200" dirty="0"/>
              <a:t> Realize the importance of U</a:t>
            </a:r>
            <a:r>
              <a:rPr lang="en-US" sz="100" dirty="0"/>
              <a:t> </a:t>
            </a:r>
            <a:r>
              <a:rPr lang="en-US" sz="2200" dirty="0"/>
              <a:t>M</a:t>
            </a:r>
            <a:r>
              <a:rPr lang="en-US" sz="100" dirty="0"/>
              <a:t> </a:t>
            </a:r>
            <a:r>
              <a:rPr lang="en-US" sz="2200" dirty="0"/>
              <a:t>L for modeling.</a:t>
            </a:r>
          </a:p>
        </p:txBody>
      </p:sp>
    </p:spTree>
    <p:extLst>
      <p:ext uri="{BB962C8B-B14F-4D97-AF65-F5344CB8AC3E}">
        <p14:creationId xmlns:p14="http://schemas.microsoft.com/office/powerpoint/2010/main" val="575638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670D-53BB-3CD0-2423-7F9FE6405EA2}"/>
              </a:ext>
            </a:extLst>
          </p:cNvPr>
          <p:cNvSpPr>
            <a:spLocks noGrp="1"/>
          </p:cNvSpPr>
          <p:nvPr>
            <p:ph type="title"/>
          </p:nvPr>
        </p:nvSpPr>
        <p:spPr/>
        <p:txBody>
          <a:bodyPr/>
          <a:lstStyle/>
          <a:p>
            <a:r>
              <a:rPr lang="en-US" altLang="en-US" sz="2800" dirty="0">
                <a:sym typeface="Arial"/>
              </a:rPr>
              <a:t>Object-Oriented Analysis and Design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94B6DCB3-AD64-9219-C1E3-2D4BD9B828D4}"/>
              </a:ext>
            </a:extLst>
          </p:cNvPr>
          <p:cNvSpPr>
            <a:spLocks noGrp="1"/>
          </p:cNvSpPr>
          <p:nvPr>
            <p:ph sz="quarter" idx="13"/>
          </p:nvPr>
        </p:nvSpPr>
        <p:spPr>
          <a:xfrm>
            <a:off x="457200" y="1556327"/>
            <a:ext cx="8229600" cy="2878513"/>
          </a:xfrm>
        </p:spPr>
        <p:txBody>
          <a:bodyPr/>
          <a:lstStyle/>
          <a:p>
            <a:pPr marL="255588" lvl="0" indent="-255588">
              <a:buSzPts val="2400"/>
            </a:pPr>
            <a:r>
              <a:rPr lang="en-US" altLang="en-US" dirty="0">
                <a:solidFill>
                  <a:srgbClr val="000000"/>
                </a:solidFill>
              </a:rPr>
              <a:t>Works well in situations where complicated systems are undergoing continuous maintenance, adaptation, and design</a:t>
            </a:r>
          </a:p>
          <a:p>
            <a:pPr marL="255588" lvl="0" indent="-255588">
              <a:buSzPts val="2400"/>
            </a:pPr>
            <a:r>
              <a:rPr lang="en-US" altLang="en-US" dirty="0">
                <a:solidFill>
                  <a:srgbClr val="000000"/>
                </a:solidFill>
              </a:rPr>
              <a:t>Objects, classes are reusable</a:t>
            </a:r>
          </a:p>
          <a:p>
            <a:pPr marL="255588" lvl="0" indent="-255588">
              <a:buSzPts val="2400"/>
            </a:pPr>
            <a:r>
              <a:rPr lang="en-US" altLang="en-US" dirty="0">
                <a:solidFill>
                  <a:srgbClr val="000000"/>
                </a:solidFill>
              </a:rPr>
              <a:t>The Unified Modeling Language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 is an industry standard for modeling object-oriented systems.</a:t>
            </a:r>
          </a:p>
        </p:txBody>
      </p:sp>
    </p:spTree>
    <p:extLst>
      <p:ext uri="{BB962C8B-B14F-4D97-AF65-F5344CB8AC3E}">
        <p14:creationId xmlns:p14="http://schemas.microsoft.com/office/powerpoint/2010/main" val="3544768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59D4-A7D2-FDA9-DCF1-7F29C01421DF}"/>
              </a:ext>
            </a:extLst>
          </p:cNvPr>
          <p:cNvSpPr>
            <a:spLocks noGrp="1"/>
          </p:cNvSpPr>
          <p:nvPr>
            <p:ph type="title"/>
          </p:nvPr>
        </p:nvSpPr>
        <p:spPr/>
        <p:txBody>
          <a:bodyPr/>
          <a:lstStyle/>
          <a:p>
            <a:r>
              <a:rPr lang="en-US" altLang="en-US" sz="2800" dirty="0">
                <a:sym typeface="Arial"/>
              </a:rPr>
              <a:t>Object-Oriented Analysis and Design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CEE7D2B7-3E87-AA75-03AB-384F09546DD4}"/>
              </a:ext>
            </a:extLst>
          </p:cNvPr>
          <p:cNvSpPr>
            <a:spLocks noGrp="1"/>
          </p:cNvSpPr>
          <p:nvPr>
            <p:ph sz="quarter" idx="13"/>
          </p:nvPr>
        </p:nvSpPr>
        <p:spPr>
          <a:xfrm>
            <a:off x="457200" y="1556327"/>
            <a:ext cx="8229600" cy="2764213"/>
          </a:xfrm>
        </p:spPr>
        <p:txBody>
          <a:bodyPr/>
          <a:lstStyle/>
          <a:p>
            <a:pPr marL="255588" lvl="0" indent="-255588">
              <a:buSzPts val="2400"/>
            </a:pPr>
            <a:r>
              <a:rPr lang="en-US" altLang="en-US" dirty="0">
                <a:solidFill>
                  <a:srgbClr val="000000"/>
                </a:solidFill>
              </a:rPr>
              <a:t>Reusability</a:t>
            </a:r>
          </a:p>
          <a:p>
            <a:pPr marL="741600" lvl="1">
              <a:buSzPts val="2400"/>
            </a:pPr>
            <a:r>
              <a:rPr lang="en-US" altLang="en-US" dirty="0">
                <a:solidFill>
                  <a:srgbClr val="000000"/>
                </a:solidFill>
              </a:rPr>
              <a:t>Recycling of program parts should reduce the costs of development in computer-based systems</a:t>
            </a:r>
          </a:p>
          <a:p>
            <a:pPr marL="255588" lvl="0" indent="-255588">
              <a:buSzPts val="2400"/>
            </a:pPr>
            <a:r>
              <a:rPr lang="en-US" altLang="en-US" dirty="0">
                <a:solidFill>
                  <a:srgbClr val="000000"/>
                </a:solidFill>
              </a:rPr>
              <a:t>Maintaining systems</a:t>
            </a:r>
          </a:p>
          <a:p>
            <a:pPr marL="741600" lvl="1">
              <a:buSzPts val="2400"/>
            </a:pPr>
            <a:r>
              <a:rPr lang="en-US" altLang="en-US" dirty="0">
                <a:solidFill>
                  <a:srgbClr val="000000"/>
                </a:solidFill>
              </a:rPr>
              <a:t>Making a change in one object has a minimal impact on other objects</a:t>
            </a:r>
          </a:p>
        </p:txBody>
      </p:sp>
    </p:spTree>
    <p:extLst>
      <p:ext uri="{BB962C8B-B14F-4D97-AF65-F5344CB8AC3E}">
        <p14:creationId xmlns:p14="http://schemas.microsoft.com/office/powerpoint/2010/main" val="3181411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D81B-CA44-10F7-90E1-58EA20EDB6D4}"/>
              </a:ext>
            </a:extLst>
          </p:cNvPr>
          <p:cNvSpPr>
            <a:spLocks noGrp="1"/>
          </p:cNvSpPr>
          <p:nvPr>
            <p:ph type="title"/>
          </p:nvPr>
        </p:nvSpPr>
        <p:spPr/>
        <p:txBody>
          <a:bodyPr/>
          <a:lstStyle/>
          <a:p>
            <a:r>
              <a:rPr lang="en-US" altLang="en-US" dirty="0">
                <a:sym typeface="Arial"/>
              </a:rPr>
              <a:t>Major Topics</a:t>
            </a:r>
            <a:endParaRPr lang="en-US" dirty="0"/>
          </a:p>
        </p:txBody>
      </p:sp>
      <p:sp>
        <p:nvSpPr>
          <p:cNvPr id="3" name="Content Placeholder 2">
            <a:extLst>
              <a:ext uri="{FF2B5EF4-FFF2-40B4-BE49-F238E27FC236}">
                <a16:creationId xmlns:a16="http://schemas.microsoft.com/office/drawing/2014/main" id="{423A0BC2-8D92-6800-E114-7B09C9E3099C}"/>
              </a:ext>
            </a:extLst>
          </p:cNvPr>
          <p:cNvSpPr>
            <a:spLocks noGrp="1"/>
          </p:cNvSpPr>
          <p:nvPr>
            <p:ph sz="quarter" idx="13"/>
          </p:nvPr>
        </p:nvSpPr>
        <p:spPr>
          <a:xfrm>
            <a:off x="457200" y="1556327"/>
            <a:ext cx="8229600" cy="3349048"/>
          </a:xfrm>
        </p:spPr>
        <p:txBody>
          <a:bodyPr/>
          <a:lstStyle/>
          <a:p>
            <a:pPr marL="255588" lvl="0" indent="-255588">
              <a:buSzPts val="2400"/>
            </a:pPr>
            <a:r>
              <a:rPr lang="en-US" altLang="en-US" dirty="0">
                <a:solidFill>
                  <a:srgbClr val="000000"/>
                </a:solidFill>
              </a:rPr>
              <a:t>Object-oriented concepts</a:t>
            </a:r>
          </a:p>
          <a:p>
            <a:pPr marL="255588" lvl="0" indent="-255588">
              <a:buSzPts val="2400"/>
            </a:pPr>
            <a:r>
              <a:rPr lang="en-US" altLang="en-US" dirty="0">
                <a:solidFill>
                  <a:srgbClr val="000000"/>
                </a:solidFill>
              </a:rPr>
              <a:t>C</a:t>
            </a:r>
            <a:r>
              <a:rPr lang="en-US" altLang="en-US" sz="100" dirty="0">
                <a:solidFill>
                  <a:srgbClr val="000000"/>
                </a:solidFill>
              </a:rPr>
              <a:t> </a:t>
            </a:r>
            <a:r>
              <a:rPr lang="en-US" altLang="en-US" dirty="0">
                <a:solidFill>
                  <a:srgbClr val="000000"/>
                </a:solidFill>
              </a:rPr>
              <a:t>R</a:t>
            </a:r>
            <a:r>
              <a:rPr lang="en-US" altLang="en-US" sz="100" dirty="0">
                <a:solidFill>
                  <a:srgbClr val="000000"/>
                </a:solidFill>
              </a:rPr>
              <a:t> </a:t>
            </a:r>
            <a:r>
              <a:rPr lang="en-US" altLang="en-US" dirty="0">
                <a:solidFill>
                  <a:srgbClr val="000000"/>
                </a:solidFill>
              </a:rPr>
              <a:t>C cards and object think</a:t>
            </a:r>
          </a:p>
          <a:p>
            <a:pPr marL="255588" lvl="0" indent="-255588">
              <a:buSzPts val="2400"/>
            </a:pPr>
            <a:r>
              <a:rPr lang="en-US" altLang="en-US" dirty="0">
                <a:solidFill>
                  <a:srgbClr val="000000"/>
                </a:solidFill>
              </a:rPr>
              <a:t>Unified Modeling Language</a:t>
            </a:r>
          </a:p>
          <a:p>
            <a:pPr marL="255588" lvl="0" indent="-255588">
              <a:buSzPts val="2400"/>
            </a:pPr>
            <a:r>
              <a:rPr lang="en-US" altLang="en-US" dirty="0">
                <a:solidFill>
                  <a:srgbClr val="000000"/>
                </a:solidFill>
              </a:rPr>
              <a:t>Use case and other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 diagrams</a:t>
            </a:r>
          </a:p>
          <a:p>
            <a:pPr marL="255588" lvl="0" indent="-255588">
              <a:buSzPts val="2400"/>
            </a:pPr>
            <a:r>
              <a:rPr lang="en-US" altLang="en-US" dirty="0">
                <a:solidFill>
                  <a:srgbClr val="000000"/>
                </a:solidFill>
              </a:rPr>
              <a:t>Packages</a:t>
            </a:r>
          </a:p>
          <a:p>
            <a:pPr marL="255588" lvl="0" indent="-255588">
              <a:buSzPts val="2400"/>
            </a:pPr>
            <a:r>
              <a:rPr lang="en-US" altLang="en-US" dirty="0">
                <a:solidFill>
                  <a:srgbClr val="000000"/>
                </a:solidFill>
              </a:rPr>
              <a:t>Using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a:t>
            </a:r>
          </a:p>
        </p:txBody>
      </p:sp>
    </p:spTree>
    <p:extLst>
      <p:ext uri="{BB962C8B-B14F-4D97-AF65-F5344CB8AC3E}">
        <p14:creationId xmlns:p14="http://schemas.microsoft.com/office/powerpoint/2010/main" val="3772284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BE37-14C2-E9D0-0BBF-8301465F0877}"/>
              </a:ext>
            </a:extLst>
          </p:cNvPr>
          <p:cNvSpPr>
            <a:spLocks noGrp="1"/>
          </p:cNvSpPr>
          <p:nvPr>
            <p:ph type="title"/>
          </p:nvPr>
        </p:nvSpPr>
        <p:spPr/>
        <p:txBody>
          <a:bodyPr/>
          <a:lstStyle/>
          <a:p>
            <a:r>
              <a:rPr lang="en-US" altLang="en-US" dirty="0">
                <a:sym typeface="Arial"/>
              </a:rPr>
              <a:t>Object-Oriented Concepts</a:t>
            </a:r>
            <a:endParaRPr lang="en-US" dirty="0"/>
          </a:p>
        </p:txBody>
      </p:sp>
      <p:sp>
        <p:nvSpPr>
          <p:cNvPr id="3" name="Content Placeholder 2">
            <a:extLst>
              <a:ext uri="{FF2B5EF4-FFF2-40B4-BE49-F238E27FC236}">
                <a16:creationId xmlns:a16="http://schemas.microsoft.com/office/drawing/2014/main" id="{C04AF2E4-34C8-BE2E-8117-60BF17C1633C}"/>
              </a:ext>
            </a:extLst>
          </p:cNvPr>
          <p:cNvSpPr>
            <a:spLocks noGrp="1"/>
          </p:cNvSpPr>
          <p:nvPr>
            <p:ph sz="quarter" idx="13"/>
          </p:nvPr>
        </p:nvSpPr>
        <p:spPr>
          <a:xfrm>
            <a:off x="457200" y="1556327"/>
            <a:ext cx="8229600" cy="1701223"/>
          </a:xfrm>
        </p:spPr>
        <p:txBody>
          <a:bodyPr/>
          <a:lstStyle/>
          <a:p>
            <a:pPr marL="255588" lvl="0" indent="-255588">
              <a:buSzPts val="2400"/>
            </a:pPr>
            <a:r>
              <a:rPr lang="en-US" altLang="en-US" dirty="0">
                <a:solidFill>
                  <a:srgbClr val="000000"/>
                </a:solidFill>
              </a:rPr>
              <a:t>Objects</a:t>
            </a:r>
          </a:p>
          <a:p>
            <a:pPr marL="255588" lvl="0" indent="-255588">
              <a:buSzPts val="2400"/>
            </a:pPr>
            <a:r>
              <a:rPr lang="en-US" altLang="en-US" dirty="0">
                <a:solidFill>
                  <a:srgbClr val="000000"/>
                </a:solidFill>
              </a:rPr>
              <a:t>Classes</a:t>
            </a:r>
          </a:p>
          <a:p>
            <a:pPr marL="255588" lvl="0" indent="-255588">
              <a:buSzPts val="2400"/>
            </a:pPr>
            <a:r>
              <a:rPr lang="en-US" altLang="en-US" dirty="0">
                <a:solidFill>
                  <a:srgbClr val="000000"/>
                </a:solidFill>
              </a:rPr>
              <a:t>Inheritance</a:t>
            </a:r>
          </a:p>
        </p:txBody>
      </p:sp>
    </p:spTree>
    <p:extLst>
      <p:ext uri="{BB962C8B-B14F-4D97-AF65-F5344CB8AC3E}">
        <p14:creationId xmlns:p14="http://schemas.microsoft.com/office/powerpoint/2010/main" val="242295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E7E83-2997-9FFC-A9C0-F2B862FDACD8}"/>
              </a:ext>
            </a:extLst>
          </p:cNvPr>
          <p:cNvSpPr>
            <a:spLocks noGrp="1"/>
          </p:cNvSpPr>
          <p:nvPr>
            <p:ph type="title"/>
          </p:nvPr>
        </p:nvSpPr>
        <p:spPr/>
        <p:txBody>
          <a:bodyPr/>
          <a:lstStyle/>
          <a:p>
            <a:r>
              <a:rPr lang="en-US" altLang="en-US" dirty="0">
                <a:sym typeface="Arial"/>
              </a:rPr>
              <a:t>Objects</a:t>
            </a:r>
            <a:endParaRPr lang="en-US" dirty="0"/>
          </a:p>
        </p:txBody>
      </p:sp>
      <p:sp>
        <p:nvSpPr>
          <p:cNvPr id="3" name="Content Placeholder 2">
            <a:extLst>
              <a:ext uri="{FF2B5EF4-FFF2-40B4-BE49-F238E27FC236}">
                <a16:creationId xmlns:a16="http://schemas.microsoft.com/office/drawing/2014/main" id="{1268472B-0CAD-9681-0E7C-58BC9B6ECEC5}"/>
              </a:ext>
            </a:extLst>
          </p:cNvPr>
          <p:cNvSpPr>
            <a:spLocks noGrp="1"/>
          </p:cNvSpPr>
          <p:nvPr>
            <p:ph sz="quarter" idx="13"/>
          </p:nvPr>
        </p:nvSpPr>
        <p:spPr>
          <a:xfrm>
            <a:off x="457200" y="1556327"/>
            <a:ext cx="8229600" cy="1998403"/>
          </a:xfrm>
        </p:spPr>
        <p:txBody>
          <a:bodyPr/>
          <a:lstStyle/>
          <a:p>
            <a:pPr marL="255588" lvl="0" indent="-255588">
              <a:buSzPts val="2400"/>
            </a:pPr>
            <a:r>
              <a:rPr lang="en-US" altLang="en-US" dirty="0">
                <a:solidFill>
                  <a:srgbClr val="000000"/>
                </a:solidFill>
              </a:rPr>
              <a:t>Persons, places, or things that are relevant to the system being analyzed</a:t>
            </a:r>
          </a:p>
          <a:p>
            <a:pPr marL="255588" lvl="0" indent="-255588">
              <a:buSzPts val="2400"/>
            </a:pPr>
            <a:r>
              <a:rPr lang="en-US" altLang="en-US" dirty="0">
                <a:solidFill>
                  <a:srgbClr val="000000"/>
                </a:solidFill>
              </a:rPr>
              <a:t>May be customers, items, orders, and so on</a:t>
            </a:r>
          </a:p>
          <a:p>
            <a:pPr marL="255588" lvl="0" indent="-255588">
              <a:buSzPts val="2400"/>
            </a:pPr>
            <a:r>
              <a:rPr lang="en-US" altLang="en-US" dirty="0">
                <a:solidFill>
                  <a:srgbClr val="000000"/>
                </a:solidFill>
              </a:rPr>
              <a:t>May be G</a:t>
            </a:r>
            <a:r>
              <a:rPr lang="en-US" altLang="en-US" sz="100" dirty="0">
                <a:solidFill>
                  <a:srgbClr val="000000"/>
                </a:solidFill>
              </a:rPr>
              <a:t> </a:t>
            </a:r>
            <a:r>
              <a:rPr lang="en-US" altLang="en-US" dirty="0">
                <a:solidFill>
                  <a:srgbClr val="000000"/>
                </a:solidFill>
              </a:rPr>
              <a:t>U</a:t>
            </a:r>
            <a:r>
              <a:rPr lang="en-US" altLang="en-US" sz="100" dirty="0">
                <a:solidFill>
                  <a:srgbClr val="000000"/>
                </a:solidFill>
              </a:rPr>
              <a:t> </a:t>
            </a:r>
            <a:r>
              <a:rPr lang="en-US" altLang="en-US" dirty="0">
                <a:solidFill>
                  <a:srgbClr val="000000"/>
                </a:solidFill>
              </a:rPr>
              <a:t>I displays or text areas on a display</a:t>
            </a:r>
          </a:p>
        </p:txBody>
      </p:sp>
    </p:spTree>
    <p:extLst>
      <p:ext uri="{BB962C8B-B14F-4D97-AF65-F5344CB8AC3E}">
        <p14:creationId xmlns:p14="http://schemas.microsoft.com/office/powerpoint/2010/main" val="1668699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D58A-D0C7-1C75-C74E-5BBD30A37D5D}"/>
              </a:ext>
            </a:extLst>
          </p:cNvPr>
          <p:cNvSpPr>
            <a:spLocks noGrp="1"/>
          </p:cNvSpPr>
          <p:nvPr>
            <p:ph type="title"/>
          </p:nvPr>
        </p:nvSpPr>
        <p:spPr/>
        <p:txBody>
          <a:bodyPr/>
          <a:lstStyle/>
          <a:p>
            <a:r>
              <a:rPr lang="en-US" altLang="en-US" dirty="0">
                <a:sym typeface="Arial"/>
              </a:rPr>
              <a:t>Classes</a:t>
            </a:r>
            <a:endParaRPr lang="en-US" dirty="0"/>
          </a:p>
        </p:txBody>
      </p:sp>
      <p:sp>
        <p:nvSpPr>
          <p:cNvPr id="3" name="Content Placeholder 2">
            <a:extLst>
              <a:ext uri="{FF2B5EF4-FFF2-40B4-BE49-F238E27FC236}">
                <a16:creationId xmlns:a16="http://schemas.microsoft.com/office/drawing/2014/main" id="{6BD4EC7C-B292-9EB9-01BC-373F08F3ACE1}"/>
              </a:ext>
            </a:extLst>
          </p:cNvPr>
          <p:cNvSpPr>
            <a:spLocks noGrp="1"/>
          </p:cNvSpPr>
          <p:nvPr>
            <p:ph sz="quarter" idx="13"/>
          </p:nvPr>
        </p:nvSpPr>
        <p:spPr>
          <a:xfrm>
            <a:off x="457200" y="1556327"/>
            <a:ext cx="8229600" cy="4295833"/>
          </a:xfrm>
        </p:spPr>
        <p:txBody>
          <a:bodyPr/>
          <a:lstStyle/>
          <a:p>
            <a:pPr marL="255588" lvl="0" indent="-255588">
              <a:buSzPts val="2400"/>
            </a:pPr>
            <a:r>
              <a:rPr lang="en-US" altLang="en-US" dirty="0">
                <a:solidFill>
                  <a:srgbClr val="000000"/>
                </a:solidFill>
              </a:rPr>
              <a:t>Defines the set of shared attributes and behaviors found in each object in the class</a:t>
            </a:r>
          </a:p>
          <a:p>
            <a:pPr marL="255588" lvl="0" indent="-255588">
              <a:buSzPts val="2400"/>
            </a:pPr>
            <a:r>
              <a:rPr lang="en-US" altLang="en-US" dirty="0">
                <a:solidFill>
                  <a:srgbClr val="000000"/>
                </a:solidFill>
              </a:rPr>
              <a:t>Should have a name that differentiates it from all other classes</a:t>
            </a:r>
          </a:p>
          <a:p>
            <a:pPr marL="255588" lvl="0" indent="-255588">
              <a:buSzPts val="2400"/>
            </a:pPr>
            <a:r>
              <a:rPr lang="en-US" altLang="en-US" dirty="0">
                <a:solidFill>
                  <a:srgbClr val="000000"/>
                </a:solidFill>
              </a:rPr>
              <a:t>Instantiate is when an object is created from a class</a:t>
            </a:r>
          </a:p>
          <a:p>
            <a:pPr marL="255588" lvl="0" indent="-255588">
              <a:buSzPts val="2400"/>
            </a:pPr>
            <a:r>
              <a:rPr lang="en-US" altLang="en-US" dirty="0">
                <a:solidFill>
                  <a:srgbClr val="000000"/>
                </a:solidFill>
              </a:rPr>
              <a:t>An attribute describes some property that is possessed by all objects of the class</a:t>
            </a:r>
          </a:p>
          <a:p>
            <a:pPr marL="255588" lvl="0" indent="-255588">
              <a:buSzPts val="2400"/>
            </a:pPr>
            <a:r>
              <a:rPr lang="en-US" altLang="en-US" dirty="0">
                <a:solidFill>
                  <a:srgbClr val="000000"/>
                </a:solidFill>
              </a:rPr>
              <a:t>A method is an action that can be requested from any object of the class</a:t>
            </a:r>
          </a:p>
        </p:txBody>
      </p:sp>
    </p:spTree>
    <p:extLst>
      <p:ext uri="{BB962C8B-B14F-4D97-AF65-F5344CB8AC3E}">
        <p14:creationId xmlns:p14="http://schemas.microsoft.com/office/powerpoint/2010/main" val="1848915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76A45-1002-F9C9-B90E-8A56FF82406F}"/>
              </a:ext>
            </a:extLst>
          </p:cNvPr>
          <p:cNvSpPr>
            <a:spLocks noGrp="1"/>
          </p:cNvSpPr>
          <p:nvPr>
            <p:ph type="title"/>
          </p:nvPr>
        </p:nvSpPr>
        <p:spPr/>
        <p:txBody>
          <a:bodyPr/>
          <a:lstStyle/>
          <a:p>
            <a:r>
              <a:rPr lang="en-US" altLang="en-US" sz="3200" dirty="0">
                <a:sym typeface="Arial"/>
              </a:rPr>
              <a:t>Figure 10.1 An Example of a U</a:t>
            </a:r>
            <a:r>
              <a:rPr lang="en-US" altLang="en-US" sz="100" dirty="0">
                <a:sym typeface="Arial"/>
              </a:rPr>
              <a:t> </a:t>
            </a:r>
            <a:r>
              <a:rPr lang="en-US" altLang="en-US" sz="3200" dirty="0">
                <a:sym typeface="Arial"/>
              </a:rPr>
              <a:t>M</a:t>
            </a:r>
            <a:r>
              <a:rPr lang="en-US" altLang="en-US" sz="100" dirty="0">
                <a:sym typeface="Arial"/>
              </a:rPr>
              <a:t> </a:t>
            </a:r>
            <a:r>
              <a:rPr lang="en-US" altLang="en-US" sz="3200" dirty="0">
                <a:sym typeface="Arial"/>
              </a:rPr>
              <a:t>L Class</a:t>
            </a:r>
            <a:endParaRPr lang="en-US" sz="3200" dirty="0"/>
          </a:p>
        </p:txBody>
      </p:sp>
      <p:pic>
        <p:nvPicPr>
          <p:cNvPr id="5" name="Picture 4" descr="An illustration shows an example of a U M L class. Long description in notes, press F6.">
            <a:extLst>
              <a:ext uri="{FF2B5EF4-FFF2-40B4-BE49-F238E27FC236}">
                <a16:creationId xmlns:a16="http://schemas.microsoft.com/office/drawing/2014/main" id="{40148C17-B275-4444-B5E8-932D8552C79C}"/>
              </a:ext>
            </a:extLst>
          </p:cNvPr>
          <p:cNvPicPr>
            <a:picLocks noChangeAspect="1"/>
          </p:cNvPicPr>
          <p:nvPr/>
        </p:nvPicPr>
        <p:blipFill>
          <a:blip r:embed="rId3"/>
          <a:stretch>
            <a:fillRect/>
          </a:stretch>
        </p:blipFill>
        <p:spPr>
          <a:xfrm>
            <a:off x="971550" y="1844502"/>
            <a:ext cx="7481455" cy="3717636"/>
          </a:xfrm>
          <a:prstGeom prst="rect">
            <a:avLst/>
          </a:prstGeom>
        </p:spPr>
      </p:pic>
    </p:spTree>
    <p:extLst>
      <p:ext uri="{BB962C8B-B14F-4D97-AF65-F5344CB8AC3E}">
        <p14:creationId xmlns:p14="http://schemas.microsoft.com/office/powerpoint/2010/main" val="3928896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3C49-918F-4FA9-805D-E1ABA1D39F1D}"/>
              </a:ext>
            </a:extLst>
          </p:cNvPr>
          <p:cNvSpPr>
            <a:spLocks noGrp="1"/>
          </p:cNvSpPr>
          <p:nvPr>
            <p:ph type="title"/>
          </p:nvPr>
        </p:nvSpPr>
        <p:spPr/>
        <p:txBody>
          <a:bodyPr/>
          <a:lstStyle/>
          <a:p>
            <a:r>
              <a:rPr lang="en-US" altLang="en-US" dirty="0">
                <a:sym typeface="Arial"/>
              </a:rPr>
              <a:t>Inheritance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24C193D6-9B5F-4564-9F53-2BA844EF5D71}"/>
              </a:ext>
            </a:extLst>
          </p:cNvPr>
          <p:cNvSpPr>
            <a:spLocks noGrp="1"/>
          </p:cNvSpPr>
          <p:nvPr>
            <p:ph sz="quarter" idx="13"/>
          </p:nvPr>
        </p:nvSpPr>
        <p:spPr>
          <a:xfrm>
            <a:off x="457200" y="1556327"/>
            <a:ext cx="8229600" cy="2444173"/>
          </a:xfrm>
        </p:spPr>
        <p:txBody>
          <a:bodyPr/>
          <a:lstStyle/>
          <a:p>
            <a:pPr marL="255588" lvl="0" indent="-255588">
              <a:buSzPts val="2400"/>
            </a:pPr>
            <a:r>
              <a:rPr lang="en-US" altLang="en-US" dirty="0">
                <a:solidFill>
                  <a:srgbClr val="000000"/>
                </a:solidFill>
              </a:rPr>
              <a:t>When a derived class inherits all the attributes and behaviors of the base class</a:t>
            </a:r>
          </a:p>
          <a:p>
            <a:pPr marL="255588" lvl="0" indent="-255588">
              <a:buSzPts val="2400"/>
            </a:pPr>
            <a:r>
              <a:rPr lang="en-US" altLang="en-US" dirty="0">
                <a:solidFill>
                  <a:srgbClr val="000000"/>
                </a:solidFill>
              </a:rPr>
              <a:t>Reduces programming labor by using common objects easily</a:t>
            </a:r>
          </a:p>
          <a:p>
            <a:pPr marL="255588" lvl="0" indent="-255588">
              <a:buSzPts val="2400"/>
            </a:pPr>
            <a:r>
              <a:rPr lang="en-US" altLang="en-US" dirty="0">
                <a:solidFill>
                  <a:srgbClr val="000000"/>
                </a:solidFill>
              </a:rPr>
              <a:t>A feature only found in object-oriented systems</a:t>
            </a:r>
          </a:p>
        </p:txBody>
      </p:sp>
    </p:spTree>
    <p:extLst>
      <p:ext uri="{BB962C8B-B14F-4D97-AF65-F5344CB8AC3E}">
        <p14:creationId xmlns:p14="http://schemas.microsoft.com/office/powerpoint/2010/main" val="3780186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FE209-489A-4D36-9A28-0543611B3ED8}"/>
              </a:ext>
            </a:extLst>
          </p:cNvPr>
          <p:cNvSpPr>
            <a:spLocks noGrp="1"/>
          </p:cNvSpPr>
          <p:nvPr>
            <p:ph type="title"/>
          </p:nvPr>
        </p:nvSpPr>
        <p:spPr/>
        <p:txBody>
          <a:bodyPr/>
          <a:lstStyle/>
          <a:p>
            <a:r>
              <a:rPr lang="en-US" altLang="en-US" sz="3000" dirty="0">
                <a:sym typeface="Arial"/>
              </a:rPr>
              <a:t>Figure 10.2 A Class Diagram Showing Inheritance</a:t>
            </a:r>
            <a:endParaRPr lang="en-US" sz="3000" dirty="0"/>
          </a:p>
        </p:txBody>
      </p:sp>
      <p:sp>
        <p:nvSpPr>
          <p:cNvPr id="3" name="Content Placeholder 2">
            <a:extLst>
              <a:ext uri="{FF2B5EF4-FFF2-40B4-BE49-F238E27FC236}">
                <a16:creationId xmlns:a16="http://schemas.microsoft.com/office/drawing/2014/main" id="{14B4F60A-34F0-4215-B3C3-52E899818348}"/>
              </a:ext>
            </a:extLst>
          </p:cNvPr>
          <p:cNvSpPr>
            <a:spLocks noGrp="1"/>
          </p:cNvSpPr>
          <p:nvPr>
            <p:ph sz="quarter" idx="13"/>
          </p:nvPr>
        </p:nvSpPr>
        <p:spPr>
          <a:xfrm>
            <a:off x="457200" y="1556327"/>
            <a:ext cx="3816000" cy="1404000"/>
          </a:xfrm>
        </p:spPr>
        <p:txBody>
          <a:bodyPr/>
          <a:lstStyle/>
          <a:p>
            <a:pPr marL="432" indent="0">
              <a:buNone/>
            </a:pPr>
            <a:r>
              <a:rPr lang="en-US" altLang="en-US" sz="2000" dirty="0">
                <a:solidFill>
                  <a:srgbClr val="000000"/>
                </a:solidFill>
                <a:latin typeface="Arial" panose="020B0604020202020204" pitchFamily="34" charset="0"/>
                <a:cs typeface="Arial" panose="020B0604020202020204" pitchFamily="34" charset="0"/>
              </a:rPr>
              <a:t>Car and truck are specific examples of vehicles and inherit the characteristics of the more general class vehicle.</a:t>
            </a:r>
          </a:p>
        </p:txBody>
      </p:sp>
      <p:pic>
        <p:nvPicPr>
          <p:cNvPr id="7" name="Picture 6" descr="of these are: &#10;Car&#10;• size &#10;• color&#10;• make&#10;• model&#10;• available &#10;• ratePerDay&#10;• ratePerWeek&#10;• ratePerMile&#10;• style &#10;Plus rentOut( ) &#10;Plus checkIn( ) &#10;Plus service( ) &#10;Plus addNew( ) &#10;&#10;Truck&#10;• size&#10;• color&#10;• make &#10;• model &#10;• available&#10;• ratePerDay&#10;• ratePerWeek&#10;• ratePerMile&#10;• length&#10;• 4WheelDrive &#10;• manualShift &#10;Plus rentOut( )&#10;Plus checkIn( ) &#10;Plus service( ) &#10;Plus addNew( )&#10;&#10;• Vehicle&#10;• size &#10;• color &#10;• make &#10;• model&#10;• available &#10;• ratePerDay&#10;• ratePerWeek&#10;• ratePerMile &#10;Plus rentOut( ) &#10;Plus checkIn( ) &#10;Plus service( ) &#10;Plus addNew( )">
            <a:extLst>
              <a:ext uri="{FF2B5EF4-FFF2-40B4-BE49-F238E27FC236}">
                <a16:creationId xmlns:a16="http://schemas.microsoft.com/office/drawing/2014/main" id="{4B1FF0AD-FE5A-4374-B8CC-1143ED0DD833}"/>
              </a:ext>
            </a:extLst>
          </p:cNvPr>
          <p:cNvPicPr>
            <a:picLocks noChangeAspect="1"/>
          </p:cNvPicPr>
          <p:nvPr/>
        </p:nvPicPr>
        <p:blipFill>
          <a:blip r:embed="rId3"/>
          <a:stretch>
            <a:fillRect/>
          </a:stretch>
        </p:blipFill>
        <p:spPr>
          <a:xfrm>
            <a:off x="4960295" y="1509366"/>
            <a:ext cx="2629550" cy="4730988"/>
          </a:xfrm>
          <a:prstGeom prst="rect">
            <a:avLst/>
          </a:prstGeom>
        </p:spPr>
      </p:pic>
    </p:spTree>
    <p:extLst>
      <p:ext uri="{BB962C8B-B14F-4D97-AF65-F5344CB8AC3E}">
        <p14:creationId xmlns:p14="http://schemas.microsoft.com/office/powerpoint/2010/main" val="3497954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EEE4E-8924-4B09-9F87-A139AD6A4C9E}"/>
              </a:ext>
            </a:extLst>
          </p:cNvPr>
          <p:cNvSpPr>
            <a:spLocks noGrp="1"/>
          </p:cNvSpPr>
          <p:nvPr>
            <p:ph type="title"/>
          </p:nvPr>
        </p:nvSpPr>
        <p:spPr/>
        <p:txBody>
          <a:bodyPr/>
          <a:lstStyle/>
          <a:p>
            <a:r>
              <a:rPr lang="en-US" altLang="en-US" dirty="0">
                <a:sym typeface="Arial"/>
              </a:rPr>
              <a:t>C</a:t>
            </a:r>
            <a:r>
              <a:rPr lang="en-US" altLang="en-US" sz="100" dirty="0">
                <a:sym typeface="Arial"/>
              </a:rPr>
              <a:t> </a:t>
            </a:r>
            <a:r>
              <a:rPr lang="en-US" altLang="en-US" dirty="0">
                <a:sym typeface="Arial"/>
              </a:rPr>
              <a:t>R</a:t>
            </a:r>
            <a:r>
              <a:rPr lang="en-US" altLang="en-US" sz="100" dirty="0">
                <a:sym typeface="Arial"/>
              </a:rPr>
              <a:t> </a:t>
            </a:r>
            <a:r>
              <a:rPr lang="en-US" altLang="en-US" dirty="0">
                <a:sym typeface="Arial"/>
              </a:rPr>
              <a:t>C Cards and Object Think</a:t>
            </a:r>
            <a:endParaRPr lang="en-US" dirty="0"/>
          </a:p>
        </p:txBody>
      </p:sp>
      <p:sp>
        <p:nvSpPr>
          <p:cNvPr id="3" name="Content Placeholder 2">
            <a:extLst>
              <a:ext uri="{FF2B5EF4-FFF2-40B4-BE49-F238E27FC236}">
                <a16:creationId xmlns:a16="http://schemas.microsoft.com/office/drawing/2014/main" id="{DA212EAB-381F-4AFC-8E3E-4B684BB0B1C7}"/>
              </a:ext>
            </a:extLst>
          </p:cNvPr>
          <p:cNvSpPr>
            <a:spLocks noGrp="1"/>
          </p:cNvSpPr>
          <p:nvPr>
            <p:ph sz="quarter" idx="13"/>
          </p:nvPr>
        </p:nvSpPr>
        <p:spPr>
          <a:xfrm>
            <a:off x="457200" y="1556327"/>
            <a:ext cx="8229600" cy="2787073"/>
          </a:xfrm>
        </p:spPr>
        <p:txBody>
          <a:bodyPr/>
          <a:lstStyle/>
          <a:p>
            <a:pPr marL="255588" lvl="0" indent="-255588">
              <a:buSzPts val="2400"/>
            </a:pPr>
            <a:r>
              <a:rPr lang="en-US" altLang="en-US" dirty="0">
                <a:solidFill>
                  <a:srgbClr val="000000"/>
                </a:solidFill>
              </a:rPr>
              <a:t>C</a:t>
            </a:r>
            <a:r>
              <a:rPr lang="en-US" altLang="en-US" sz="100" dirty="0">
                <a:solidFill>
                  <a:srgbClr val="000000"/>
                </a:solidFill>
              </a:rPr>
              <a:t> </a:t>
            </a:r>
            <a:r>
              <a:rPr lang="en-US" altLang="en-US" dirty="0">
                <a:solidFill>
                  <a:srgbClr val="000000"/>
                </a:solidFill>
              </a:rPr>
              <a:t>R</a:t>
            </a:r>
            <a:r>
              <a:rPr lang="en-US" altLang="en-US" sz="100" dirty="0">
                <a:solidFill>
                  <a:srgbClr val="000000"/>
                </a:solidFill>
              </a:rPr>
              <a:t> </a:t>
            </a:r>
            <a:r>
              <a:rPr lang="en-US" altLang="en-US" dirty="0">
                <a:solidFill>
                  <a:srgbClr val="000000"/>
                </a:solidFill>
              </a:rPr>
              <a:t>C</a:t>
            </a:r>
          </a:p>
          <a:p>
            <a:pPr marL="741600" lvl="1">
              <a:buSzPts val="2400"/>
            </a:pPr>
            <a:r>
              <a:rPr lang="en-US" altLang="en-US" dirty="0">
                <a:solidFill>
                  <a:srgbClr val="000000"/>
                </a:solidFill>
              </a:rPr>
              <a:t>Class</a:t>
            </a:r>
          </a:p>
          <a:p>
            <a:pPr marL="741600" lvl="1">
              <a:buSzPts val="2400"/>
            </a:pPr>
            <a:r>
              <a:rPr lang="en-US" altLang="en-US" dirty="0">
                <a:solidFill>
                  <a:srgbClr val="000000"/>
                </a:solidFill>
              </a:rPr>
              <a:t>Responsibilities</a:t>
            </a:r>
          </a:p>
          <a:p>
            <a:pPr marL="741600" lvl="1">
              <a:buSzPts val="2400"/>
            </a:pPr>
            <a:r>
              <a:rPr lang="en-US" altLang="en-US" dirty="0">
                <a:solidFill>
                  <a:srgbClr val="000000"/>
                </a:solidFill>
              </a:rPr>
              <a:t>Collaborators</a:t>
            </a:r>
          </a:p>
          <a:p>
            <a:pPr marL="255588" lvl="0" indent="-255588">
              <a:buSzPts val="2400"/>
            </a:pPr>
            <a:r>
              <a:rPr lang="en-US" altLang="en-US" dirty="0">
                <a:solidFill>
                  <a:srgbClr val="000000"/>
                </a:solidFill>
              </a:rPr>
              <a:t>C</a:t>
            </a:r>
            <a:r>
              <a:rPr lang="en-US" altLang="en-US" sz="100" dirty="0">
                <a:solidFill>
                  <a:srgbClr val="000000"/>
                </a:solidFill>
              </a:rPr>
              <a:t> </a:t>
            </a:r>
            <a:r>
              <a:rPr lang="en-US" altLang="en-US" dirty="0">
                <a:solidFill>
                  <a:srgbClr val="000000"/>
                </a:solidFill>
              </a:rPr>
              <a:t>R</a:t>
            </a:r>
            <a:r>
              <a:rPr lang="en-US" altLang="en-US" sz="100" dirty="0">
                <a:solidFill>
                  <a:srgbClr val="000000"/>
                </a:solidFill>
              </a:rPr>
              <a:t> </a:t>
            </a:r>
            <a:r>
              <a:rPr lang="en-US" altLang="en-US" dirty="0">
                <a:solidFill>
                  <a:srgbClr val="000000"/>
                </a:solidFill>
              </a:rPr>
              <a:t>C cards are used to represent the responsibilities of classes and the interaction between the classes</a:t>
            </a:r>
          </a:p>
        </p:txBody>
      </p:sp>
    </p:spTree>
    <p:extLst>
      <p:ext uri="{BB962C8B-B14F-4D97-AF65-F5344CB8AC3E}">
        <p14:creationId xmlns:p14="http://schemas.microsoft.com/office/powerpoint/2010/main" val="3248799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076FF-6C2B-483E-BD92-475BE4768E70}"/>
              </a:ext>
            </a:extLst>
          </p:cNvPr>
          <p:cNvSpPr>
            <a:spLocks noGrp="1"/>
          </p:cNvSpPr>
          <p:nvPr>
            <p:ph type="title"/>
          </p:nvPr>
        </p:nvSpPr>
        <p:spPr/>
        <p:txBody>
          <a:bodyPr/>
          <a:lstStyle/>
          <a:p>
            <a:r>
              <a:rPr lang="en-US" altLang="en-US" dirty="0">
                <a:sym typeface="Arial"/>
              </a:rPr>
              <a:t>Figure 10.3 Four C</a:t>
            </a:r>
            <a:r>
              <a:rPr lang="en-US" altLang="en-US" sz="100" dirty="0">
                <a:sym typeface="Arial"/>
              </a:rPr>
              <a:t> </a:t>
            </a:r>
            <a:r>
              <a:rPr lang="en-US" altLang="en-US" dirty="0">
                <a:sym typeface="Arial"/>
              </a:rPr>
              <a:t>R</a:t>
            </a:r>
            <a:r>
              <a:rPr lang="en-US" altLang="en-US" sz="100" dirty="0">
                <a:sym typeface="Arial"/>
              </a:rPr>
              <a:t> </a:t>
            </a:r>
            <a:r>
              <a:rPr lang="en-US" altLang="en-US" dirty="0">
                <a:sym typeface="Arial"/>
              </a:rPr>
              <a:t>C Cards</a:t>
            </a:r>
            <a:endParaRPr lang="en-US" dirty="0"/>
          </a:p>
        </p:txBody>
      </p:sp>
      <p:pic>
        <p:nvPicPr>
          <p:cNvPr id="5" name="Picture 4" descr="Four tables show four C R C cards for course offerings show how analysts fill in the details for classes, responsibilities, and collaborators, as well as for Object Think statements and property names. Long description in notes, press F6.">
            <a:extLst>
              <a:ext uri="{FF2B5EF4-FFF2-40B4-BE49-F238E27FC236}">
                <a16:creationId xmlns:a16="http://schemas.microsoft.com/office/drawing/2014/main" id="{1FC9FFE7-CE78-416C-AD7A-5518C4D263E9}"/>
              </a:ext>
            </a:extLst>
          </p:cNvPr>
          <p:cNvPicPr>
            <a:picLocks noChangeAspect="1"/>
          </p:cNvPicPr>
          <p:nvPr/>
        </p:nvPicPr>
        <p:blipFill>
          <a:blip r:embed="rId3"/>
          <a:stretch>
            <a:fillRect/>
          </a:stretch>
        </p:blipFill>
        <p:spPr>
          <a:xfrm>
            <a:off x="2936397" y="1536325"/>
            <a:ext cx="3271206" cy="4723621"/>
          </a:xfrm>
          <a:prstGeom prst="rect">
            <a:avLst/>
          </a:prstGeom>
        </p:spPr>
      </p:pic>
    </p:spTree>
    <p:extLst>
      <p:ext uri="{BB962C8B-B14F-4D97-AF65-F5344CB8AC3E}">
        <p14:creationId xmlns:p14="http://schemas.microsoft.com/office/powerpoint/2010/main" val="2373099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04F11-7D24-4210-BC6B-09877B6F97FD}"/>
              </a:ext>
            </a:extLst>
          </p:cNvPr>
          <p:cNvSpPr>
            <a:spLocks noGrp="1"/>
          </p:cNvSpPr>
          <p:nvPr>
            <p:ph type="title"/>
          </p:nvPr>
        </p:nvSpPr>
        <p:spPr/>
        <p:txBody>
          <a:bodyPr/>
          <a:lstStyle/>
          <a:p>
            <a:r>
              <a:rPr lang="en-US" altLang="en-US" dirty="0">
                <a:sym typeface="Arial"/>
              </a:rPr>
              <a:t>Interacting During a C</a:t>
            </a:r>
            <a:r>
              <a:rPr lang="en-US" altLang="en-US" sz="100" dirty="0">
                <a:sym typeface="Arial"/>
              </a:rPr>
              <a:t> </a:t>
            </a:r>
            <a:r>
              <a:rPr lang="en-US" altLang="en-US" dirty="0">
                <a:sym typeface="Arial"/>
              </a:rPr>
              <a:t>R</a:t>
            </a:r>
            <a:r>
              <a:rPr lang="en-US" altLang="en-US" sz="100" dirty="0">
                <a:sym typeface="Arial"/>
              </a:rPr>
              <a:t> </a:t>
            </a:r>
            <a:r>
              <a:rPr lang="en-US" altLang="en-US" dirty="0">
                <a:sym typeface="Arial"/>
              </a:rPr>
              <a:t>C Session</a:t>
            </a:r>
            <a:endParaRPr lang="en-US" dirty="0"/>
          </a:p>
        </p:txBody>
      </p:sp>
      <p:sp>
        <p:nvSpPr>
          <p:cNvPr id="3" name="Content Placeholder 2">
            <a:extLst>
              <a:ext uri="{FF2B5EF4-FFF2-40B4-BE49-F238E27FC236}">
                <a16:creationId xmlns:a16="http://schemas.microsoft.com/office/drawing/2014/main" id="{56506EFE-C981-419E-9914-AFD38DD29C5B}"/>
              </a:ext>
            </a:extLst>
          </p:cNvPr>
          <p:cNvSpPr>
            <a:spLocks noGrp="1"/>
          </p:cNvSpPr>
          <p:nvPr>
            <p:ph sz="quarter" idx="13"/>
          </p:nvPr>
        </p:nvSpPr>
        <p:spPr>
          <a:xfrm>
            <a:off x="457200" y="1556327"/>
            <a:ext cx="8229600" cy="1758373"/>
          </a:xfrm>
        </p:spPr>
        <p:txBody>
          <a:bodyPr/>
          <a:lstStyle/>
          <a:p>
            <a:pPr marL="255588" lvl="0" indent="-255588">
              <a:buSzPts val="2400"/>
            </a:pPr>
            <a:r>
              <a:rPr lang="en-US" altLang="en-US" dirty="0">
                <a:solidFill>
                  <a:srgbClr val="000000"/>
                </a:solidFill>
              </a:rPr>
              <a:t>Identify all the classes you can</a:t>
            </a:r>
          </a:p>
          <a:p>
            <a:pPr marL="255588" lvl="0" indent="-255588">
              <a:buSzPts val="2400"/>
            </a:pPr>
            <a:r>
              <a:rPr lang="en-US" altLang="en-US" dirty="0">
                <a:solidFill>
                  <a:srgbClr val="000000"/>
                </a:solidFill>
              </a:rPr>
              <a:t>Create scenarios</a:t>
            </a:r>
          </a:p>
          <a:p>
            <a:pPr marL="255588" lvl="0" indent="-255588">
              <a:buSzPts val="2400"/>
            </a:pPr>
            <a:r>
              <a:rPr lang="en-US" altLang="en-US" dirty="0">
                <a:solidFill>
                  <a:srgbClr val="000000"/>
                </a:solidFill>
              </a:rPr>
              <a:t>Identify and refine responsibilities</a:t>
            </a:r>
          </a:p>
        </p:txBody>
      </p:sp>
    </p:spTree>
    <p:extLst>
      <p:ext uri="{BB962C8B-B14F-4D97-AF65-F5344CB8AC3E}">
        <p14:creationId xmlns:p14="http://schemas.microsoft.com/office/powerpoint/2010/main" val="2437109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21F8-7064-476E-B782-81B5504FD562}"/>
              </a:ext>
            </a:extLst>
          </p:cNvPr>
          <p:cNvSpPr>
            <a:spLocks noGrp="1"/>
          </p:cNvSpPr>
          <p:nvPr>
            <p:ph type="title"/>
          </p:nvPr>
        </p:nvSpPr>
        <p:spPr/>
        <p:txBody>
          <a:bodyPr/>
          <a:lstStyle/>
          <a:p>
            <a:r>
              <a:rPr lang="en-US" altLang="en-US" sz="2800" dirty="0">
                <a:sym typeface="Arial"/>
              </a:rPr>
              <a:t>The Unified Modeling Language (U</a:t>
            </a:r>
            <a:r>
              <a:rPr lang="en-US" altLang="en-US" sz="100" dirty="0">
                <a:sym typeface="Arial"/>
              </a:rPr>
              <a:t> </a:t>
            </a:r>
            <a:r>
              <a:rPr lang="en-US" altLang="en-US" sz="2800" dirty="0">
                <a:sym typeface="Arial"/>
              </a:rPr>
              <a:t>M</a:t>
            </a:r>
            <a:r>
              <a:rPr lang="en-US" altLang="en-US" sz="100" dirty="0">
                <a:sym typeface="Arial"/>
              </a:rPr>
              <a:t> </a:t>
            </a:r>
            <a:r>
              <a:rPr lang="en-US" altLang="en-US" sz="2800" dirty="0">
                <a:sym typeface="Arial"/>
              </a:rPr>
              <a:t>L) Concepts and Diagrams</a:t>
            </a:r>
            <a:endParaRPr lang="en-US" sz="2800" dirty="0"/>
          </a:p>
        </p:txBody>
      </p:sp>
      <p:sp>
        <p:nvSpPr>
          <p:cNvPr id="3" name="Content Placeholder 2">
            <a:extLst>
              <a:ext uri="{FF2B5EF4-FFF2-40B4-BE49-F238E27FC236}">
                <a16:creationId xmlns:a16="http://schemas.microsoft.com/office/drawing/2014/main" id="{4D2CC02F-0498-4FB4-A53B-B8BA4853E361}"/>
              </a:ext>
            </a:extLst>
          </p:cNvPr>
          <p:cNvSpPr>
            <a:spLocks noGrp="1"/>
          </p:cNvSpPr>
          <p:nvPr>
            <p:ph sz="quarter" idx="13"/>
          </p:nvPr>
        </p:nvSpPr>
        <p:spPr>
          <a:xfrm>
            <a:off x="457200" y="1556327"/>
            <a:ext cx="8229600" cy="1655503"/>
          </a:xfrm>
        </p:spPr>
        <p:txBody>
          <a:bodyPr/>
          <a:lstStyle/>
          <a:p>
            <a:pPr marL="255588" lvl="0" indent="-255588">
              <a:buSzPts val="2400"/>
            </a:pPr>
            <a:r>
              <a:rPr lang="en-US" altLang="en-US" dirty="0">
                <a:solidFill>
                  <a:srgbClr val="000000"/>
                </a:solidFill>
              </a:rPr>
              <a:t>Things</a:t>
            </a:r>
          </a:p>
          <a:p>
            <a:pPr marL="255588" lvl="0" indent="-255588">
              <a:buSzPts val="2400"/>
            </a:pPr>
            <a:r>
              <a:rPr lang="en-US" altLang="en-US" dirty="0">
                <a:solidFill>
                  <a:srgbClr val="000000"/>
                </a:solidFill>
              </a:rPr>
              <a:t>Relationships</a:t>
            </a:r>
          </a:p>
          <a:p>
            <a:pPr marL="255588" lvl="0" indent="-255588">
              <a:buSzPts val="2400"/>
            </a:pPr>
            <a:r>
              <a:rPr lang="en-US" altLang="en-US" dirty="0">
                <a:solidFill>
                  <a:srgbClr val="000000"/>
                </a:solidFill>
              </a:rPr>
              <a:t>Diagrams</a:t>
            </a:r>
          </a:p>
        </p:txBody>
      </p:sp>
    </p:spTree>
    <p:extLst>
      <p:ext uri="{BB962C8B-B14F-4D97-AF65-F5344CB8AC3E}">
        <p14:creationId xmlns:p14="http://schemas.microsoft.com/office/powerpoint/2010/main" val="2667049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0C7B4-3D2D-4362-8335-9EEB2E0FC6EA}"/>
              </a:ext>
            </a:extLst>
          </p:cNvPr>
          <p:cNvSpPr>
            <a:spLocks noGrp="1"/>
          </p:cNvSpPr>
          <p:nvPr>
            <p:ph type="title"/>
          </p:nvPr>
        </p:nvSpPr>
        <p:spPr/>
        <p:txBody>
          <a:bodyPr/>
          <a:lstStyle/>
          <a:p>
            <a:r>
              <a:rPr lang="en-US" altLang="en-US" dirty="0">
                <a:sym typeface="Arial"/>
              </a:rPr>
              <a:t>Things</a:t>
            </a:r>
            <a:endParaRPr lang="en-US" dirty="0"/>
          </a:p>
        </p:txBody>
      </p:sp>
      <p:sp>
        <p:nvSpPr>
          <p:cNvPr id="3" name="Content Placeholder 2">
            <a:extLst>
              <a:ext uri="{FF2B5EF4-FFF2-40B4-BE49-F238E27FC236}">
                <a16:creationId xmlns:a16="http://schemas.microsoft.com/office/drawing/2014/main" id="{69252930-1367-4047-BA88-9A6BE4A394BA}"/>
              </a:ext>
            </a:extLst>
          </p:cNvPr>
          <p:cNvSpPr>
            <a:spLocks noGrp="1"/>
          </p:cNvSpPr>
          <p:nvPr>
            <p:ph sz="quarter" idx="13"/>
          </p:nvPr>
        </p:nvSpPr>
        <p:spPr>
          <a:xfrm>
            <a:off x="457200" y="1556327"/>
            <a:ext cx="8229600" cy="4661593"/>
          </a:xfrm>
        </p:spPr>
        <p:txBody>
          <a:bodyPr/>
          <a:lstStyle/>
          <a:p>
            <a:pPr marL="255588" lvl="0" indent="-255588"/>
            <a:r>
              <a:rPr lang="en-US" altLang="en-US" sz="2000" dirty="0">
                <a:solidFill>
                  <a:srgbClr val="000000"/>
                </a:solidFill>
              </a:rPr>
              <a:t>Structural things are:</a:t>
            </a:r>
          </a:p>
          <a:p>
            <a:pPr marL="741600" lvl="1"/>
            <a:r>
              <a:rPr lang="en-US" altLang="en-US" sz="2000" dirty="0">
                <a:solidFill>
                  <a:srgbClr val="000000"/>
                </a:solidFill>
              </a:rPr>
              <a:t>Classes, interfaces, use cases, and other elements that provide a way to create models</a:t>
            </a:r>
          </a:p>
          <a:p>
            <a:pPr marL="741600" lvl="1"/>
            <a:r>
              <a:rPr lang="en-US" altLang="en-US" sz="2000" dirty="0">
                <a:solidFill>
                  <a:srgbClr val="000000"/>
                </a:solidFill>
              </a:rPr>
              <a:t>They allow the user to describe relationships</a:t>
            </a:r>
          </a:p>
          <a:p>
            <a:pPr marL="255588" lvl="0" indent="-255588"/>
            <a:r>
              <a:rPr lang="en-US" altLang="en-US" sz="2000" dirty="0">
                <a:solidFill>
                  <a:srgbClr val="000000"/>
                </a:solidFill>
              </a:rPr>
              <a:t>Behavioral things</a:t>
            </a:r>
          </a:p>
          <a:p>
            <a:pPr marL="255588" lvl="0" indent="-255588"/>
            <a:r>
              <a:rPr lang="en-US" altLang="en-US" sz="2000" dirty="0">
                <a:solidFill>
                  <a:srgbClr val="000000"/>
                </a:solidFill>
              </a:rPr>
              <a:t>Describe how things work</a:t>
            </a:r>
          </a:p>
          <a:p>
            <a:pPr marL="741600" lvl="1"/>
            <a:r>
              <a:rPr lang="en-US" altLang="en-US" sz="2000" dirty="0">
                <a:solidFill>
                  <a:srgbClr val="000000"/>
                </a:solidFill>
              </a:rPr>
              <a:t>Interactions and state machines</a:t>
            </a:r>
          </a:p>
          <a:p>
            <a:pPr marL="255588" lvl="0" indent="-255588"/>
            <a:r>
              <a:rPr lang="en-US" altLang="en-US" sz="2000" dirty="0">
                <a:solidFill>
                  <a:srgbClr val="000000"/>
                </a:solidFill>
              </a:rPr>
              <a:t>Group things</a:t>
            </a:r>
          </a:p>
          <a:p>
            <a:pPr marL="741600" lvl="1"/>
            <a:r>
              <a:rPr lang="en-US" altLang="en-US" sz="2000" dirty="0">
                <a:solidFill>
                  <a:srgbClr val="000000"/>
                </a:solidFill>
              </a:rPr>
              <a:t>Used to define boundaries</a:t>
            </a:r>
          </a:p>
          <a:p>
            <a:pPr marL="255588" lvl="0" indent="-255588"/>
            <a:r>
              <a:rPr lang="en-US" altLang="en-US" sz="2000" dirty="0">
                <a:solidFill>
                  <a:srgbClr val="000000"/>
                </a:solidFill>
              </a:rPr>
              <a:t>Annotational things</a:t>
            </a:r>
          </a:p>
          <a:p>
            <a:pPr marL="741600" lvl="1"/>
            <a:r>
              <a:rPr lang="en-US" altLang="en-US" sz="2000" dirty="0">
                <a:solidFill>
                  <a:srgbClr val="000000"/>
                </a:solidFill>
              </a:rPr>
              <a:t>Can add notes to the diagrams</a:t>
            </a:r>
          </a:p>
        </p:txBody>
      </p:sp>
    </p:spTree>
    <p:extLst>
      <p:ext uri="{BB962C8B-B14F-4D97-AF65-F5344CB8AC3E}">
        <p14:creationId xmlns:p14="http://schemas.microsoft.com/office/powerpoint/2010/main" val="3279461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7E3BF-9799-4666-9066-E8D2182055B7}"/>
              </a:ext>
            </a:extLst>
          </p:cNvPr>
          <p:cNvSpPr>
            <a:spLocks noGrp="1"/>
          </p:cNvSpPr>
          <p:nvPr>
            <p:ph type="title"/>
          </p:nvPr>
        </p:nvSpPr>
        <p:spPr/>
        <p:txBody>
          <a:bodyPr/>
          <a:lstStyle/>
          <a:p>
            <a:r>
              <a:rPr lang="en-US" altLang="en-US" dirty="0">
                <a:sym typeface="Arial"/>
              </a:rPr>
              <a:t>Relationships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28BAEEF2-94B6-489E-A742-E2DC718E0A07}"/>
              </a:ext>
            </a:extLst>
          </p:cNvPr>
          <p:cNvSpPr>
            <a:spLocks noGrp="1"/>
          </p:cNvSpPr>
          <p:nvPr>
            <p:ph sz="quarter" idx="13"/>
          </p:nvPr>
        </p:nvSpPr>
        <p:spPr>
          <a:xfrm>
            <a:off x="457200" y="1556327"/>
            <a:ext cx="8229600" cy="2055553"/>
          </a:xfrm>
        </p:spPr>
        <p:txBody>
          <a:bodyPr/>
          <a:lstStyle/>
          <a:p>
            <a:pPr marL="255588" lvl="0" indent="-255588">
              <a:buSzPts val="2400"/>
            </a:pPr>
            <a:r>
              <a:rPr lang="en-US" altLang="en-US" dirty="0">
                <a:solidFill>
                  <a:srgbClr val="000000"/>
                </a:solidFill>
              </a:rPr>
              <a:t>Structural relationships</a:t>
            </a:r>
          </a:p>
          <a:p>
            <a:pPr marL="741600" lvl="1">
              <a:buSzPts val="2400"/>
            </a:pPr>
            <a:r>
              <a:rPr lang="en-US" altLang="en-US" dirty="0">
                <a:solidFill>
                  <a:srgbClr val="000000"/>
                </a:solidFill>
              </a:rPr>
              <a:t>Tie things together in structural diagrams</a:t>
            </a:r>
          </a:p>
          <a:p>
            <a:pPr marL="255588" lvl="0" indent="-255588">
              <a:buSzPts val="2400"/>
            </a:pPr>
            <a:r>
              <a:rPr lang="en-US" altLang="en-US" dirty="0">
                <a:solidFill>
                  <a:srgbClr val="000000"/>
                </a:solidFill>
              </a:rPr>
              <a:t>Behavioral relationships</a:t>
            </a:r>
          </a:p>
          <a:p>
            <a:pPr marL="741600" lvl="1">
              <a:buSzPts val="2400"/>
            </a:pPr>
            <a:r>
              <a:rPr lang="en-US" altLang="en-US" dirty="0">
                <a:solidFill>
                  <a:srgbClr val="000000"/>
                </a:solidFill>
              </a:rPr>
              <a:t>Used in behavioral diagrams</a:t>
            </a:r>
          </a:p>
        </p:txBody>
      </p:sp>
    </p:spTree>
    <p:extLst>
      <p:ext uri="{BB962C8B-B14F-4D97-AF65-F5344CB8AC3E}">
        <p14:creationId xmlns:p14="http://schemas.microsoft.com/office/powerpoint/2010/main" val="3420069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7080D-F525-47EA-965D-F23F27D05AE2}"/>
              </a:ext>
            </a:extLst>
          </p:cNvPr>
          <p:cNvSpPr>
            <a:spLocks noGrp="1"/>
          </p:cNvSpPr>
          <p:nvPr>
            <p:ph type="title"/>
          </p:nvPr>
        </p:nvSpPr>
        <p:spPr/>
        <p:txBody>
          <a:bodyPr/>
          <a:lstStyle/>
          <a:p>
            <a:r>
              <a:rPr lang="en-US" altLang="en-US" dirty="0">
                <a:sym typeface="Arial"/>
              </a:rPr>
              <a:t>Structural Relationships</a:t>
            </a:r>
            <a:endParaRPr lang="en-US" dirty="0"/>
          </a:p>
        </p:txBody>
      </p:sp>
      <p:sp>
        <p:nvSpPr>
          <p:cNvPr id="3" name="Content Placeholder 2">
            <a:extLst>
              <a:ext uri="{FF2B5EF4-FFF2-40B4-BE49-F238E27FC236}">
                <a16:creationId xmlns:a16="http://schemas.microsoft.com/office/drawing/2014/main" id="{208B7413-5088-4013-9C45-388BF03418AE}"/>
              </a:ext>
            </a:extLst>
          </p:cNvPr>
          <p:cNvSpPr>
            <a:spLocks noGrp="1"/>
          </p:cNvSpPr>
          <p:nvPr>
            <p:ph sz="quarter" idx="13"/>
          </p:nvPr>
        </p:nvSpPr>
        <p:spPr>
          <a:xfrm>
            <a:off x="457200" y="1556327"/>
            <a:ext cx="8229600" cy="2227003"/>
          </a:xfrm>
        </p:spPr>
        <p:txBody>
          <a:bodyPr/>
          <a:lstStyle/>
          <a:p>
            <a:pPr marL="255588" lvl="0" indent="-255588">
              <a:buSzPts val="2400"/>
            </a:pPr>
            <a:r>
              <a:rPr lang="en-US" altLang="en-US" dirty="0">
                <a:solidFill>
                  <a:srgbClr val="000000"/>
                </a:solidFill>
              </a:rPr>
              <a:t>Dependencies</a:t>
            </a:r>
          </a:p>
          <a:p>
            <a:pPr marL="255588" lvl="0" indent="-255588">
              <a:buSzPts val="2400"/>
            </a:pPr>
            <a:r>
              <a:rPr lang="en-US" altLang="en-US" dirty="0">
                <a:solidFill>
                  <a:srgbClr val="000000"/>
                </a:solidFill>
              </a:rPr>
              <a:t>Aggregations</a:t>
            </a:r>
          </a:p>
          <a:p>
            <a:pPr marL="255588" lvl="0" indent="-255588">
              <a:buSzPts val="2400"/>
            </a:pPr>
            <a:r>
              <a:rPr lang="en-US" altLang="en-US" dirty="0">
                <a:solidFill>
                  <a:srgbClr val="000000"/>
                </a:solidFill>
              </a:rPr>
              <a:t>Associations</a:t>
            </a:r>
          </a:p>
          <a:p>
            <a:pPr marL="255588" lvl="0" indent="-255588">
              <a:buSzPts val="2400"/>
            </a:pPr>
            <a:r>
              <a:rPr lang="en-US" altLang="en-US" dirty="0">
                <a:solidFill>
                  <a:srgbClr val="000000"/>
                </a:solidFill>
              </a:rPr>
              <a:t>Generalizations</a:t>
            </a:r>
          </a:p>
        </p:txBody>
      </p:sp>
    </p:spTree>
    <p:extLst>
      <p:ext uri="{BB962C8B-B14F-4D97-AF65-F5344CB8AC3E}">
        <p14:creationId xmlns:p14="http://schemas.microsoft.com/office/powerpoint/2010/main" val="846823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6294-E6EB-46AC-8A89-6B27AF36088F}"/>
              </a:ext>
            </a:extLst>
          </p:cNvPr>
          <p:cNvSpPr>
            <a:spLocks noGrp="1"/>
          </p:cNvSpPr>
          <p:nvPr>
            <p:ph type="title"/>
          </p:nvPr>
        </p:nvSpPr>
        <p:spPr/>
        <p:txBody>
          <a:bodyPr/>
          <a:lstStyle/>
          <a:p>
            <a:r>
              <a:rPr lang="en-US" altLang="en-US" dirty="0">
                <a:sym typeface="Arial"/>
              </a:rPr>
              <a:t>Behavioral Relationships</a:t>
            </a:r>
            <a:endParaRPr lang="en-US" dirty="0"/>
          </a:p>
        </p:txBody>
      </p:sp>
      <p:sp>
        <p:nvSpPr>
          <p:cNvPr id="3" name="Content Placeholder 2">
            <a:extLst>
              <a:ext uri="{FF2B5EF4-FFF2-40B4-BE49-F238E27FC236}">
                <a16:creationId xmlns:a16="http://schemas.microsoft.com/office/drawing/2014/main" id="{D1CCF030-9E16-4455-9380-32C68CC10623}"/>
              </a:ext>
            </a:extLst>
          </p:cNvPr>
          <p:cNvSpPr>
            <a:spLocks noGrp="1"/>
          </p:cNvSpPr>
          <p:nvPr>
            <p:ph sz="quarter" idx="13"/>
          </p:nvPr>
        </p:nvSpPr>
        <p:spPr>
          <a:xfrm>
            <a:off x="457200" y="1556327"/>
            <a:ext cx="8229600" cy="2249863"/>
          </a:xfrm>
        </p:spPr>
        <p:txBody>
          <a:bodyPr/>
          <a:lstStyle/>
          <a:p>
            <a:pPr marL="255588" lvl="0" indent="-255588">
              <a:buSzPts val="2400"/>
            </a:pPr>
            <a:r>
              <a:rPr lang="en-US" altLang="en-US" dirty="0">
                <a:solidFill>
                  <a:srgbClr val="000000"/>
                </a:solidFill>
              </a:rPr>
              <a:t>Communicates</a:t>
            </a:r>
          </a:p>
          <a:p>
            <a:pPr marL="255588" lvl="0" indent="-255588">
              <a:buSzPts val="2400"/>
            </a:pPr>
            <a:r>
              <a:rPr lang="en-US" altLang="en-US" dirty="0">
                <a:solidFill>
                  <a:srgbClr val="000000"/>
                </a:solidFill>
              </a:rPr>
              <a:t>Includes</a:t>
            </a:r>
          </a:p>
          <a:p>
            <a:pPr marL="255588" lvl="0" indent="-255588">
              <a:buSzPts val="2400"/>
            </a:pPr>
            <a:r>
              <a:rPr lang="en-US" altLang="en-US" dirty="0">
                <a:solidFill>
                  <a:srgbClr val="000000"/>
                </a:solidFill>
              </a:rPr>
              <a:t>Extends</a:t>
            </a:r>
          </a:p>
          <a:p>
            <a:pPr marL="255588" lvl="0" indent="-255588">
              <a:buSzPts val="2400"/>
            </a:pPr>
            <a:r>
              <a:rPr lang="en-US" altLang="en-US" dirty="0">
                <a:solidFill>
                  <a:srgbClr val="000000"/>
                </a:solidFill>
              </a:rPr>
              <a:t>Generalizes</a:t>
            </a:r>
          </a:p>
        </p:txBody>
      </p:sp>
    </p:spTree>
    <p:extLst>
      <p:ext uri="{BB962C8B-B14F-4D97-AF65-F5344CB8AC3E}">
        <p14:creationId xmlns:p14="http://schemas.microsoft.com/office/powerpoint/2010/main" val="75349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CC835-DB05-4716-920C-8BD326C26BEA}"/>
              </a:ext>
            </a:extLst>
          </p:cNvPr>
          <p:cNvSpPr>
            <a:spLocks noGrp="1"/>
          </p:cNvSpPr>
          <p:nvPr>
            <p:ph type="title"/>
          </p:nvPr>
        </p:nvSpPr>
        <p:spPr/>
        <p:txBody>
          <a:bodyPr/>
          <a:lstStyle/>
          <a:p>
            <a:r>
              <a:rPr lang="en-US" altLang="en-US" dirty="0">
                <a:sym typeface="Arial"/>
              </a:rPr>
              <a:t>Diagrams</a:t>
            </a:r>
            <a:endParaRPr lang="en-US" dirty="0"/>
          </a:p>
        </p:txBody>
      </p:sp>
      <p:sp>
        <p:nvSpPr>
          <p:cNvPr id="3" name="Content Placeholder 2">
            <a:extLst>
              <a:ext uri="{FF2B5EF4-FFF2-40B4-BE49-F238E27FC236}">
                <a16:creationId xmlns:a16="http://schemas.microsoft.com/office/drawing/2014/main" id="{CE7CE1F7-0E5B-4C65-BD03-BB99BFE855B9}"/>
              </a:ext>
            </a:extLst>
          </p:cNvPr>
          <p:cNvSpPr>
            <a:spLocks noGrp="1"/>
          </p:cNvSpPr>
          <p:nvPr>
            <p:ph sz="quarter" idx="13"/>
          </p:nvPr>
        </p:nvSpPr>
        <p:spPr>
          <a:xfrm>
            <a:off x="457200" y="1556327"/>
            <a:ext cx="8229600" cy="2775643"/>
          </a:xfrm>
        </p:spPr>
        <p:txBody>
          <a:bodyPr/>
          <a:lstStyle/>
          <a:p>
            <a:pPr marL="255588" lvl="0" indent="-255588">
              <a:buSzPts val="2400"/>
            </a:pPr>
            <a:r>
              <a:rPr lang="en-US" altLang="en-US" dirty="0">
                <a:solidFill>
                  <a:srgbClr val="000000"/>
                </a:solidFill>
              </a:rPr>
              <a:t>Structural diagrams</a:t>
            </a:r>
          </a:p>
          <a:p>
            <a:pPr marL="741600" lvl="1">
              <a:buSzPts val="2400"/>
            </a:pPr>
            <a:r>
              <a:rPr lang="en-US" altLang="en-US" dirty="0">
                <a:solidFill>
                  <a:srgbClr val="000000"/>
                </a:solidFill>
              </a:rPr>
              <a:t>Used to describe the relation between classes</a:t>
            </a:r>
          </a:p>
          <a:p>
            <a:pPr marL="255588" lvl="0" indent="-255588">
              <a:buSzPts val="2400"/>
            </a:pPr>
            <a:r>
              <a:rPr lang="en-US" altLang="en-US" dirty="0">
                <a:solidFill>
                  <a:srgbClr val="000000"/>
                </a:solidFill>
              </a:rPr>
              <a:t>Behavioral diagrams</a:t>
            </a:r>
          </a:p>
          <a:p>
            <a:pPr marL="741600" lvl="1">
              <a:buSzPts val="2400"/>
            </a:pPr>
            <a:r>
              <a:rPr lang="en-US" altLang="en-US" dirty="0">
                <a:solidFill>
                  <a:srgbClr val="000000"/>
                </a:solidFill>
              </a:rPr>
              <a:t>Used to describe the interaction between people (actors) and a use case (how the actors use the system)</a:t>
            </a:r>
          </a:p>
        </p:txBody>
      </p:sp>
    </p:spTree>
    <p:extLst>
      <p:ext uri="{BB962C8B-B14F-4D97-AF65-F5344CB8AC3E}">
        <p14:creationId xmlns:p14="http://schemas.microsoft.com/office/powerpoint/2010/main" val="2244068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7C3C4-580E-4224-83ED-D95C01A59A7E}"/>
              </a:ext>
            </a:extLst>
          </p:cNvPr>
          <p:cNvSpPr>
            <a:spLocks noGrp="1"/>
          </p:cNvSpPr>
          <p:nvPr>
            <p:ph type="title"/>
          </p:nvPr>
        </p:nvSpPr>
        <p:spPr/>
        <p:txBody>
          <a:bodyPr/>
          <a:lstStyle/>
          <a:p>
            <a:r>
              <a:rPr lang="en-US" altLang="en-US" dirty="0">
                <a:sym typeface="Arial"/>
              </a:rPr>
              <a:t>Structural Diagrams</a:t>
            </a:r>
            <a:endParaRPr lang="en-US" dirty="0"/>
          </a:p>
        </p:txBody>
      </p:sp>
      <p:sp>
        <p:nvSpPr>
          <p:cNvPr id="3" name="Content Placeholder 2">
            <a:extLst>
              <a:ext uri="{FF2B5EF4-FFF2-40B4-BE49-F238E27FC236}">
                <a16:creationId xmlns:a16="http://schemas.microsoft.com/office/drawing/2014/main" id="{EEF74A27-D246-4301-BE50-E25BB32FF0BD}"/>
              </a:ext>
            </a:extLst>
          </p:cNvPr>
          <p:cNvSpPr>
            <a:spLocks noGrp="1"/>
          </p:cNvSpPr>
          <p:nvPr>
            <p:ph sz="quarter" idx="13"/>
          </p:nvPr>
        </p:nvSpPr>
        <p:spPr>
          <a:xfrm>
            <a:off x="457200" y="1556327"/>
            <a:ext cx="8229600" cy="2261293"/>
          </a:xfrm>
        </p:spPr>
        <p:txBody>
          <a:bodyPr/>
          <a:lstStyle/>
          <a:p>
            <a:pPr marL="255588" lvl="0" indent="-255588">
              <a:buSzPts val="2400"/>
            </a:pPr>
            <a:r>
              <a:rPr lang="en-US" altLang="en-US" dirty="0">
                <a:solidFill>
                  <a:srgbClr val="000000"/>
                </a:solidFill>
              </a:rPr>
              <a:t>Class diagrams</a:t>
            </a:r>
          </a:p>
          <a:p>
            <a:pPr marL="255588" lvl="0" indent="-255588">
              <a:buSzPts val="2400"/>
            </a:pPr>
            <a:r>
              <a:rPr lang="en-US" altLang="en-US" dirty="0">
                <a:solidFill>
                  <a:srgbClr val="000000"/>
                </a:solidFill>
              </a:rPr>
              <a:t>Object diagrams</a:t>
            </a:r>
          </a:p>
          <a:p>
            <a:pPr marL="255588" lvl="0" indent="-255588">
              <a:buSzPts val="2400"/>
            </a:pPr>
            <a:r>
              <a:rPr lang="en-US" altLang="en-US" dirty="0">
                <a:solidFill>
                  <a:srgbClr val="000000"/>
                </a:solidFill>
              </a:rPr>
              <a:t>Component diagrams</a:t>
            </a:r>
          </a:p>
          <a:p>
            <a:pPr marL="255588" lvl="0" indent="-255588">
              <a:buSzPts val="2400"/>
            </a:pPr>
            <a:r>
              <a:rPr lang="en-US" altLang="en-US" dirty="0">
                <a:solidFill>
                  <a:srgbClr val="000000"/>
                </a:solidFill>
              </a:rPr>
              <a:t>Deployment diagrams</a:t>
            </a:r>
          </a:p>
        </p:txBody>
      </p:sp>
    </p:spTree>
    <p:extLst>
      <p:ext uri="{BB962C8B-B14F-4D97-AF65-F5344CB8AC3E}">
        <p14:creationId xmlns:p14="http://schemas.microsoft.com/office/powerpoint/2010/main" val="1285251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16140-E3CA-47D6-A432-4E8F68FDD8BF}"/>
              </a:ext>
            </a:extLst>
          </p:cNvPr>
          <p:cNvSpPr>
            <a:spLocks noGrp="1"/>
          </p:cNvSpPr>
          <p:nvPr>
            <p:ph type="title"/>
          </p:nvPr>
        </p:nvSpPr>
        <p:spPr/>
        <p:txBody>
          <a:bodyPr/>
          <a:lstStyle/>
          <a:p>
            <a:r>
              <a:rPr lang="en-US" altLang="en-US" dirty="0">
                <a:sym typeface="Arial"/>
              </a:rPr>
              <a:t>Behavioral Diagrams</a:t>
            </a:r>
            <a:endParaRPr lang="en-US" dirty="0"/>
          </a:p>
        </p:txBody>
      </p:sp>
      <p:sp>
        <p:nvSpPr>
          <p:cNvPr id="3" name="Content Placeholder 2">
            <a:extLst>
              <a:ext uri="{FF2B5EF4-FFF2-40B4-BE49-F238E27FC236}">
                <a16:creationId xmlns:a16="http://schemas.microsoft.com/office/drawing/2014/main" id="{5F7E78DA-0E0F-4852-90B3-2EBDAD784489}"/>
              </a:ext>
            </a:extLst>
          </p:cNvPr>
          <p:cNvSpPr>
            <a:spLocks noGrp="1"/>
          </p:cNvSpPr>
          <p:nvPr>
            <p:ph sz="quarter" idx="13"/>
          </p:nvPr>
        </p:nvSpPr>
        <p:spPr>
          <a:xfrm>
            <a:off x="457200" y="1556327"/>
            <a:ext cx="8229600" cy="2798503"/>
          </a:xfrm>
        </p:spPr>
        <p:txBody>
          <a:bodyPr/>
          <a:lstStyle/>
          <a:p>
            <a:pPr marL="255588" lvl="0" indent="-255588">
              <a:buSzPts val="2400"/>
            </a:pPr>
            <a:r>
              <a:rPr lang="en-US" altLang="en-US" dirty="0">
                <a:solidFill>
                  <a:srgbClr val="000000"/>
                </a:solidFill>
              </a:rPr>
              <a:t>Use case diagrams</a:t>
            </a:r>
          </a:p>
          <a:p>
            <a:pPr marL="255588" lvl="0" indent="-255588">
              <a:buSzPts val="2400"/>
            </a:pPr>
            <a:r>
              <a:rPr lang="en-US" altLang="en-US" dirty="0">
                <a:solidFill>
                  <a:srgbClr val="000000"/>
                </a:solidFill>
              </a:rPr>
              <a:t>Sequence diagrams</a:t>
            </a:r>
          </a:p>
          <a:p>
            <a:pPr marL="255588" lvl="0" indent="-255588">
              <a:buSzPts val="2400"/>
            </a:pPr>
            <a:r>
              <a:rPr lang="en-US" altLang="en-US" dirty="0">
                <a:solidFill>
                  <a:srgbClr val="000000"/>
                </a:solidFill>
              </a:rPr>
              <a:t>Collaboration diagrams</a:t>
            </a:r>
          </a:p>
          <a:p>
            <a:pPr marL="255588" lvl="0" indent="-255588">
              <a:buSzPts val="2400"/>
            </a:pPr>
            <a:r>
              <a:rPr lang="en-US" altLang="en-US" dirty="0">
                <a:solidFill>
                  <a:srgbClr val="000000"/>
                </a:solidFill>
              </a:rPr>
              <a:t>Statechart diagrams</a:t>
            </a:r>
          </a:p>
          <a:p>
            <a:pPr marL="255588" lvl="0" indent="-255588">
              <a:buSzPts val="2400"/>
            </a:pPr>
            <a:r>
              <a:rPr lang="en-US" altLang="en-US" dirty="0">
                <a:solidFill>
                  <a:srgbClr val="000000"/>
                </a:solidFill>
              </a:rPr>
              <a:t>Activity diagrams</a:t>
            </a:r>
          </a:p>
        </p:txBody>
      </p:sp>
    </p:spTree>
    <p:extLst>
      <p:ext uri="{BB962C8B-B14F-4D97-AF65-F5344CB8AC3E}">
        <p14:creationId xmlns:p14="http://schemas.microsoft.com/office/powerpoint/2010/main" val="2088003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1864-D924-438C-A7CD-B6991353842B}"/>
              </a:ext>
            </a:extLst>
          </p:cNvPr>
          <p:cNvSpPr>
            <a:spLocks noGrp="1"/>
          </p:cNvSpPr>
          <p:nvPr>
            <p:ph type="title"/>
          </p:nvPr>
        </p:nvSpPr>
        <p:spPr/>
        <p:txBody>
          <a:bodyPr/>
          <a:lstStyle/>
          <a:p>
            <a:r>
              <a:rPr lang="en-US" altLang="en-US" dirty="0">
                <a:sym typeface="Arial"/>
              </a:rPr>
              <a:t>Use Case Modeling</a:t>
            </a:r>
            <a:endParaRPr lang="en-US" dirty="0"/>
          </a:p>
        </p:txBody>
      </p:sp>
      <p:sp>
        <p:nvSpPr>
          <p:cNvPr id="3" name="Content Placeholder 2">
            <a:extLst>
              <a:ext uri="{FF2B5EF4-FFF2-40B4-BE49-F238E27FC236}">
                <a16:creationId xmlns:a16="http://schemas.microsoft.com/office/drawing/2014/main" id="{676A18FF-3799-41D2-8E4C-F28CAF4BEA54}"/>
              </a:ext>
            </a:extLst>
          </p:cNvPr>
          <p:cNvSpPr>
            <a:spLocks noGrp="1"/>
          </p:cNvSpPr>
          <p:nvPr>
            <p:ph sz="quarter" idx="13"/>
          </p:nvPr>
        </p:nvSpPr>
        <p:spPr>
          <a:xfrm>
            <a:off x="457200" y="1556327"/>
            <a:ext cx="8229600" cy="2962664"/>
          </a:xfrm>
        </p:spPr>
        <p:txBody>
          <a:bodyPr/>
          <a:lstStyle/>
          <a:p>
            <a:pPr marL="255651" lvl="0" indent="-255651">
              <a:spcAft>
                <a:spcPct val="0"/>
              </a:spcAft>
              <a:buSzPts val="2400"/>
              <a:tabLst/>
            </a:pPr>
            <a:r>
              <a:rPr lang="en-US" altLang="en-US" dirty="0">
                <a:solidFill>
                  <a:srgbClr val="000000"/>
                </a:solidFill>
              </a:rPr>
              <a:t>Part of the unified modeling language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a:t>
            </a:r>
          </a:p>
          <a:p>
            <a:pPr marL="255651" lvl="0" indent="-255651">
              <a:spcAft>
                <a:spcPct val="0"/>
              </a:spcAft>
              <a:buSzPts val="2400"/>
              <a:tabLst/>
            </a:pPr>
            <a:r>
              <a:rPr lang="en-US" altLang="en-US" dirty="0">
                <a:solidFill>
                  <a:srgbClr val="000000"/>
                </a:solidFill>
              </a:rPr>
              <a:t>Describes what a system does without describing how</a:t>
            </a:r>
            <a:r>
              <a:rPr lang="en-US" altLang="en-US" b="1" dirty="0">
                <a:solidFill>
                  <a:srgbClr val="000000"/>
                </a:solidFill>
              </a:rPr>
              <a:t> </a:t>
            </a:r>
            <a:r>
              <a:rPr lang="en-US" altLang="en-US" dirty="0">
                <a:solidFill>
                  <a:srgbClr val="000000"/>
                </a:solidFill>
              </a:rPr>
              <a:t>the system works</a:t>
            </a:r>
          </a:p>
          <a:p>
            <a:pPr marL="255651" lvl="0" indent="-255651">
              <a:spcAft>
                <a:spcPct val="0"/>
              </a:spcAft>
              <a:buSzPts val="2400"/>
              <a:tabLst/>
            </a:pPr>
            <a:r>
              <a:rPr lang="en-US" altLang="en-US" dirty="0">
                <a:solidFill>
                  <a:srgbClr val="000000"/>
                </a:solidFill>
              </a:rPr>
              <a:t>A view of the system requirements</a:t>
            </a:r>
          </a:p>
          <a:p>
            <a:pPr marL="255651" lvl="0" indent="-255651">
              <a:spcAft>
                <a:spcPct val="0"/>
              </a:spcAft>
              <a:buSzPts val="2400"/>
              <a:tabLst/>
            </a:pPr>
            <a:r>
              <a:rPr lang="en-US" altLang="en-US" dirty="0">
                <a:solidFill>
                  <a:srgbClr val="000000"/>
                </a:solidFill>
              </a:rPr>
              <a:t>Analyst works with business experts to develop requirements</a:t>
            </a:r>
          </a:p>
        </p:txBody>
      </p:sp>
    </p:spTree>
    <p:extLst>
      <p:ext uri="{BB962C8B-B14F-4D97-AF65-F5344CB8AC3E}">
        <p14:creationId xmlns:p14="http://schemas.microsoft.com/office/powerpoint/2010/main" val="1949629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ED557-9999-46C7-A15D-2BE2E41F9175}"/>
              </a:ext>
            </a:extLst>
          </p:cNvPr>
          <p:cNvSpPr>
            <a:spLocks noGrp="1"/>
          </p:cNvSpPr>
          <p:nvPr>
            <p:ph type="title"/>
          </p:nvPr>
        </p:nvSpPr>
        <p:spPr/>
        <p:txBody>
          <a:bodyPr/>
          <a:lstStyle/>
          <a:p>
            <a:r>
              <a:rPr lang="en-US" altLang="en-US" dirty="0">
                <a:sym typeface="Arial"/>
              </a:rPr>
              <a:t>Use Case Diagram</a:t>
            </a:r>
            <a:endParaRPr lang="en-US" dirty="0"/>
          </a:p>
        </p:txBody>
      </p:sp>
      <p:sp>
        <p:nvSpPr>
          <p:cNvPr id="3" name="Content Placeholder 2">
            <a:extLst>
              <a:ext uri="{FF2B5EF4-FFF2-40B4-BE49-F238E27FC236}">
                <a16:creationId xmlns:a16="http://schemas.microsoft.com/office/drawing/2014/main" id="{A2A16828-1CFB-48B2-BCE9-A4996867DF40}"/>
              </a:ext>
            </a:extLst>
          </p:cNvPr>
          <p:cNvSpPr>
            <a:spLocks noGrp="1"/>
          </p:cNvSpPr>
          <p:nvPr>
            <p:ph sz="quarter" idx="13"/>
          </p:nvPr>
        </p:nvSpPr>
        <p:spPr>
          <a:xfrm>
            <a:off x="457200" y="1556327"/>
            <a:ext cx="8229600" cy="4354143"/>
          </a:xfrm>
        </p:spPr>
        <p:txBody>
          <a:bodyPr/>
          <a:lstStyle/>
          <a:p>
            <a:pPr marL="255651" lvl="0" indent="-255651">
              <a:spcAft>
                <a:spcPct val="0"/>
              </a:spcAft>
              <a:buSzPts val="2400"/>
              <a:tabLst/>
            </a:pPr>
            <a:r>
              <a:rPr lang="en-US" altLang="en-US" dirty="0">
                <a:solidFill>
                  <a:srgbClr val="000000"/>
                </a:solidFill>
              </a:rPr>
              <a:t>Actor</a:t>
            </a:r>
          </a:p>
          <a:p>
            <a:pPr marL="741553" lvl="1" indent="-284353">
              <a:spcAft>
                <a:spcPct val="0"/>
              </a:spcAft>
              <a:buSzPts val="2400"/>
            </a:pPr>
            <a:r>
              <a:rPr lang="en-US" altLang="en-US" dirty="0">
                <a:solidFill>
                  <a:srgbClr val="000000"/>
                </a:solidFill>
              </a:rPr>
              <a:t>Refers to a particular role of a user of the system</a:t>
            </a:r>
          </a:p>
          <a:p>
            <a:pPr marL="741553" lvl="1" indent="-284353">
              <a:spcAft>
                <a:spcPct val="0"/>
              </a:spcAft>
              <a:buSzPts val="2400"/>
            </a:pPr>
            <a:r>
              <a:rPr lang="en-US" altLang="en-US" dirty="0">
                <a:solidFill>
                  <a:srgbClr val="000000"/>
                </a:solidFill>
              </a:rPr>
              <a:t>Similar to external entities; they exist outside of the system</a:t>
            </a:r>
          </a:p>
          <a:p>
            <a:pPr marL="255651" lvl="0" indent="-255651">
              <a:spcAft>
                <a:spcPct val="0"/>
              </a:spcAft>
              <a:buSzPts val="2400"/>
              <a:tabLst/>
            </a:pPr>
            <a:r>
              <a:rPr lang="en-US" altLang="en-US" dirty="0">
                <a:solidFill>
                  <a:srgbClr val="000000"/>
                </a:solidFill>
              </a:rPr>
              <a:t>Use case symbols</a:t>
            </a:r>
          </a:p>
          <a:p>
            <a:pPr marL="741553" lvl="1" indent="-284353">
              <a:spcAft>
                <a:spcPct val="0"/>
              </a:spcAft>
              <a:buSzPts val="2400"/>
            </a:pPr>
            <a:r>
              <a:rPr lang="en-US" altLang="en-US" dirty="0">
                <a:solidFill>
                  <a:srgbClr val="000000"/>
                </a:solidFill>
              </a:rPr>
              <a:t>An oval indicating the task of the use case</a:t>
            </a:r>
          </a:p>
          <a:p>
            <a:pPr marL="255651" lvl="0" indent="-255651">
              <a:spcAft>
                <a:spcPct val="0"/>
              </a:spcAft>
              <a:buSzPts val="2400"/>
              <a:tabLst/>
            </a:pPr>
            <a:r>
              <a:rPr lang="en-US" altLang="en-US" dirty="0">
                <a:solidFill>
                  <a:srgbClr val="000000"/>
                </a:solidFill>
              </a:rPr>
              <a:t>Connecting lines</a:t>
            </a:r>
          </a:p>
          <a:p>
            <a:pPr marL="741553" lvl="1" indent="-284353">
              <a:spcAft>
                <a:spcPct val="0"/>
              </a:spcAft>
              <a:buSzPts val="2400"/>
            </a:pPr>
            <a:r>
              <a:rPr lang="en-US" altLang="en-US" dirty="0">
                <a:solidFill>
                  <a:srgbClr val="000000"/>
                </a:solidFill>
              </a:rPr>
              <a:t>Arrows and lines used to diagram behavioral relationships</a:t>
            </a:r>
          </a:p>
        </p:txBody>
      </p:sp>
    </p:spTree>
    <p:extLst>
      <p:ext uri="{BB962C8B-B14F-4D97-AF65-F5344CB8AC3E}">
        <p14:creationId xmlns:p14="http://schemas.microsoft.com/office/powerpoint/2010/main" val="1230068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8B966-0187-4A39-A0B9-70DB1C9CC231}"/>
              </a:ext>
            </a:extLst>
          </p:cNvPr>
          <p:cNvSpPr>
            <a:spLocks noGrp="1"/>
          </p:cNvSpPr>
          <p:nvPr>
            <p:ph type="title"/>
          </p:nvPr>
        </p:nvSpPr>
        <p:spPr/>
        <p:txBody>
          <a:bodyPr/>
          <a:lstStyle/>
          <a:p>
            <a:r>
              <a:rPr lang="en-US" altLang="en-US" dirty="0">
                <a:sym typeface="Arial"/>
              </a:rPr>
              <a:t>Actor</a:t>
            </a:r>
            <a:endParaRPr lang="en-US" dirty="0"/>
          </a:p>
        </p:txBody>
      </p:sp>
      <p:sp>
        <p:nvSpPr>
          <p:cNvPr id="3" name="Content Placeholder 2">
            <a:extLst>
              <a:ext uri="{FF2B5EF4-FFF2-40B4-BE49-F238E27FC236}">
                <a16:creationId xmlns:a16="http://schemas.microsoft.com/office/drawing/2014/main" id="{E3E934DC-1559-4BBB-A74F-21A2C6243C1C}"/>
              </a:ext>
            </a:extLst>
          </p:cNvPr>
          <p:cNvSpPr>
            <a:spLocks noGrp="1"/>
          </p:cNvSpPr>
          <p:nvPr>
            <p:ph sz="quarter" idx="13"/>
          </p:nvPr>
        </p:nvSpPr>
        <p:spPr>
          <a:xfrm>
            <a:off x="457200" y="1556327"/>
            <a:ext cx="8229600" cy="3651777"/>
          </a:xfrm>
        </p:spPr>
        <p:txBody>
          <a:bodyPr/>
          <a:lstStyle/>
          <a:p>
            <a:pPr marL="255651" lvl="0" indent="-255651">
              <a:spcAft>
                <a:spcPct val="0"/>
              </a:spcAft>
              <a:buSzPts val="2400"/>
              <a:tabLst/>
            </a:pPr>
            <a:r>
              <a:rPr lang="en-US" altLang="en-US" dirty="0">
                <a:solidFill>
                  <a:srgbClr val="000000"/>
                </a:solidFill>
              </a:rPr>
              <a:t>Divided into two groups</a:t>
            </a:r>
          </a:p>
          <a:p>
            <a:pPr marL="741553" lvl="1" indent="-284353">
              <a:spcAft>
                <a:spcPct val="0"/>
              </a:spcAft>
              <a:buSzPts val="2400"/>
            </a:pPr>
            <a:r>
              <a:rPr lang="en-US" altLang="en-US" dirty="0">
                <a:solidFill>
                  <a:srgbClr val="000000"/>
                </a:solidFill>
              </a:rPr>
              <a:t>Primary actors:</a:t>
            </a:r>
          </a:p>
          <a:p>
            <a:pPr marL="1144778" lvl="2" indent="-230378">
              <a:spcAft>
                <a:spcPct val="0"/>
              </a:spcAft>
              <a:buSzPts val="2400"/>
            </a:pPr>
            <a:r>
              <a:rPr lang="en-US" altLang="en-US" dirty="0">
                <a:solidFill>
                  <a:srgbClr val="000000"/>
                </a:solidFill>
              </a:rPr>
              <a:t>Supply data or receive information from the system</a:t>
            </a:r>
          </a:p>
          <a:p>
            <a:pPr marL="1144778" lvl="2" indent="-230378">
              <a:spcAft>
                <a:spcPct val="0"/>
              </a:spcAft>
              <a:buSzPts val="2400"/>
            </a:pPr>
            <a:r>
              <a:rPr lang="en-US" altLang="en-US" dirty="0">
                <a:solidFill>
                  <a:srgbClr val="000000"/>
                </a:solidFill>
              </a:rPr>
              <a:t>Provide details on what the use case should do</a:t>
            </a:r>
          </a:p>
          <a:p>
            <a:pPr marL="741553" lvl="1" indent="-284353">
              <a:spcAft>
                <a:spcPct val="0"/>
              </a:spcAft>
              <a:buSzPts val="2400"/>
            </a:pPr>
            <a:r>
              <a:rPr lang="en-US" altLang="en-US" dirty="0">
                <a:solidFill>
                  <a:srgbClr val="000000"/>
                </a:solidFill>
              </a:rPr>
              <a:t>Supporting actors:</a:t>
            </a:r>
          </a:p>
          <a:p>
            <a:pPr marL="1144778" lvl="2" indent="-230378">
              <a:spcAft>
                <a:spcPct val="0"/>
              </a:spcAft>
              <a:buSzPts val="2400"/>
            </a:pPr>
            <a:r>
              <a:rPr lang="en-US" altLang="en-US" dirty="0">
                <a:solidFill>
                  <a:srgbClr val="000000"/>
                </a:solidFill>
              </a:rPr>
              <a:t>Help to keep the system running or provide help</a:t>
            </a:r>
          </a:p>
          <a:p>
            <a:pPr marL="1144778" lvl="2" indent="-230378">
              <a:spcAft>
                <a:spcPct val="0"/>
              </a:spcAft>
              <a:buSzPts val="2400"/>
            </a:pPr>
            <a:r>
              <a:rPr lang="en-US" altLang="en-US" dirty="0">
                <a:solidFill>
                  <a:srgbClr val="000000"/>
                </a:solidFill>
              </a:rPr>
              <a:t>The people who run the help desk, the analysts, programmers, and so on</a:t>
            </a:r>
          </a:p>
        </p:txBody>
      </p:sp>
    </p:spTree>
    <p:extLst>
      <p:ext uri="{BB962C8B-B14F-4D97-AF65-F5344CB8AC3E}">
        <p14:creationId xmlns:p14="http://schemas.microsoft.com/office/powerpoint/2010/main" val="1683415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07613-965C-4859-BA3F-D8720B35BA6C}"/>
              </a:ext>
            </a:extLst>
          </p:cNvPr>
          <p:cNvSpPr>
            <a:spLocks noGrp="1"/>
          </p:cNvSpPr>
          <p:nvPr>
            <p:ph type="title"/>
          </p:nvPr>
        </p:nvSpPr>
        <p:spPr/>
        <p:txBody>
          <a:bodyPr/>
          <a:lstStyle/>
          <a:p>
            <a:r>
              <a:rPr lang="en-US" altLang="en-US" sz="3200" dirty="0">
                <a:sym typeface="Arial"/>
              </a:rPr>
              <a:t>A Use Case Always Provides Three Things</a:t>
            </a:r>
            <a:endParaRPr lang="en-US" sz="3200" dirty="0"/>
          </a:p>
        </p:txBody>
      </p:sp>
      <p:sp>
        <p:nvSpPr>
          <p:cNvPr id="3" name="Content Placeholder 2">
            <a:extLst>
              <a:ext uri="{FF2B5EF4-FFF2-40B4-BE49-F238E27FC236}">
                <a16:creationId xmlns:a16="http://schemas.microsoft.com/office/drawing/2014/main" id="{E119B441-0446-43E5-87BA-060C32E34BC5}"/>
              </a:ext>
            </a:extLst>
          </p:cNvPr>
          <p:cNvSpPr>
            <a:spLocks noGrp="1"/>
          </p:cNvSpPr>
          <p:nvPr>
            <p:ph sz="quarter" idx="13"/>
          </p:nvPr>
        </p:nvSpPr>
        <p:spPr>
          <a:xfrm>
            <a:off x="457200" y="1556327"/>
            <a:ext cx="8229600" cy="2127777"/>
          </a:xfrm>
        </p:spPr>
        <p:txBody>
          <a:bodyPr/>
          <a:lstStyle/>
          <a:p>
            <a:pPr marL="255651" lvl="0" indent="-255651">
              <a:spcAft>
                <a:spcPct val="0"/>
              </a:spcAft>
              <a:buSzPts val="2400"/>
              <a:tabLst/>
            </a:pPr>
            <a:r>
              <a:rPr lang="en-US" altLang="en-US" dirty="0">
                <a:solidFill>
                  <a:srgbClr val="000000"/>
                </a:solidFill>
              </a:rPr>
              <a:t>An actor that initiates an event</a:t>
            </a:r>
          </a:p>
          <a:p>
            <a:pPr marL="255651" lvl="0" indent="-255651">
              <a:spcAft>
                <a:spcPct val="0"/>
              </a:spcAft>
              <a:buSzPts val="2400"/>
              <a:tabLst/>
            </a:pPr>
            <a:r>
              <a:rPr lang="en-US" altLang="en-US" dirty="0">
                <a:solidFill>
                  <a:srgbClr val="000000"/>
                </a:solidFill>
              </a:rPr>
              <a:t>The event that triggers a use case</a:t>
            </a:r>
          </a:p>
          <a:p>
            <a:pPr marL="255651" lvl="0" indent="-255651">
              <a:spcAft>
                <a:spcPct val="0"/>
              </a:spcAft>
              <a:buSzPts val="2400"/>
              <a:tabLst/>
            </a:pPr>
            <a:r>
              <a:rPr lang="en-US" altLang="en-US" dirty="0">
                <a:solidFill>
                  <a:srgbClr val="000000"/>
                </a:solidFill>
              </a:rPr>
              <a:t>The use case that performs the actions triggered by the event</a:t>
            </a:r>
          </a:p>
        </p:txBody>
      </p:sp>
    </p:spTree>
    <p:extLst>
      <p:ext uri="{BB962C8B-B14F-4D97-AF65-F5344CB8AC3E}">
        <p14:creationId xmlns:p14="http://schemas.microsoft.com/office/powerpoint/2010/main" val="4287376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68840-307F-4155-90CE-5AC196419A43}"/>
              </a:ext>
            </a:extLst>
          </p:cNvPr>
          <p:cNvSpPr>
            <a:spLocks noGrp="1"/>
          </p:cNvSpPr>
          <p:nvPr>
            <p:ph type="title"/>
          </p:nvPr>
        </p:nvSpPr>
        <p:spPr/>
        <p:txBody>
          <a:bodyPr/>
          <a:lstStyle/>
          <a:p>
            <a:r>
              <a:rPr lang="en-US" altLang="en-US" dirty="0">
                <a:sym typeface="Arial"/>
              </a:rPr>
              <a:t>Use Case Relations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3B1C2B88-4803-4714-B01D-41EEBCE60B5F}"/>
              </a:ext>
            </a:extLst>
          </p:cNvPr>
          <p:cNvSpPr>
            <a:spLocks noGrp="1"/>
          </p:cNvSpPr>
          <p:nvPr>
            <p:ph sz="quarter" idx="13"/>
          </p:nvPr>
        </p:nvSpPr>
        <p:spPr>
          <a:xfrm>
            <a:off x="457200" y="1556327"/>
            <a:ext cx="8229600" cy="3187951"/>
          </a:xfrm>
        </p:spPr>
        <p:txBody>
          <a:bodyPr/>
          <a:lstStyle/>
          <a:p>
            <a:pPr marL="255651" lvl="0" indent="-255651">
              <a:spcAft>
                <a:spcPct val="0"/>
              </a:spcAft>
              <a:buSzPts val="2400"/>
              <a:tabLst/>
            </a:pPr>
            <a:r>
              <a:rPr lang="en-US" altLang="en-US" dirty="0">
                <a:solidFill>
                  <a:srgbClr val="000000"/>
                </a:solidFill>
              </a:rPr>
              <a:t>Behavioral relationships</a:t>
            </a:r>
          </a:p>
          <a:p>
            <a:pPr marL="741553" lvl="1" indent="-284353">
              <a:spcAft>
                <a:spcPct val="0"/>
              </a:spcAft>
              <a:buSzPts val="2400"/>
            </a:pPr>
            <a:r>
              <a:rPr lang="en-US" altLang="en-US" dirty="0">
                <a:solidFill>
                  <a:srgbClr val="000000"/>
                </a:solidFill>
              </a:rPr>
              <a:t>Communicates</a:t>
            </a:r>
          </a:p>
          <a:p>
            <a:pPr marL="1144778" lvl="2" indent="-230378">
              <a:spcAft>
                <a:spcPct val="0"/>
              </a:spcAft>
              <a:buSzPts val="2400"/>
            </a:pPr>
            <a:r>
              <a:rPr lang="en-US" altLang="en-US" dirty="0">
                <a:solidFill>
                  <a:srgbClr val="000000"/>
                </a:solidFill>
              </a:rPr>
              <a:t>Used to connect an actor to a use case</a:t>
            </a:r>
          </a:p>
          <a:p>
            <a:pPr marL="741553" lvl="1" indent="-284353">
              <a:spcAft>
                <a:spcPct val="0"/>
              </a:spcAft>
              <a:buSzPts val="2400"/>
            </a:pPr>
            <a:r>
              <a:rPr lang="en-US" altLang="en-US" dirty="0">
                <a:solidFill>
                  <a:srgbClr val="000000"/>
                </a:solidFill>
              </a:rPr>
              <a:t>Includes</a:t>
            </a:r>
          </a:p>
          <a:p>
            <a:pPr marL="1144778" lvl="2" indent="-230378">
              <a:spcAft>
                <a:spcPct val="0"/>
              </a:spcAft>
              <a:buSzPts val="2400"/>
            </a:pPr>
            <a:r>
              <a:rPr lang="en-US" altLang="en-US" dirty="0">
                <a:solidFill>
                  <a:srgbClr val="000000"/>
                </a:solidFill>
              </a:rPr>
              <a:t>Describes the situation in which a use case contains behavior that is common to more than one use case</a:t>
            </a:r>
          </a:p>
        </p:txBody>
      </p:sp>
    </p:spTree>
    <p:extLst>
      <p:ext uri="{BB962C8B-B14F-4D97-AF65-F5344CB8AC3E}">
        <p14:creationId xmlns:p14="http://schemas.microsoft.com/office/powerpoint/2010/main" val="1825272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CC20F-4041-4540-83EB-18CEC9FE2F0A}"/>
              </a:ext>
            </a:extLst>
          </p:cNvPr>
          <p:cNvSpPr>
            <a:spLocks noGrp="1"/>
          </p:cNvSpPr>
          <p:nvPr>
            <p:ph type="title"/>
          </p:nvPr>
        </p:nvSpPr>
        <p:spPr/>
        <p:txBody>
          <a:bodyPr/>
          <a:lstStyle/>
          <a:p>
            <a:r>
              <a:rPr lang="en-US" altLang="en-US" dirty="0">
                <a:sym typeface="Arial"/>
              </a:rPr>
              <a:t>Use Case Relations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D8A2CFBA-8466-404B-9E56-AE0DCA4DA91F}"/>
              </a:ext>
            </a:extLst>
          </p:cNvPr>
          <p:cNvSpPr>
            <a:spLocks noGrp="1"/>
          </p:cNvSpPr>
          <p:nvPr>
            <p:ph sz="quarter" idx="13"/>
          </p:nvPr>
        </p:nvSpPr>
        <p:spPr>
          <a:xfrm>
            <a:off x="457200" y="1556327"/>
            <a:ext cx="8229600" cy="3837308"/>
          </a:xfrm>
        </p:spPr>
        <p:txBody>
          <a:bodyPr/>
          <a:lstStyle/>
          <a:p>
            <a:pPr marL="255651" lvl="0" indent="-255651">
              <a:spcAft>
                <a:spcPct val="0"/>
              </a:spcAft>
              <a:buSzPts val="2400"/>
              <a:tabLst/>
            </a:pPr>
            <a:r>
              <a:rPr lang="en-US" altLang="en-US" dirty="0">
                <a:solidFill>
                  <a:srgbClr val="000000"/>
                </a:solidFill>
              </a:rPr>
              <a:t>Behavioral relationships [continued]</a:t>
            </a:r>
          </a:p>
          <a:p>
            <a:pPr marL="741553" lvl="1" indent="-284353">
              <a:spcAft>
                <a:spcPct val="0"/>
              </a:spcAft>
              <a:buSzPts val="2400"/>
            </a:pPr>
            <a:r>
              <a:rPr lang="en-US" altLang="en-US" dirty="0">
                <a:solidFill>
                  <a:srgbClr val="000000"/>
                </a:solidFill>
              </a:rPr>
              <a:t>Extends</a:t>
            </a:r>
          </a:p>
          <a:p>
            <a:pPr marL="1144778" lvl="2" indent="-230378">
              <a:spcAft>
                <a:spcPct val="0"/>
              </a:spcAft>
              <a:buSzPts val="2400"/>
            </a:pPr>
            <a:r>
              <a:rPr lang="en-US" altLang="en-US" dirty="0">
                <a:solidFill>
                  <a:srgbClr val="000000"/>
                </a:solidFill>
              </a:rPr>
              <a:t>Describes the situation in which one use case possesses the behavior that allows the new case to handle a variation or exception from the basic use case</a:t>
            </a:r>
          </a:p>
          <a:p>
            <a:pPr marL="741553" lvl="1" indent="-284353">
              <a:spcAft>
                <a:spcPct val="0"/>
              </a:spcAft>
              <a:buSzPts val="2400"/>
            </a:pPr>
            <a:r>
              <a:rPr lang="en-US" altLang="en-US" dirty="0">
                <a:solidFill>
                  <a:srgbClr val="000000"/>
                </a:solidFill>
              </a:rPr>
              <a:t>Generalizes</a:t>
            </a:r>
          </a:p>
          <a:p>
            <a:pPr marL="1144778" lvl="2" indent="-230378">
              <a:spcAft>
                <a:spcPct val="0"/>
              </a:spcAft>
              <a:buSzPts val="2400"/>
            </a:pPr>
            <a:r>
              <a:rPr lang="en-US" altLang="en-US" dirty="0">
                <a:solidFill>
                  <a:srgbClr val="000000"/>
                </a:solidFill>
              </a:rPr>
              <a:t>Implies that one thing is more typical than the other thing</a:t>
            </a:r>
          </a:p>
        </p:txBody>
      </p:sp>
    </p:spTree>
    <p:extLst>
      <p:ext uri="{BB962C8B-B14F-4D97-AF65-F5344CB8AC3E}">
        <p14:creationId xmlns:p14="http://schemas.microsoft.com/office/powerpoint/2010/main" val="4292452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75AB9-6D2F-423A-A280-215301EB287B}"/>
              </a:ext>
            </a:extLst>
          </p:cNvPr>
          <p:cNvSpPr>
            <a:spLocks noGrp="1"/>
          </p:cNvSpPr>
          <p:nvPr>
            <p:ph type="title"/>
          </p:nvPr>
        </p:nvSpPr>
        <p:spPr>
          <a:xfrm>
            <a:off x="457200" y="92765"/>
            <a:ext cx="8229600" cy="1219885"/>
          </a:xfrm>
        </p:spPr>
        <p:txBody>
          <a:bodyPr/>
          <a:lstStyle/>
          <a:p>
            <a:r>
              <a:rPr lang="en-US" altLang="en-US" sz="2400" dirty="0">
                <a:sym typeface="Arial"/>
              </a:rPr>
              <a:t>Figure 2.13 Four Types of U</a:t>
            </a:r>
            <a:r>
              <a:rPr lang="en-US" altLang="en-US" sz="100" dirty="0">
                <a:sym typeface="Arial"/>
              </a:rPr>
              <a:t> </a:t>
            </a:r>
            <a:r>
              <a:rPr lang="en-US" altLang="en-US" sz="2400" dirty="0">
                <a:sym typeface="Arial"/>
              </a:rPr>
              <a:t>M</a:t>
            </a:r>
            <a:r>
              <a:rPr lang="en-US" altLang="en-US" sz="100" dirty="0">
                <a:sym typeface="Arial"/>
              </a:rPr>
              <a:t> </a:t>
            </a:r>
            <a:r>
              <a:rPr lang="en-US" altLang="en-US" sz="2400" dirty="0">
                <a:sym typeface="Arial"/>
              </a:rPr>
              <a:t>L Behavioral Relationships and the Arrows and Lines Used to Represent the Relationships</a:t>
            </a:r>
            <a:endParaRPr lang="en-US" sz="2400" dirty="0"/>
          </a:p>
        </p:txBody>
      </p:sp>
      <p:pic>
        <p:nvPicPr>
          <p:cNvPr id="5" name="Picture 4" descr="A table depicts four types of U M L behavioral relationships and the arrows and lines used to represent the relationships. Long description in notes, press F6.&#10;">
            <a:extLst>
              <a:ext uri="{FF2B5EF4-FFF2-40B4-BE49-F238E27FC236}">
                <a16:creationId xmlns:a16="http://schemas.microsoft.com/office/drawing/2014/main" id="{12E53E59-A94E-40B8-A71A-BF9B0CCE7BBD}"/>
              </a:ext>
            </a:extLst>
          </p:cNvPr>
          <p:cNvPicPr>
            <a:picLocks noChangeAspect="1"/>
          </p:cNvPicPr>
          <p:nvPr/>
        </p:nvPicPr>
        <p:blipFill rotWithShape="1">
          <a:blip r:embed="rId3"/>
          <a:srcRect b="5340"/>
          <a:stretch/>
        </p:blipFill>
        <p:spPr>
          <a:xfrm>
            <a:off x="578216" y="2173673"/>
            <a:ext cx="7987569" cy="2380321"/>
          </a:xfrm>
          <a:prstGeom prst="rect">
            <a:avLst/>
          </a:prstGeom>
        </p:spPr>
      </p:pic>
    </p:spTree>
    <p:extLst>
      <p:ext uri="{BB962C8B-B14F-4D97-AF65-F5344CB8AC3E}">
        <p14:creationId xmlns:p14="http://schemas.microsoft.com/office/powerpoint/2010/main" val="3945833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16A70-8238-480F-81BA-70205F094D9D}"/>
              </a:ext>
            </a:extLst>
          </p:cNvPr>
          <p:cNvSpPr>
            <a:spLocks noGrp="1"/>
          </p:cNvSpPr>
          <p:nvPr>
            <p:ph type="title"/>
          </p:nvPr>
        </p:nvSpPr>
        <p:spPr/>
        <p:txBody>
          <a:bodyPr/>
          <a:lstStyle/>
          <a:p>
            <a:r>
              <a:rPr lang="en-US" altLang="en-US" sz="2600" dirty="0">
                <a:sym typeface="Arial"/>
              </a:rPr>
              <a:t>Figure 2.14 Examples of Use Cases and Behavioral Relationships for Student Enrollment</a:t>
            </a:r>
            <a:endParaRPr lang="en-US" sz="2600" dirty="0"/>
          </a:p>
        </p:txBody>
      </p:sp>
      <p:pic>
        <p:nvPicPr>
          <p:cNvPr id="5" name="Picture 4" descr="A diagram shows the examples of four different types of behavioral relationships. Long description in notes, press F6.">
            <a:extLst>
              <a:ext uri="{FF2B5EF4-FFF2-40B4-BE49-F238E27FC236}">
                <a16:creationId xmlns:a16="http://schemas.microsoft.com/office/drawing/2014/main" id="{5DBCAB56-8FDA-4432-B34B-3A00751AD134}"/>
              </a:ext>
            </a:extLst>
          </p:cNvPr>
          <p:cNvPicPr>
            <a:picLocks noChangeAspect="1"/>
          </p:cNvPicPr>
          <p:nvPr/>
        </p:nvPicPr>
        <p:blipFill rotWithShape="1">
          <a:blip r:embed="rId3"/>
          <a:srcRect b="2449"/>
          <a:stretch/>
        </p:blipFill>
        <p:spPr>
          <a:xfrm>
            <a:off x="1453335" y="1667137"/>
            <a:ext cx="6237330" cy="4499699"/>
          </a:xfrm>
          <a:prstGeom prst="rect">
            <a:avLst/>
          </a:prstGeom>
        </p:spPr>
      </p:pic>
    </p:spTree>
    <p:extLst>
      <p:ext uri="{BB962C8B-B14F-4D97-AF65-F5344CB8AC3E}">
        <p14:creationId xmlns:p14="http://schemas.microsoft.com/office/powerpoint/2010/main" val="8697473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6549-37C9-417D-A815-8282B1CB11B4}"/>
              </a:ext>
            </a:extLst>
          </p:cNvPr>
          <p:cNvSpPr>
            <a:spLocks noGrp="1"/>
          </p:cNvSpPr>
          <p:nvPr>
            <p:ph type="title"/>
          </p:nvPr>
        </p:nvSpPr>
        <p:spPr/>
        <p:txBody>
          <a:bodyPr/>
          <a:lstStyle/>
          <a:p>
            <a:r>
              <a:rPr lang="en-US" altLang="en-US" dirty="0">
                <a:sym typeface="Arial"/>
              </a:rPr>
              <a:t>Scope</a:t>
            </a:r>
            <a:endParaRPr lang="en-US" dirty="0"/>
          </a:p>
        </p:txBody>
      </p:sp>
      <p:sp>
        <p:nvSpPr>
          <p:cNvPr id="3" name="Content Placeholder 2">
            <a:extLst>
              <a:ext uri="{FF2B5EF4-FFF2-40B4-BE49-F238E27FC236}">
                <a16:creationId xmlns:a16="http://schemas.microsoft.com/office/drawing/2014/main" id="{B31BFDBA-36DA-484B-8299-154F4F636D2B}"/>
              </a:ext>
            </a:extLst>
          </p:cNvPr>
          <p:cNvSpPr>
            <a:spLocks noGrp="1"/>
          </p:cNvSpPr>
          <p:nvPr>
            <p:ph sz="quarter" idx="13"/>
          </p:nvPr>
        </p:nvSpPr>
        <p:spPr>
          <a:xfrm>
            <a:off x="457200" y="1556327"/>
            <a:ext cx="8229600" cy="3439743"/>
          </a:xfrm>
        </p:spPr>
        <p:txBody>
          <a:bodyPr/>
          <a:lstStyle/>
          <a:p>
            <a:pPr marL="255651" lvl="0" indent="-255651">
              <a:spcAft>
                <a:spcPct val="0"/>
              </a:spcAft>
              <a:buSzPts val="2400"/>
              <a:tabLst/>
            </a:pPr>
            <a:r>
              <a:rPr lang="en-US" altLang="en-US" dirty="0">
                <a:solidFill>
                  <a:srgbClr val="000000"/>
                </a:solidFill>
              </a:rPr>
              <a:t>System scope defines its boundaries:</a:t>
            </a:r>
          </a:p>
          <a:p>
            <a:pPr marL="741553" lvl="1" indent="-284353">
              <a:spcAft>
                <a:spcPct val="0"/>
              </a:spcAft>
              <a:buSzPts val="2400"/>
            </a:pPr>
            <a:r>
              <a:rPr lang="en-US" altLang="en-US" dirty="0">
                <a:solidFill>
                  <a:srgbClr val="000000"/>
                </a:solidFill>
              </a:rPr>
              <a:t>What is in or outside the system</a:t>
            </a:r>
          </a:p>
          <a:p>
            <a:pPr marL="741553" lvl="1" indent="-284353">
              <a:spcAft>
                <a:spcPct val="0"/>
              </a:spcAft>
              <a:buSzPts val="2400"/>
            </a:pPr>
            <a:r>
              <a:rPr lang="en-US" altLang="en-US" dirty="0">
                <a:solidFill>
                  <a:srgbClr val="000000"/>
                </a:solidFill>
              </a:rPr>
              <a:t>Project has a budget that helps to define scope</a:t>
            </a:r>
          </a:p>
          <a:p>
            <a:pPr marL="741553" lvl="1" indent="-284353">
              <a:spcAft>
                <a:spcPct val="0"/>
              </a:spcAft>
              <a:buSzPts val="2400"/>
            </a:pPr>
            <a:r>
              <a:rPr lang="en-US" altLang="en-US" dirty="0">
                <a:solidFill>
                  <a:srgbClr val="000000"/>
                </a:solidFill>
              </a:rPr>
              <a:t>Project has a start and an end time</a:t>
            </a:r>
          </a:p>
          <a:p>
            <a:pPr marL="255651" lvl="0" indent="-255651">
              <a:spcAft>
                <a:spcPct val="0"/>
              </a:spcAft>
              <a:buSzPts val="2400"/>
              <a:tabLst/>
            </a:pPr>
            <a:r>
              <a:rPr lang="en-US" altLang="en-US" dirty="0">
                <a:solidFill>
                  <a:srgbClr val="000000"/>
                </a:solidFill>
              </a:rPr>
              <a:t>Actors are always outside of scope</a:t>
            </a:r>
          </a:p>
          <a:p>
            <a:pPr marL="255651" lvl="0" indent="-255651">
              <a:spcAft>
                <a:spcPct val="0"/>
              </a:spcAft>
              <a:buSzPts val="2400"/>
              <a:tabLst/>
            </a:pPr>
            <a:r>
              <a:rPr lang="en-US" altLang="en-US" dirty="0">
                <a:solidFill>
                  <a:srgbClr val="000000"/>
                </a:solidFill>
              </a:rPr>
              <a:t>Communication lines are the boundaries and define the scope</a:t>
            </a:r>
          </a:p>
        </p:txBody>
      </p:sp>
    </p:spTree>
    <p:extLst>
      <p:ext uri="{BB962C8B-B14F-4D97-AF65-F5344CB8AC3E}">
        <p14:creationId xmlns:p14="http://schemas.microsoft.com/office/powerpoint/2010/main" val="2173127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3F7A-83C1-4954-B755-D051D5F9D173}"/>
              </a:ext>
            </a:extLst>
          </p:cNvPr>
          <p:cNvSpPr>
            <a:spLocks noGrp="1"/>
          </p:cNvSpPr>
          <p:nvPr>
            <p:ph type="title"/>
          </p:nvPr>
        </p:nvSpPr>
        <p:spPr/>
        <p:txBody>
          <a:bodyPr/>
          <a:lstStyle/>
          <a:p>
            <a:r>
              <a:rPr lang="en-US" altLang="en-US" dirty="0">
                <a:sym typeface="Arial"/>
              </a:rPr>
              <a:t>Developing Use Case Diagrams</a:t>
            </a:r>
            <a:endParaRPr lang="en-US" dirty="0"/>
          </a:p>
        </p:txBody>
      </p:sp>
      <p:sp>
        <p:nvSpPr>
          <p:cNvPr id="3" name="Content Placeholder 2">
            <a:extLst>
              <a:ext uri="{FF2B5EF4-FFF2-40B4-BE49-F238E27FC236}">
                <a16:creationId xmlns:a16="http://schemas.microsoft.com/office/drawing/2014/main" id="{4305F660-8565-4B18-9E2C-C057363F4EB2}"/>
              </a:ext>
            </a:extLst>
          </p:cNvPr>
          <p:cNvSpPr>
            <a:spLocks noGrp="1"/>
          </p:cNvSpPr>
          <p:nvPr>
            <p:ph sz="quarter" idx="13"/>
          </p:nvPr>
        </p:nvSpPr>
        <p:spPr>
          <a:xfrm>
            <a:off x="457200" y="1556327"/>
            <a:ext cx="8229600" cy="4221621"/>
          </a:xfrm>
        </p:spPr>
        <p:txBody>
          <a:bodyPr/>
          <a:lstStyle/>
          <a:p>
            <a:pPr marL="255651" lvl="0" indent="-255651">
              <a:spcAft>
                <a:spcPct val="0"/>
              </a:spcAft>
              <a:buSzPts val="2400"/>
              <a:tabLst/>
            </a:pPr>
            <a:r>
              <a:rPr lang="en-US" altLang="en-US" dirty="0">
                <a:solidFill>
                  <a:srgbClr val="000000"/>
                </a:solidFill>
              </a:rPr>
              <a:t>Review the business specifications and identify the actors involved</a:t>
            </a:r>
          </a:p>
          <a:p>
            <a:pPr marL="255651" lvl="0" indent="-255651">
              <a:spcAft>
                <a:spcPct val="0"/>
              </a:spcAft>
              <a:buSzPts val="2400"/>
              <a:tabLst/>
            </a:pPr>
            <a:r>
              <a:rPr lang="en-US" altLang="en-US" dirty="0">
                <a:solidFill>
                  <a:srgbClr val="000000"/>
                </a:solidFill>
              </a:rPr>
              <a:t>Identify the high-level events and develop the primary use cases that describe those events and how the actors initiate them</a:t>
            </a:r>
          </a:p>
          <a:p>
            <a:pPr marL="255651" lvl="0" indent="-255651">
              <a:spcAft>
                <a:spcPct val="0"/>
              </a:spcAft>
              <a:buSzPts val="2400"/>
              <a:tabLst/>
            </a:pPr>
            <a:r>
              <a:rPr lang="en-US" altLang="en-US" dirty="0">
                <a:solidFill>
                  <a:srgbClr val="000000"/>
                </a:solidFill>
              </a:rPr>
              <a:t>Review each primary use case to determine the possible variations of flow through the use case</a:t>
            </a:r>
          </a:p>
          <a:p>
            <a:pPr marL="255651" lvl="0" indent="-255651">
              <a:spcAft>
                <a:spcPct val="0"/>
              </a:spcAft>
              <a:buSzPts val="2400"/>
              <a:tabLst/>
            </a:pPr>
            <a:r>
              <a:rPr lang="en-US" altLang="en-US" dirty="0">
                <a:solidFill>
                  <a:srgbClr val="000000"/>
                </a:solidFill>
              </a:rPr>
              <a:t>The context-level data flow diagram could act as a starting point for creating a use case</a:t>
            </a:r>
          </a:p>
        </p:txBody>
      </p:sp>
    </p:spTree>
    <p:extLst>
      <p:ext uri="{BB962C8B-B14F-4D97-AF65-F5344CB8AC3E}">
        <p14:creationId xmlns:p14="http://schemas.microsoft.com/office/powerpoint/2010/main" val="3052054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0BE72-0C24-4648-B64E-926FB306AF4B}"/>
              </a:ext>
            </a:extLst>
          </p:cNvPr>
          <p:cNvSpPr>
            <a:spLocks noGrp="1"/>
          </p:cNvSpPr>
          <p:nvPr>
            <p:ph type="title"/>
          </p:nvPr>
        </p:nvSpPr>
        <p:spPr/>
        <p:txBody>
          <a:bodyPr/>
          <a:lstStyle/>
          <a:p>
            <a:r>
              <a:rPr lang="en-US" altLang="en-US" sz="2800" dirty="0">
                <a:sym typeface="Arial"/>
              </a:rPr>
              <a:t>Figure 2.15 A Use Case Diagram Representing a System Used to Plan a Conference</a:t>
            </a:r>
            <a:endParaRPr lang="en-US" sz="2800" dirty="0"/>
          </a:p>
        </p:txBody>
      </p:sp>
      <p:pic>
        <p:nvPicPr>
          <p:cNvPr id="7" name="Picture 6" descr="A diagram shows the plan of a conference. Long description in notes, press F6.">
            <a:extLst>
              <a:ext uri="{FF2B5EF4-FFF2-40B4-BE49-F238E27FC236}">
                <a16:creationId xmlns:a16="http://schemas.microsoft.com/office/drawing/2014/main" id="{89C3DE0B-C829-4B87-B1AB-D5A7385C37F9}"/>
              </a:ext>
            </a:extLst>
          </p:cNvPr>
          <p:cNvPicPr>
            <a:picLocks noChangeAspect="1"/>
          </p:cNvPicPr>
          <p:nvPr/>
        </p:nvPicPr>
        <p:blipFill rotWithShape="1">
          <a:blip r:embed="rId3"/>
          <a:srcRect b="2454"/>
          <a:stretch/>
        </p:blipFill>
        <p:spPr>
          <a:xfrm>
            <a:off x="2530240" y="1625364"/>
            <a:ext cx="4083521" cy="4505530"/>
          </a:xfrm>
          <a:prstGeom prst="rect">
            <a:avLst/>
          </a:prstGeom>
        </p:spPr>
      </p:pic>
    </p:spTree>
    <p:extLst>
      <p:ext uri="{BB962C8B-B14F-4D97-AF65-F5344CB8AC3E}">
        <p14:creationId xmlns:p14="http://schemas.microsoft.com/office/powerpoint/2010/main" val="1356942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272B-3A01-44D9-A04B-3A0FF70ADCF2}"/>
              </a:ext>
            </a:extLst>
          </p:cNvPr>
          <p:cNvSpPr>
            <a:spLocks noGrp="1"/>
          </p:cNvSpPr>
          <p:nvPr>
            <p:ph type="title"/>
          </p:nvPr>
        </p:nvSpPr>
        <p:spPr/>
        <p:txBody>
          <a:bodyPr/>
          <a:lstStyle/>
          <a:p>
            <a:r>
              <a:rPr lang="en-US" altLang="en-US" dirty="0">
                <a:sym typeface="Arial"/>
              </a:rPr>
              <a:t>Developing the Use Case Scenarios</a:t>
            </a:r>
            <a:endParaRPr lang="en-US" dirty="0"/>
          </a:p>
        </p:txBody>
      </p:sp>
      <p:sp>
        <p:nvSpPr>
          <p:cNvPr id="3" name="Content Placeholder 2">
            <a:extLst>
              <a:ext uri="{FF2B5EF4-FFF2-40B4-BE49-F238E27FC236}">
                <a16:creationId xmlns:a16="http://schemas.microsoft.com/office/drawing/2014/main" id="{36EA0DA3-1DCF-4375-B53F-7CAE625183FA}"/>
              </a:ext>
            </a:extLst>
          </p:cNvPr>
          <p:cNvSpPr>
            <a:spLocks noGrp="1"/>
          </p:cNvSpPr>
          <p:nvPr>
            <p:ph sz="quarter" idx="13"/>
          </p:nvPr>
        </p:nvSpPr>
        <p:spPr>
          <a:xfrm>
            <a:off x="457200" y="1556327"/>
            <a:ext cx="8229600" cy="2432577"/>
          </a:xfrm>
        </p:spPr>
        <p:txBody>
          <a:bodyPr/>
          <a:lstStyle/>
          <a:p>
            <a:pPr marL="255651" lvl="0" indent="-255651">
              <a:spcAft>
                <a:spcPct val="0"/>
              </a:spcAft>
              <a:buSzPts val="2400"/>
              <a:tabLst/>
            </a:pPr>
            <a:r>
              <a:rPr lang="en-US" altLang="en-US" dirty="0">
                <a:solidFill>
                  <a:srgbClr val="000000"/>
                </a:solidFill>
              </a:rPr>
              <a:t>The description of the use case</a:t>
            </a:r>
          </a:p>
          <a:p>
            <a:pPr marL="255651" lvl="0" indent="-255651">
              <a:spcAft>
                <a:spcPct val="0"/>
              </a:spcAft>
              <a:buSzPts val="2400"/>
              <a:tabLst/>
            </a:pPr>
            <a:r>
              <a:rPr lang="en-US" altLang="en-US" dirty="0">
                <a:solidFill>
                  <a:srgbClr val="000000"/>
                </a:solidFill>
              </a:rPr>
              <a:t>Three main areas:</a:t>
            </a:r>
          </a:p>
          <a:p>
            <a:pPr marL="741553" lvl="1" indent="-284353">
              <a:spcAft>
                <a:spcPct val="0"/>
              </a:spcAft>
              <a:buSzPts val="2400"/>
            </a:pPr>
            <a:r>
              <a:rPr lang="en-US" altLang="en-US" dirty="0">
                <a:solidFill>
                  <a:srgbClr val="000000"/>
                </a:solidFill>
              </a:rPr>
              <a:t>Use case identifiers and initiators</a:t>
            </a:r>
          </a:p>
          <a:p>
            <a:pPr marL="741553" lvl="1" indent="-284353">
              <a:spcAft>
                <a:spcPct val="0"/>
              </a:spcAft>
              <a:buSzPts val="2400"/>
            </a:pPr>
            <a:r>
              <a:rPr lang="en-US" altLang="en-US" dirty="0">
                <a:solidFill>
                  <a:srgbClr val="000000"/>
                </a:solidFill>
              </a:rPr>
              <a:t>Steps performed</a:t>
            </a:r>
          </a:p>
          <a:p>
            <a:pPr marL="741553" lvl="1" indent="-284353">
              <a:spcAft>
                <a:spcPct val="0"/>
              </a:spcAft>
              <a:buSzPts val="2400"/>
            </a:pPr>
            <a:r>
              <a:rPr lang="en-US" altLang="en-US" dirty="0">
                <a:solidFill>
                  <a:srgbClr val="000000"/>
                </a:solidFill>
              </a:rPr>
              <a:t>Conditions, assumptions, and questions</a:t>
            </a:r>
          </a:p>
        </p:txBody>
      </p:sp>
    </p:spTree>
    <p:extLst>
      <p:ext uri="{BB962C8B-B14F-4D97-AF65-F5344CB8AC3E}">
        <p14:creationId xmlns:p14="http://schemas.microsoft.com/office/powerpoint/2010/main" val="22414203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4FEC-7EFA-464A-B661-76F73A349412}"/>
              </a:ext>
            </a:extLst>
          </p:cNvPr>
          <p:cNvSpPr>
            <a:spLocks noGrp="1"/>
          </p:cNvSpPr>
          <p:nvPr>
            <p:ph type="title"/>
          </p:nvPr>
        </p:nvSpPr>
        <p:spPr/>
        <p:txBody>
          <a:bodyPr/>
          <a:lstStyle/>
          <a:p>
            <a:r>
              <a:rPr lang="en-US" altLang="en-US" sz="3200" dirty="0"/>
              <a:t>Figure 2.16 A Use Case Scenario is Divided into Three Sections</a:t>
            </a:r>
            <a:endParaRPr lang="en-US" sz="3200" dirty="0"/>
          </a:p>
        </p:txBody>
      </p:sp>
      <p:pic>
        <p:nvPicPr>
          <p:cNvPr id="5" name="Picture 4" descr="A form depicts a use case scenario. Long description in notes, press F6.&#10;">
            <a:extLst>
              <a:ext uri="{FF2B5EF4-FFF2-40B4-BE49-F238E27FC236}">
                <a16:creationId xmlns:a16="http://schemas.microsoft.com/office/drawing/2014/main" id="{80F24019-ADA1-464C-B42B-8AE7EE039224}"/>
              </a:ext>
            </a:extLst>
          </p:cNvPr>
          <p:cNvPicPr>
            <a:picLocks noChangeAspect="1"/>
          </p:cNvPicPr>
          <p:nvPr/>
        </p:nvPicPr>
        <p:blipFill rotWithShape="1">
          <a:blip r:embed="rId3"/>
          <a:srcRect t="1920" b="4981"/>
          <a:stretch/>
        </p:blipFill>
        <p:spPr>
          <a:xfrm>
            <a:off x="2632415" y="1558571"/>
            <a:ext cx="3879170" cy="4697384"/>
          </a:xfrm>
          <a:prstGeom prst="rect">
            <a:avLst/>
          </a:prstGeom>
        </p:spPr>
      </p:pic>
    </p:spTree>
    <p:extLst>
      <p:ext uri="{BB962C8B-B14F-4D97-AF65-F5344CB8AC3E}">
        <p14:creationId xmlns:p14="http://schemas.microsoft.com/office/powerpoint/2010/main" val="363620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12455-B5CE-423B-93FB-AD1D53A49421}"/>
              </a:ext>
            </a:extLst>
          </p:cNvPr>
          <p:cNvSpPr>
            <a:spLocks noGrp="1"/>
          </p:cNvSpPr>
          <p:nvPr>
            <p:ph type="title"/>
          </p:nvPr>
        </p:nvSpPr>
        <p:spPr/>
        <p:txBody>
          <a:bodyPr/>
          <a:lstStyle/>
          <a:p>
            <a:r>
              <a:rPr lang="en-US" altLang="en-US" dirty="0">
                <a:sym typeface="Arial"/>
              </a:rPr>
              <a:t>Use Case Header Area</a:t>
            </a:r>
            <a:endParaRPr lang="en-US" dirty="0"/>
          </a:p>
        </p:txBody>
      </p:sp>
      <p:sp>
        <p:nvSpPr>
          <p:cNvPr id="3" name="Content Placeholder 2">
            <a:extLst>
              <a:ext uri="{FF2B5EF4-FFF2-40B4-BE49-F238E27FC236}">
                <a16:creationId xmlns:a16="http://schemas.microsoft.com/office/drawing/2014/main" id="{07A11E9F-6E0C-4045-B7F0-66B8E28EB99D}"/>
              </a:ext>
            </a:extLst>
          </p:cNvPr>
          <p:cNvSpPr>
            <a:spLocks noGrp="1"/>
          </p:cNvSpPr>
          <p:nvPr>
            <p:ph sz="quarter" idx="13"/>
          </p:nvPr>
        </p:nvSpPr>
        <p:spPr>
          <a:xfrm>
            <a:off x="457200" y="1556327"/>
            <a:ext cx="8229600" cy="3426490"/>
          </a:xfrm>
        </p:spPr>
        <p:txBody>
          <a:bodyPr/>
          <a:lstStyle/>
          <a:p>
            <a:pPr marL="255651" lvl="0" indent="-255651">
              <a:spcAft>
                <a:spcPct val="0"/>
              </a:spcAft>
              <a:buSzPts val="2400"/>
              <a:tabLst/>
            </a:pPr>
            <a:r>
              <a:rPr lang="en-US" altLang="en-US" dirty="0">
                <a:solidFill>
                  <a:srgbClr val="000000"/>
                </a:solidFill>
              </a:rPr>
              <a:t>Has a name and a unique I</a:t>
            </a:r>
            <a:r>
              <a:rPr lang="en-US" altLang="en-US" sz="100" dirty="0">
                <a:solidFill>
                  <a:srgbClr val="000000"/>
                </a:solidFill>
              </a:rPr>
              <a:t> </a:t>
            </a:r>
            <a:r>
              <a:rPr lang="en-US" altLang="en-US" dirty="0">
                <a:solidFill>
                  <a:srgbClr val="000000"/>
                </a:solidFill>
              </a:rPr>
              <a:t>D</a:t>
            </a:r>
          </a:p>
          <a:p>
            <a:pPr marL="255651" lvl="0" indent="-255651">
              <a:spcAft>
                <a:spcPct val="0"/>
              </a:spcAft>
              <a:buSzPts val="2400"/>
              <a:tabLst/>
            </a:pPr>
            <a:r>
              <a:rPr lang="en-US" altLang="en-US" dirty="0">
                <a:solidFill>
                  <a:srgbClr val="000000"/>
                </a:solidFill>
              </a:rPr>
              <a:t>Include application area</a:t>
            </a:r>
          </a:p>
          <a:p>
            <a:pPr marL="255651" lvl="0" indent="-255651">
              <a:spcAft>
                <a:spcPct val="0"/>
              </a:spcAft>
              <a:buSzPts val="2400"/>
              <a:tabLst/>
            </a:pPr>
            <a:r>
              <a:rPr lang="en-US" altLang="en-US" dirty="0">
                <a:solidFill>
                  <a:srgbClr val="000000"/>
                </a:solidFill>
              </a:rPr>
              <a:t>List actors</a:t>
            </a:r>
          </a:p>
          <a:p>
            <a:pPr marL="255651" lvl="0" indent="-255651">
              <a:spcAft>
                <a:spcPct val="0"/>
              </a:spcAft>
              <a:buSzPts val="2400"/>
              <a:tabLst/>
            </a:pPr>
            <a:r>
              <a:rPr lang="en-US" altLang="en-US" dirty="0">
                <a:solidFill>
                  <a:srgbClr val="000000"/>
                </a:solidFill>
              </a:rPr>
              <a:t>Include stakeholders</a:t>
            </a:r>
          </a:p>
          <a:p>
            <a:pPr marL="255651" lvl="0" indent="-255651">
              <a:spcAft>
                <a:spcPct val="0"/>
              </a:spcAft>
              <a:buSzPts val="2400"/>
              <a:tabLst/>
            </a:pPr>
            <a:r>
              <a:rPr lang="en-US" altLang="en-US" dirty="0">
                <a:solidFill>
                  <a:srgbClr val="000000"/>
                </a:solidFill>
              </a:rPr>
              <a:t>Include the level</a:t>
            </a:r>
          </a:p>
          <a:p>
            <a:pPr marL="255651" lvl="0" indent="-255651">
              <a:spcAft>
                <a:spcPct val="0"/>
              </a:spcAft>
              <a:buSzPts val="2400"/>
              <a:tabLst/>
            </a:pPr>
            <a:r>
              <a:rPr lang="en-US" altLang="en-US" dirty="0">
                <a:solidFill>
                  <a:srgbClr val="000000"/>
                </a:solidFill>
              </a:rPr>
              <a:t>Has a brief description of the use case</a:t>
            </a:r>
          </a:p>
        </p:txBody>
      </p:sp>
    </p:spTree>
    <p:extLst>
      <p:ext uri="{BB962C8B-B14F-4D97-AF65-F5344CB8AC3E}">
        <p14:creationId xmlns:p14="http://schemas.microsoft.com/office/powerpoint/2010/main" val="2839891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30FD7-2173-4E50-AB96-CE49F90FBB05}"/>
              </a:ext>
            </a:extLst>
          </p:cNvPr>
          <p:cNvSpPr>
            <a:spLocks noGrp="1"/>
          </p:cNvSpPr>
          <p:nvPr>
            <p:ph type="title"/>
          </p:nvPr>
        </p:nvSpPr>
        <p:spPr/>
        <p:txBody>
          <a:bodyPr/>
          <a:lstStyle/>
          <a:p>
            <a:r>
              <a:rPr lang="en-US" altLang="en-US" dirty="0">
                <a:sym typeface="Arial"/>
              </a:rPr>
              <a:t>Use Case Levels</a:t>
            </a:r>
            <a:endParaRPr lang="en-US" dirty="0"/>
          </a:p>
        </p:txBody>
      </p:sp>
      <p:sp>
        <p:nvSpPr>
          <p:cNvPr id="3" name="Content Placeholder 2">
            <a:extLst>
              <a:ext uri="{FF2B5EF4-FFF2-40B4-BE49-F238E27FC236}">
                <a16:creationId xmlns:a16="http://schemas.microsoft.com/office/drawing/2014/main" id="{69689A37-72D2-4960-96F9-30D58A9EA31B}"/>
              </a:ext>
            </a:extLst>
          </p:cNvPr>
          <p:cNvSpPr>
            <a:spLocks noGrp="1"/>
          </p:cNvSpPr>
          <p:nvPr>
            <p:ph sz="quarter" idx="13"/>
          </p:nvPr>
        </p:nvSpPr>
        <p:spPr>
          <a:xfrm>
            <a:off x="457200" y="1556327"/>
            <a:ext cx="8229600" cy="3174699"/>
          </a:xfrm>
        </p:spPr>
        <p:txBody>
          <a:bodyPr/>
          <a:lstStyle/>
          <a:p>
            <a:pPr marL="255651" lvl="0" indent="-255651">
              <a:spcAft>
                <a:spcPct val="0"/>
              </a:spcAft>
              <a:buSzPts val="2400"/>
              <a:tabLst/>
            </a:pPr>
            <a:r>
              <a:rPr lang="en-US" altLang="en-US" dirty="0">
                <a:solidFill>
                  <a:srgbClr val="000000"/>
                </a:solidFill>
              </a:rPr>
              <a:t>Use case levels describe how global or detailed the use case description is:</a:t>
            </a:r>
          </a:p>
          <a:p>
            <a:pPr marL="741553" lvl="1" indent="-284353">
              <a:spcAft>
                <a:spcPct val="0"/>
              </a:spcAft>
              <a:buSzPts val="2400"/>
            </a:pPr>
            <a:r>
              <a:rPr lang="en-US" altLang="en-US" dirty="0">
                <a:solidFill>
                  <a:srgbClr val="000000"/>
                </a:solidFill>
              </a:rPr>
              <a:t>White (like clouds): enterprise level</a:t>
            </a:r>
          </a:p>
          <a:p>
            <a:pPr marL="741553" lvl="1" indent="-284353">
              <a:spcAft>
                <a:spcPct val="0"/>
              </a:spcAft>
              <a:buSzPts val="2400"/>
            </a:pPr>
            <a:r>
              <a:rPr lang="en-US" altLang="en-US" dirty="0">
                <a:solidFill>
                  <a:srgbClr val="000000"/>
                </a:solidFill>
              </a:rPr>
              <a:t>Kite: business unit or department level</a:t>
            </a:r>
          </a:p>
          <a:p>
            <a:pPr marL="741553" lvl="1" indent="-284353">
              <a:spcAft>
                <a:spcPct val="0"/>
              </a:spcAft>
              <a:buSzPts val="2400"/>
            </a:pPr>
            <a:r>
              <a:rPr lang="en-US" altLang="en-US" dirty="0">
                <a:solidFill>
                  <a:srgbClr val="000000"/>
                </a:solidFill>
              </a:rPr>
              <a:t>Blue (sea level): user goals</a:t>
            </a:r>
          </a:p>
          <a:p>
            <a:pPr marL="741553" lvl="1" indent="-284353">
              <a:spcAft>
                <a:spcPct val="0"/>
              </a:spcAft>
              <a:buSzPts val="2400"/>
            </a:pPr>
            <a:r>
              <a:rPr lang="en-US" altLang="en-US" dirty="0">
                <a:solidFill>
                  <a:srgbClr val="000000"/>
                </a:solidFill>
              </a:rPr>
              <a:t>Indigo (or fish): functional or subfunctional</a:t>
            </a:r>
          </a:p>
          <a:p>
            <a:pPr marL="741553" lvl="1" indent="-284353">
              <a:spcAft>
                <a:spcPct val="0"/>
              </a:spcAft>
              <a:buSzPts val="2400"/>
            </a:pPr>
            <a:r>
              <a:rPr lang="en-US" altLang="en-US" dirty="0">
                <a:solidFill>
                  <a:srgbClr val="000000"/>
                </a:solidFill>
              </a:rPr>
              <a:t>Black (or clam): most detailed</a:t>
            </a:r>
          </a:p>
        </p:txBody>
      </p:sp>
    </p:spTree>
    <p:extLst>
      <p:ext uri="{BB962C8B-B14F-4D97-AF65-F5344CB8AC3E}">
        <p14:creationId xmlns:p14="http://schemas.microsoft.com/office/powerpoint/2010/main" val="620336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55FEA-2F3B-4E38-8F16-FE30364B2AAA}"/>
              </a:ext>
            </a:extLst>
          </p:cNvPr>
          <p:cNvSpPr>
            <a:spLocks noGrp="1"/>
          </p:cNvSpPr>
          <p:nvPr>
            <p:ph type="title"/>
          </p:nvPr>
        </p:nvSpPr>
        <p:spPr/>
        <p:txBody>
          <a:bodyPr/>
          <a:lstStyle/>
          <a:p>
            <a:r>
              <a:rPr lang="en-US" altLang="en-US" dirty="0">
                <a:sym typeface="Arial"/>
              </a:rPr>
              <a:t>Alternative Scenarios</a:t>
            </a:r>
            <a:endParaRPr lang="en-US" dirty="0"/>
          </a:p>
        </p:txBody>
      </p:sp>
      <p:sp>
        <p:nvSpPr>
          <p:cNvPr id="3" name="Content Placeholder 2">
            <a:extLst>
              <a:ext uri="{FF2B5EF4-FFF2-40B4-BE49-F238E27FC236}">
                <a16:creationId xmlns:a16="http://schemas.microsoft.com/office/drawing/2014/main" id="{2FE311DC-B96F-41EA-971A-97601E9B5BE3}"/>
              </a:ext>
            </a:extLst>
          </p:cNvPr>
          <p:cNvSpPr>
            <a:spLocks noGrp="1"/>
          </p:cNvSpPr>
          <p:nvPr>
            <p:ph sz="quarter" idx="13"/>
          </p:nvPr>
        </p:nvSpPr>
        <p:spPr>
          <a:xfrm>
            <a:off x="457200" y="1556327"/>
            <a:ext cx="8229600" cy="1743464"/>
          </a:xfrm>
        </p:spPr>
        <p:txBody>
          <a:bodyPr/>
          <a:lstStyle/>
          <a:p>
            <a:pPr marL="255651" lvl="0" indent="-255651">
              <a:spcAft>
                <a:spcPct val="0"/>
              </a:spcAft>
              <a:buSzPts val="2400"/>
              <a:tabLst/>
            </a:pPr>
            <a:r>
              <a:rPr lang="en-US" altLang="en-US" dirty="0">
                <a:solidFill>
                  <a:srgbClr val="000000"/>
                </a:solidFill>
              </a:rPr>
              <a:t>Extensions or exceptions to the main use case</a:t>
            </a:r>
          </a:p>
          <a:p>
            <a:pPr marL="255651" lvl="0" indent="-255651">
              <a:spcAft>
                <a:spcPct val="0"/>
              </a:spcAft>
              <a:buSzPts val="2400"/>
              <a:tabLst/>
            </a:pPr>
            <a:r>
              <a:rPr lang="en-US" altLang="en-US" dirty="0">
                <a:solidFill>
                  <a:srgbClr val="000000"/>
                </a:solidFill>
              </a:rPr>
              <a:t>Number with an integer, decimal point, integer</a:t>
            </a:r>
          </a:p>
          <a:p>
            <a:pPr marL="255651" lvl="0" indent="-255651">
              <a:spcAft>
                <a:spcPct val="0"/>
              </a:spcAft>
              <a:buSzPts val="2400"/>
              <a:tabLst/>
            </a:pPr>
            <a:r>
              <a:rPr lang="en-US" altLang="en-US" dirty="0">
                <a:solidFill>
                  <a:srgbClr val="000000"/>
                </a:solidFill>
              </a:rPr>
              <a:t>Steps that may or may not always be used</a:t>
            </a:r>
          </a:p>
        </p:txBody>
      </p:sp>
    </p:spTree>
    <p:extLst>
      <p:ext uri="{BB962C8B-B14F-4D97-AF65-F5344CB8AC3E}">
        <p14:creationId xmlns:p14="http://schemas.microsoft.com/office/powerpoint/2010/main" val="131507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CD7BA-4150-4B09-8B91-1C322E03FD62}"/>
              </a:ext>
            </a:extLst>
          </p:cNvPr>
          <p:cNvSpPr>
            <a:spLocks noGrp="1"/>
          </p:cNvSpPr>
          <p:nvPr>
            <p:ph type="title"/>
          </p:nvPr>
        </p:nvSpPr>
        <p:spPr/>
        <p:txBody>
          <a:bodyPr/>
          <a:lstStyle/>
          <a:p>
            <a:r>
              <a:rPr lang="en-US" altLang="en-US" dirty="0">
                <a:sym typeface="Arial"/>
              </a:rPr>
              <a:t>Use Case Footer Area</a:t>
            </a:r>
            <a:endParaRPr lang="en-US" dirty="0"/>
          </a:p>
        </p:txBody>
      </p:sp>
      <p:sp>
        <p:nvSpPr>
          <p:cNvPr id="3" name="Content Placeholder 2">
            <a:extLst>
              <a:ext uri="{FF2B5EF4-FFF2-40B4-BE49-F238E27FC236}">
                <a16:creationId xmlns:a16="http://schemas.microsoft.com/office/drawing/2014/main" id="{550570B1-8A6E-46E8-9B24-094CD3F736A3}"/>
              </a:ext>
            </a:extLst>
          </p:cNvPr>
          <p:cNvSpPr>
            <a:spLocks noGrp="1"/>
          </p:cNvSpPr>
          <p:nvPr>
            <p:ph sz="quarter" idx="13"/>
          </p:nvPr>
        </p:nvSpPr>
        <p:spPr/>
        <p:txBody>
          <a:bodyPr/>
          <a:lstStyle/>
          <a:p>
            <a:pPr marL="255651" lvl="0" indent="-255651">
              <a:spcAft>
                <a:spcPct val="0"/>
              </a:spcAft>
              <a:buSzPts val="2400"/>
              <a:tabLst/>
            </a:pPr>
            <a:r>
              <a:rPr lang="en-US" altLang="en-US" dirty="0">
                <a:solidFill>
                  <a:srgbClr val="000000"/>
                </a:solidFill>
              </a:rPr>
              <a:t>Preconditions—need to be met before use case can be performed</a:t>
            </a:r>
          </a:p>
          <a:p>
            <a:pPr marL="255651" lvl="0" indent="-255651">
              <a:spcAft>
                <a:spcPct val="0"/>
              </a:spcAft>
              <a:buSzPts val="2400"/>
              <a:tabLst/>
            </a:pPr>
            <a:r>
              <a:rPr lang="en-US" altLang="en-US" dirty="0">
                <a:solidFill>
                  <a:srgbClr val="000000"/>
                </a:solidFill>
              </a:rPr>
              <a:t>Postconditions or the state of the system after the use case has finished</a:t>
            </a:r>
          </a:p>
          <a:p>
            <a:pPr marL="255651" lvl="0" indent="-255651">
              <a:spcAft>
                <a:spcPct val="0"/>
              </a:spcAft>
              <a:buSzPts val="2400"/>
              <a:tabLst/>
            </a:pPr>
            <a:r>
              <a:rPr lang="en-US" altLang="en-US" dirty="0">
                <a:solidFill>
                  <a:srgbClr val="000000"/>
                </a:solidFill>
              </a:rPr>
              <a:t>Assumptions</a:t>
            </a:r>
          </a:p>
          <a:p>
            <a:pPr marL="255651" lvl="0" indent="-255651">
              <a:spcAft>
                <a:spcPct val="0"/>
              </a:spcAft>
              <a:buSzPts val="2400"/>
              <a:tabLst/>
            </a:pPr>
            <a:r>
              <a:rPr lang="en-US" altLang="en-US" dirty="0">
                <a:solidFill>
                  <a:srgbClr val="000000"/>
                </a:solidFill>
              </a:rPr>
              <a:t>Minimal guarantee</a:t>
            </a:r>
          </a:p>
          <a:p>
            <a:pPr marL="255651" lvl="0" indent="-255651">
              <a:spcAft>
                <a:spcPct val="0"/>
              </a:spcAft>
              <a:buSzPts val="2400"/>
              <a:tabLst/>
            </a:pPr>
            <a:r>
              <a:rPr lang="en-US" altLang="en-US" dirty="0">
                <a:solidFill>
                  <a:srgbClr val="000000"/>
                </a:solidFill>
              </a:rPr>
              <a:t>Success guarantee</a:t>
            </a:r>
          </a:p>
          <a:p>
            <a:pPr marL="255651" lvl="0" indent="-255651">
              <a:spcAft>
                <a:spcPct val="0"/>
              </a:spcAft>
              <a:buSzPts val="2400"/>
              <a:tabLst/>
            </a:pPr>
            <a:r>
              <a:rPr lang="en-US" altLang="en-US" dirty="0">
                <a:solidFill>
                  <a:srgbClr val="000000"/>
                </a:solidFill>
              </a:rPr>
              <a:t>Outstanding issues</a:t>
            </a:r>
          </a:p>
          <a:p>
            <a:pPr marL="255651" lvl="0" indent="-255651">
              <a:spcAft>
                <a:spcPct val="0"/>
              </a:spcAft>
              <a:buSzPts val="2400"/>
              <a:tabLst/>
            </a:pPr>
            <a:r>
              <a:rPr lang="en-US" altLang="en-US" dirty="0">
                <a:solidFill>
                  <a:srgbClr val="000000"/>
                </a:solidFill>
              </a:rPr>
              <a:t>Optional priority and risk</a:t>
            </a:r>
          </a:p>
        </p:txBody>
      </p:sp>
    </p:spTree>
    <p:extLst>
      <p:ext uri="{BB962C8B-B14F-4D97-AF65-F5344CB8AC3E}">
        <p14:creationId xmlns:p14="http://schemas.microsoft.com/office/powerpoint/2010/main" val="1468945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98833-1FC5-4408-BED2-D8FC93F410DE}"/>
              </a:ext>
            </a:extLst>
          </p:cNvPr>
          <p:cNvSpPr>
            <a:spLocks noGrp="1"/>
          </p:cNvSpPr>
          <p:nvPr>
            <p:ph type="title"/>
          </p:nvPr>
        </p:nvSpPr>
        <p:spPr/>
        <p:txBody>
          <a:bodyPr/>
          <a:lstStyle/>
          <a:p>
            <a:r>
              <a:rPr lang="en-US" altLang="en-US" sz="3400" dirty="0">
                <a:sym typeface="Arial"/>
              </a:rPr>
              <a:t>Four Steps Used to Create Use Cases</a:t>
            </a:r>
            <a:endParaRPr lang="en-US" sz="3400" dirty="0"/>
          </a:p>
        </p:txBody>
      </p:sp>
      <p:sp>
        <p:nvSpPr>
          <p:cNvPr id="3" name="Content Placeholder 2">
            <a:extLst>
              <a:ext uri="{FF2B5EF4-FFF2-40B4-BE49-F238E27FC236}">
                <a16:creationId xmlns:a16="http://schemas.microsoft.com/office/drawing/2014/main" id="{F0C08163-A9AF-41B4-B847-37DC86474392}"/>
              </a:ext>
            </a:extLst>
          </p:cNvPr>
          <p:cNvSpPr>
            <a:spLocks noGrp="1"/>
          </p:cNvSpPr>
          <p:nvPr>
            <p:ph sz="quarter" idx="13"/>
          </p:nvPr>
        </p:nvSpPr>
        <p:spPr>
          <a:xfrm>
            <a:off x="457200" y="1556327"/>
            <a:ext cx="8229600" cy="2777134"/>
          </a:xfrm>
        </p:spPr>
        <p:txBody>
          <a:bodyPr/>
          <a:lstStyle/>
          <a:p>
            <a:pPr marL="255651" lvl="0" indent="-255651">
              <a:spcAft>
                <a:spcPct val="0"/>
              </a:spcAft>
              <a:buSzPts val="2400"/>
              <a:tabLst/>
            </a:pPr>
            <a:r>
              <a:rPr lang="en-US" altLang="en-US" dirty="0">
                <a:solidFill>
                  <a:srgbClr val="000000"/>
                </a:solidFill>
              </a:rPr>
              <a:t>Use agile stories, problem definition objectives, user requirements, or a features list</a:t>
            </a:r>
          </a:p>
          <a:p>
            <a:pPr marL="255651" lvl="0" indent="-255651">
              <a:spcAft>
                <a:spcPct val="0"/>
              </a:spcAft>
              <a:buSzPts val="2400"/>
              <a:tabLst/>
            </a:pPr>
            <a:r>
              <a:rPr lang="en-US" altLang="en-US" dirty="0">
                <a:solidFill>
                  <a:srgbClr val="000000"/>
                </a:solidFill>
              </a:rPr>
              <a:t>Ask about the tasks that must be done</a:t>
            </a:r>
          </a:p>
          <a:p>
            <a:pPr marL="255651" lvl="0" indent="-255651">
              <a:spcAft>
                <a:spcPct val="0"/>
              </a:spcAft>
              <a:buSzPts val="2400"/>
              <a:tabLst/>
            </a:pPr>
            <a:r>
              <a:rPr lang="en-US" altLang="en-US" dirty="0">
                <a:solidFill>
                  <a:srgbClr val="000000"/>
                </a:solidFill>
              </a:rPr>
              <a:t>Determine if there are any iterative or looping actions</a:t>
            </a:r>
          </a:p>
          <a:p>
            <a:pPr marL="255651" lvl="0" indent="-255651">
              <a:spcAft>
                <a:spcPct val="0"/>
              </a:spcAft>
              <a:buSzPts val="2400"/>
              <a:tabLst/>
            </a:pPr>
            <a:r>
              <a:rPr lang="en-US" altLang="en-US" dirty="0">
                <a:solidFill>
                  <a:srgbClr val="000000"/>
                </a:solidFill>
              </a:rPr>
              <a:t>The use case ends when the customer goal is complete</a:t>
            </a:r>
          </a:p>
        </p:txBody>
      </p:sp>
    </p:spTree>
    <p:extLst>
      <p:ext uri="{BB962C8B-B14F-4D97-AF65-F5344CB8AC3E}">
        <p14:creationId xmlns:p14="http://schemas.microsoft.com/office/powerpoint/2010/main" val="40710021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C220-5704-49F7-8BEF-AE0A8D8C7C2A}"/>
              </a:ext>
            </a:extLst>
          </p:cNvPr>
          <p:cNvSpPr>
            <a:spLocks noGrp="1"/>
          </p:cNvSpPr>
          <p:nvPr>
            <p:ph type="title"/>
          </p:nvPr>
        </p:nvSpPr>
        <p:spPr/>
        <p:txBody>
          <a:bodyPr/>
          <a:lstStyle/>
          <a:p>
            <a:r>
              <a:rPr lang="en-US" altLang="en-US" dirty="0">
                <a:sym typeface="Arial"/>
              </a:rPr>
              <a:t>Why Use Case Diagrams Are Helpful</a:t>
            </a:r>
            <a:endParaRPr lang="en-US" dirty="0"/>
          </a:p>
        </p:txBody>
      </p:sp>
      <p:sp>
        <p:nvSpPr>
          <p:cNvPr id="3" name="Content Placeholder 2">
            <a:extLst>
              <a:ext uri="{FF2B5EF4-FFF2-40B4-BE49-F238E27FC236}">
                <a16:creationId xmlns:a16="http://schemas.microsoft.com/office/drawing/2014/main" id="{02B933EB-1D44-4880-8651-F1FB86193758}"/>
              </a:ext>
            </a:extLst>
          </p:cNvPr>
          <p:cNvSpPr>
            <a:spLocks noGrp="1"/>
          </p:cNvSpPr>
          <p:nvPr>
            <p:ph sz="quarter" idx="13"/>
          </p:nvPr>
        </p:nvSpPr>
        <p:spPr>
          <a:xfrm>
            <a:off x="457200" y="1556327"/>
            <a:ext cx="8229600" cy="2684369"/>
          </a:xfrm>
        </p:spPr>
        <p:txBody>
          <a:bodyPr/>
          <a:lstStyle/>
          <a:p>
            <a:pPr marL="255651" lvl="0" indent="-255651">
              <a:spcAft>
                <a:spcPct val="0"/>
              </a:spcAft>
              <a:buSzPts val="2400"/>
              <a:tabLst/>
            </a:pPr>
            <a:r>
              <a:rPr lang="en-US" altLang="en-US" dirty="0">
                <a:solidFill>
                  <a:srgbClr val="000000"/>
                </a:solidFill>
              </a:rPr>
              <a:t>Identify all the actors in the problem domain</a:t>
            </a:r>
          </a:p>
          <a:p>
            <a:pPr marL="255651" lvl="0" indent="-255651">
              <a:spcAft>
                <a:spcPct val="0"/>
              </a:spcAft>
              <a:buSzPts val="2400"/>
              <a:tabLst/>
            </a:pPr>
            <a:r>
              <a:rPr lang="en-US" altLang="en-US" dirty="0">
                <a:solidFill>
                  <a:srgbClr val="000000"/>
                </a:solidFill>
              </a:rPr>
              <a:t>Actions that need to be completed are also clearly shown on the use case diagram</a:t>
            </a:r>
          </a:p>
          <a:p>
            <a:pPr marL="255651" lvl="0" indent="-255651">
              <a:spcAft>
                <a:spcPct val="0"/>
              </a:spcAft>
              <a:buSzPts val="2400"/>
              <a:tabLst/>
            </a:pPr>
            <a:r>
              <a:rPr lang="en-US" altLang="en-US" dirty="0">
                <a:solidFill>
                  <a:srgbClr val="000000"/>
                </a:solidFill>
              </a:rPr>
              <a:t>The use case scenario is also worthwhile</a:t>
            </a:r>
          </a:p>
          <a:p>
            <a:pPr marL="255651" lvl="0" indent="-255651">
              <a:spcAft>
                <a:spcPct val="0"/>
              </a:spcAft>
              <a:buSzPts val="2400"/>
              <a:tabLst/>
            </a:pPr>
            <a:r>
              <a:rPr lang="en-US" altLang="en-US" dirty="0">
                <a:solidFill>
                  <a:srgbClr val="000000"/>
                </a:solidFill>
              </a:rPr>
              <a:t>Simplicity and lack of technical detail</a:t>
            </a:r>
          </a:p>
        </p:txBody>
      </p:sp>
    </p:spTree>
    <p:extLst>
      <p:ext uri="{BB962C8B-B14F-4D97-AF65-F5344CB8AC3E}">
        <p14:creationId xmlns:p14="http://schemas.microsoft.com/office/powerpoint/2010/main" val="11252115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10527-05FA-407E-981A-5034700EBB94}"/>
              </a:ext>
            </a:extLst>
          </p:cNvPr>
          <p:cNvSpPr>
            <a:spLocks noGrp="1"/>
          </p:cNvSpPr>
          <p:nvPr>
            <p:ph type="title"/>
          </p:nvPr>
        </p:nvSpPr>
        <p:spPr/>
        <p:txBody>
          <a:bodyPr/>
          <a:lstStyle/>
          <a:p>
            <a:r>
              <a:rPr lang="en-US" altLang="en-US" sz="3200" dirty="0">
                <a:sym typeface="Arial"/>
              </a:rPr>
              <a:t>Reasons for Writing Use Cases</a:t>
            </a:r>
            <a:endParaRPr lang="en-US" sz="3200" dirty="0"/>
          </a:p>
        </p:txBody>
      </p:sp>
      <p:sp>
        <p:nvSpPr>
          <p:cNvPr id="3" name="Content Placeholder 2">
            <a:extLst>
              <a:ext uri="{FF2B5EF4-FFF2-40B4-BE49-F238E27FC236}">
                <a16:creationId xmlns:a16="http://schemas.microsoft.com/office/drawing/2014/main" id="{5BD6FAB2-C07B-4ECE-8806-7F753121C746}"/>
              </a:ext>
            </a:extLst>
          </p:cNvPr>
          <p:cNvSpPr>
            <a:spLocks noGrp="1"/>
          </p:cNvSpPr>
          <p:nvPr>
            <p:ph sz="quarter" idx="13"/>
          </p:nvPr>
        </p:nvSpPr>
        <p:spPr>
          <a:xfrm>
            <a:off x="457200" y="1556327"/>
            <a:ext cx="8229600" cy="4680000"/>
          </a:xfrm>
        </p:spPr>
        <p:txBody>
          <a:bodyPr/>
          <a:lstStyle/>
          <a:p>
            <a:pPr>
              <a:spcBef>
                <a:spcPts val="1000"/>
              </a:spcBef>
            </a:pPr>
            <a:r>
              <a:rPr lang="en-US" sz="2000" dirty="0"/>
              <a:t>Use cases effectively communicate systems requirements because the diagrams are kept simple.</a:t>
            </a:r>
          </a:p>
          <a:p>
            <a:pPr>
              <a:spcBef>
                <a:spcPts val="1000"/>
              </a:spcBef>
            </a:pPr>
            <a:r>
              <a:rPr lang="en-US" sz="2000" dirty="0"/>
              <a:t>Use cases allow people to tell stories.</a:t>
            </a:r>
          </a:p>
          <a:p>
            <a:pPr>
              <a:spcBef>
                <a:spcPts val="1000"/>
              </a:spcBef>
            </a:pPr>
            <a:r>
              <a:rPr lang="en-US" sz="2000" dirty="0"/>
              <a:t>Use case stories make sense to nontechnical people.</a:t>
            </a:r>
          </a:p>
          <a:p>
            <a:pPr>
              <a:spcBef>
                <a:spcPts val="1000"/>
              </a:spcBef>
            </a:pPr>
            <a:r>
              <a:rPr lang="en-US" sz="2000" dirty="0"/>
              <a:t>Use cases do not depend on a special language.</a:t>
            </a:r>
          </a:p>
          <a:p>
            <a:pPr>
              <a:spcBef>
                <a:spcPts val="1000"/>
              </a:spcBef>
            </a:pPr>
            <a:r>
              <a:rPr lang="en-US" sz="2000" dirty="0"/>
              <a:t>Use cases can describe most functional requirements (such as interactions between actors and applications).</a:t>
            </a:r>
          </a:p>
          <a:p>
            <a:pPr>
              <a:spcBef>
                <a:spcPts val="1000"/>
              </a:spcBef>
            </a:pPr>
            <a:r>
              <a:rPr lang="en-US" sz="2000" dirty="0"/>
              <a:t>Use cases can describe nonfunctional requirements (such as performance and maintainability) through the use of stereotypes.</a:t>
            </a:r>
          </a:p>
          <a:p>
            <a:pPr>
              <a:spcBef>
                <a:spcPts val="1000"/>
              </a:spcBef>
            </a:pPr>
            <a:r>
              <a:rPr lang="en-US" sz="2000" dirty="0"/>
              <a:t>Use cases help analysts define boundaries.</a:t>
            </a:r>
          </a:p>
          <a:p>
            <a:pPr>
              <a:spcBef>
                <a:spcPts val="1000"/>
              </a:spcBef>
            </a:pPr>
            <a:r>
              <a:rPr lang="en-US" sz="2000" dirty="0"/>
              <a:t>Use cases can be traceable, allowing analysts to identify links between use cases and other design and documentation tools.</a:t>
            </a:r>
          </a:p>
        </p:txBody>
      </p:sp>
    </p:spTree>
    <p:extLst>
      <p:ext uri="{BB962C8B-B14F-4D97-AF65-F5344CB8AC3E}">
        <p14:creationId xmlns:p14="http://schemas.microsoft.com/office/powerpoint/2010/main" val="14914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40413-4066-49B3-8E6D-8A51479858C1}"/>
              </a:ext>
            </a:extLst>
          </p:cNvPr>
          <p:cNvSpPr>
            <a:spLocks noGrp="1"/>
          </p:cNvSpPr>
          <p:nvPr>
            <p:ph type="title"/>
          </p:nvPr>
        </p:nvSpPr>
        <p:spPr>
          <a:xfrm>
            <a:off x="457200" y="215371"/>
            <a:ext cx="8438606" cy="1097279"/>
          </a:xfrm>
        </p:spPr>
        <p:txBody>
          <a:bodyPr/>
          <a:lstStyle/>
          <a:p>
            <a:r>
              <a:rPr lang="en-US" altLang="en-US" sz="2400" dirty="0">
                <a:sym typeface="Arial"/>
              </a:rPr>
              <a:t>Figure 10.4 An Overall View of U</a:t>
            </a:r>
            <a:r>
              <a:rPr lang="en-US" altLang="en-US" sz="100" dirty="0">
                <a:sym typeface="Arial"/>
              </a:rPr>
              <a:t> </a:t>
            </a:r>
            <a:r>
              <a:rPr lang="en-US" altLang="en-US" sz="2400" dirty="0">
                <a:sym typeface="Arial"/>
              </a:rPr>
              <a:t>M</a:t>
            </a:r>
            <a:r>
              <a:rPr lang="en-US" altLang="en-US" sz="100" dirty="0">
                <a:sym typeface="Arial"/>
              </a:rPr>
              <a:t> </a:t>
            </a:r>
            <a:r>
              <a:rPr lang="en-US" altLang="en-US" sz="2400" dirty="0">
                <a:sym typeface="Arial"/>
              </a:rPr>
              <a:t>L and Its Components: Things, Relationships, and Diagrams </a:t>
            </a:r>
            <a:r>
              <a:rPr lang="en-US" altLang="en-US" sz="2000" b="0" dirty="0">
                <a:sym typeface="Arial"/>
              </a:rPr>
              <a:t>(1 of 2)</a:t>
            </a:r>
            <a:endParaRPr lang="en-US" sz="2000" b="0" dirty="0"/>
          </a:p>
        </p:txBody>
      </p:sp>
      <p:graphicFrame>
        <p:nvGraphicFramePr>
          <p:cNvPr id="4" name="Table 3">
            <a:extLst>
              <a:ext uri="{FF2B5EF4-FFF2-40B4-BE49-F238E27FC236}">
                <a16:creationId xmlns:a16="http://schemas.microsoft.com/office/drawing/2014/main" id="{8F3F7E67-A93B-4F85-BC2A-631F659878DC}"/>
              </a:ext>
            </a:extLst>
          </p:cNvPr>
          <p:cNvGraphicFramePr>
            <a:graphicFrameLocks noGrp="1"/>
          </p:cNvGraphicFramePr>
          <p:nvPr>
            <p:extLst>
              <p:ext uri="{D42A27DB-BD31-4B8C-83A1-F6EECF244321}">
                <p14:modId xmlns:p14="http://schemas.microsoft.com/office/powerpoint/2010/main" val="577470797"/>
              </p:ext>
            </p:extLst>
          </p:nvPr>
        </p:nvGraphicFramePr>
        <p:xfrm>
          <a:off x="1621766" y="1540223"/>
          <a:ext cx="5900467" cy="4721432"/>
        </p:xfrm>
        <a:graphic>
          <a:graphicData uri="http://schemas.openxmlformats.org/drawingml/2006/table">
            <a:tbl>
              <a:tblPr firstRow="1" firstCol="1" bandRow="1">
                <a:tableStyleId>{40F9630F-82C1-40B7-BC3A-925EFCFF5E92}</a:tableStyleId>
              </a:tblPr>
              <a:tblGrid>
                <a:gridCol w="1646975">
                  <a:extLst>
                    <a:ext uri="{9D8B030D-6E8A-4147-A177-3AD203B41FA5}">
                      <a16:colId xmlns:a16="http://schemas.microsoft.com/office/drawing/2014/main" val="2280425707"/>
                    </a:ext>
                  </a:extLst>
                </a:gridCol>
                <a:gridCol w="1890441">
                  <a:extLst>
                    <a:ext uri="{9D8B030D-6E8A-4147-A177-3AD203B41FA5}">
                      <a16:colId xmlns:a16="http://schemas.microsoft.com/office/drawing/2014/main" val="3925313438"/>
                    </a:ext>
                  </a:extLst>
                </a:gridCol>
                <a:gridCol w="2363051">
                  <a:extLst>
                    <a:ext uri="{9D8B030D-6E8A-4147-A177-3AD203B41FA5}">
                      <a16:colId xmlns:a16="http://schemas.microsoft.com/office/drawing/2014/main" val="923466277"/>
                    </a:ext>
                  </a:extLst>
                </a:gridCol>
              </a:tblGrid>
              <a:tr h="362792">
                <a:tc>
                  <a:txBody>
                    <a:bodyPr/>
                    <a:lstStyle/>
                    <a:p>
                      <a:r>
                        <a:rPr lang="en-US" sz="1600" b="1" i="0" u="none" strike="noStrike" cap="none" baseline="0" dirty="0">
                          <a:solidFill>
                            <a:schemeClr val="dk1"/>
                          </a:solidFill>
                          <a:latin typeface="+mn-lt"/>
                          <a:ea typeface="Arial"/>
                          <a:cs typeface="Arial" panose="020B0604020202020204" pitchFamily="34" charset="0"/>
                          <a:sym typeface="Arial"/>
                        </a:rPr>
                        <a:t>U</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M</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L Category</a:t>
                      </a:r>
                      <a:endParaRPr lang="en-US" sz="1600" dirty="0">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u="none" strike="noStrike" cap="none" baseline="0" dirty="0">
                          <a:solidFill>
                            <a:schemeClr val="dk1"/>
                          </a:solidFill>
                          <a:latin typeface="+mn-lt"/>
                          <a:ea typeface="Arial"/>
                          <a:cs typeface="Arial" panose="020B0604020202020204" pitchFamily="34" charset="0"/>
                          <a:sym typeface="Arial"/>
                        </a:rPr>
                        <a:t>U</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M</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L Elements</a:t>
                      </a:r>
                      <a:endParaRPr lang="en-US" sz="1600" dirty="0">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u="none" strike="noStrike" cap="none" baseline="0" dirty="0">
                          <a:solidFill>
                            <a:schemeClr val="dk1"/>
                          </a:solidFill>
                          <a:latin typeface="+mn-lt"/>
                          <a:ea typeface="Arial"/>
                          <a:cs typeface="Arial" panose="020B0604020202020204" pitchFamily="34" charset="0"/>
                          <a:sym typeface="Arial"/>
                        </a:rPr>
                        <a:t>Specific U</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M</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L Details</a:t>
                      </a:r>
                      <a:endParaRPr lang="en-US" sz="1600" dirty="0">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879387"/>
                  </a:ext>
                </a:extLst>
              </a:tr>
              <a:tr h="1400058">
                <a:tc>
                  <a:txBody>
                    <a:bodyPr/>
                    <a:lstStyle/>
                    <a:p>
                      <a:r>
                        <a:rPr lang="en-US" sz="1600" b="1" i="0" u="none" strike="noStrike" cap="none" baseline="0" dirty="0">
                          <a:solidFill>
                            <a:schemeClr val="dk1"/>
                          </a:solidFill>
                          <a:latin typeface="+mn-lt"/>
                          <a:ea typeface="Arial"/>
                          <a:cs typeface="Arial" panose="020B0604020202020204" pitchFamily="34" charset="0"/>
                          <a:sym typeface="Arial"/>
                        </a:rPr>
                        <a:t>Things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Structural Things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Classes</a:t>
                      </a:r>
                    </a:p>
                    <a:p>
                      <a:r>
                        <a:rPr lang="en-US" sz="1600" b="0" i="0" u="none" strike="noStrike" cap="none" baseline="0" dirty="0">
                          <a:solidFill>
                            <a:schemeClr val="dk1"/>
                          </a:solidFill>
                          <a:latin typeface="+mn-lt"/>
                          <a:ea typeface="Arial"/>
                          <a:cs typeface="Arial" panose="020B0604020202020204" pitchFamily="34" charset="0"/>
                          <a:sym typeface="Arial"/>
                        </a:rPr>
                        <a:t>Interfaces</a:t>
                      </a:r>
                    </a:p>
                    <a:p>
                      <a:r>
                        <a:rPr lang="en-US" sz="1600" b="0" i="0" u="none" strike="noStrike" cap="none" baseline="0" dirty="0">
                          <a:solidFill>
                            <a:schemeClr val="dk1"/>
                          </a:solidFill>
                          <a:latin typeface="+mn-lt"/>
                          <a:ea typeface="Arial"/>
                          <a:cs typeface="Arial" panose="020B0604020202020204" pitchFamily="34" charset="0"/>
                          <a:sym typeface="Arial"/>
                        </a:rPr>
                        <a:t>Collaborations</a:t>
                      </a:r>
                    </a:p>
                    <a:p>
                      <a:r>
                        <a:rPr lang="en-US" sz="1600" b="0" i="0" u="none" strike="noStrike" cap="none" baseline="0" dirty="0">
                          <a:solidFill>
                            <a:schemeClr val="dk1"/>
                          </a:solidFill>
                          <a:latin typeface="+mn-lt"/>
                          <a:ea typeface="Arial"/>
                          <a:cs typeface="Arial" panose="020B0604020202020204" pitchFamily="34" charset="0"/>
                          <a:sym typeface="Arial"/>
                        </a:rPr>
                        <a:t>Use Cases</a:t>
                      </a:r>
                    </a:p>
                    <a:p>
                      <a:r>
                        <a:rPr lang="en-US" sz="1600" b="0" i="0" u="none" strike="noStrike" cap="none" baseline="0" dirty="0">
                          <a:solidFill>
                            <a:schemeClr val="dk1"/>
                          </a:solidFill>
                          <a:latin typeface="+mn-lt"/>
                          <a:ea typeface="Arial"/>
                          <a:cs typeface="Arial" panose="020B0604020202020204" pitchFamily="34" charset="0"/>
                          <a:sym typeface="Arial"/>
                        </a:rPr>
                        <a:t>Active Classes</a:t>
                      </a:r>
                    </a:p>
                    <a:p>
                      <a:r>
                        <a:rPr lang="en-US" sz="1600" b="0" i="0" u="none" strike="noStrike" cap="none" baseline="0" dirty="0">
                          <a:solidFill>
                            <a:schemeClr val="dk1"/>
                          </a:solidFill>
                          <a:latin typeface="+mn-lt"/>
                          <a:ea typeface="Arial"/>
                          <a:cs typeface="Arial" panose="020B0604020202020204" pitchFamily="34" charset="0"/>
                          <a:sym typeface="Arial"/>
                        </a:rPr>
                        <a:t>Components</a:t>
                      </a:r>
                    </a:p>
                    <a:p>
                      <a:r>
                        <a:rPr lang="en-US" sz="1600" b="0" i="0" u="none" strike="noStrike" cap="none" baseline="0" dirty="0">
                          <a:solidFill>
                            <a:schemeClr val="dk1"/>
                          </a:solidFill>
                          <a:latin typeface="+mn-lt"/>
                          <a:ea typeface="Arial"/>
                          <a:cs typeface="Arial" panose="020B0604020202020204" pitchFamily="34" charset="0"/>
                          <a:sym typeface="Arial"/>
                        </a:rPr>
                        <a:t>Nodes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4176907"/>
                  </a:ext>
                </a:extLst>
              </a:tr>
              <a:tr h="3758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dirty="0">
                          <a:solidFill>
                            <a:schemeClr val="tx1"/>
                          </a:solidFill>
                          <a:latin typeface="+mn-lt"/>
                          <a:ea typeface="Arial"/>
                          <a:cs typeface="Arial" panose="020B0604020202020204" pitchFamily="34" charset="0"/>
                          <a:sym typeface="Arial"/>
                        </a:rPr>
                        <a:t>Things</a:t>
                      </a:r>
                      <a:endParaRPr lang="en-US" sz="1600" dirty="0">
                        <a:solidFill>
                          <a:schemeClr val="tx1"/>
                        </a:solidFill>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Behavioral Things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Interactions</a:t>
                      </a:r>
                    </a:p>
                    <a:p>
                      <a:r>
                        <a:rPr lang="en-US" sz="1600" b="0" i="0" u="none" strike="noStrike" cap="none" baseline="0" dirty="0">
                          <a:solidFill>
                            <a:schemeClr val="dk1"/>
                          </a:solidFill>
                          <a:latin typeface="+mn-lt"/>
                          <a:ea typeface="Arial"/>
                          <a:cs typeface="Arial" panose="020B0604020202020204" pitchFamily="34" charset="0"/>
                          <a:sym typeface="Arial"/>
                        </a:rPr>
                        <a:t>State Machines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143218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dirty="0">
                          <a:solidFill>
                            <a:schemeClr val="tx1"/>
                          </a:solidFill>
                          <a:latin typeface="+mn-lt"/>
                          <a:ea typeface="Arial"/>
                          <a:cs typeface="Arial" panose="020B0604020202020204" pitchFamily="34" charset="0"/>
                          <a:sym typeface="Arial"/>
                        </a:rPr>
                        <a:t>Things</a:t>
                      </a:r>
                      <a:endParaRPr lang="en-US" sz="1600" dirty="0">
                        <a:solidFill>
                          <a:schemeClr val="tx1"/>
                        </a:solidFill>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Grouping Things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Packages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4498216"/>
                  </a:ext>
                </a:extLst>
              </a:tr>
              <a:tr h="378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dirty="0">
                          <a:solidFill>
                            <a:schemeClr val="tx1"/>
                          </a:solidFill>
                          <a:latin typeface="+mn-lt"/>
                          <a:ea typeface="Arial"/>
                          <a:cs typeface="Arial" panose="020B0604020202020204" pitchFamily="34" charset="0"/>
                          <a:sym typeface="Arial"/>
                        </a:rPr>
                        <a:t>Things</a:t>
                      </a:r>
                      <a:endParaRPr lang="en-US" sz="1600" dirty="0">
                        <a:solidFill>
                          <a:schemeClr val="tx1"/>
                        </a:solidFill>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Annotational Things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Notes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0704947"/>
                  </a:ext>
                </a:extLst>
              </a:tr>
              <a:tr h="549994">
                <a:tc>
                  <a:txBody>
                    <a:bodyPr/>
                    <a:lstStyle/>
                    <a:p>
                      <a:r>
                        <a:rPr lang="en-US" sz="1600" b="1" i="0" u="none" strike="noStrike" cap="none" baseline="0" dirty="0">
                          <a:solidFill>
                            <a:schemeClr val="dk1"/>
                          </a:solidFill>
                          <a:latin typeface="+mn-lt"/>
                          <a:ea typeface="Arial"/>
                          <a:cs typeface="Arial" panose="020B0604020202020204" pitchFamily="34" charset="0"/>
                          <a:sym typeface="Arial"/>
                        </a:rPr>
                        <a:t>Relationships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Structural Relationships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Dependencies</a:t>
                      </a:r>
                    </a:p>
                    <a:p>
                      <a:r>
                        <a:rPr lang="en-US" sz="1600" b="0" i="0" u="none" strike="noStrike" cap="none" baseline="0" dirty="0">
                          <a:solidFill>
                            <a:schemeClr val="dk1"/>
                          </a:solidFill>
                          <a:latin typeface="+mn-lt"/>
                          <a:ea typeface="Arial"/>
                          <a:cs typeface="Arial" panose="020B0604020202020204" pitchFamily="34" charset="0"/>
                          <a:sym typeface="Arial"/>
                        </a:rPr>
                        <a:t>Aggregations</a:t>
                      </a:r>
                    </a:p>
                    <a:p>
                      <a:r>
                        <a:rPr lang="en-US" sz="1600" b="0" i="0" u="none" strike="noStrike" cap="none" baseline="0" dirty="0">
                          <a:solidFill>
                            <a:schemeClr val="dk1"/>
                          </a:solidFill>
                          <a:latin typeface="+mn-lt"/>
                          <a:ea typeface="Arial"/>
                          <a:cs typeface="Arial" panose="020B0604020202020204" pitchFamily="34" charset="0"/>
                          <a:sym typeface="Arial"/>
                        </a:rPr>
                        <a:t>Associations</a:t>
                      </a:r>
                    </a:p>
                    <a:p>
                      <a:r>
                        <a:rPr lang="en-US" sz="1600" b="0" i="0" u="none" strike="noStrike" cap="none" baseline="0" dirty="0">
                          <a:solidFill>
                            <a:schemeClr val="dk1"/>
                          </a:solidFill>
                          <a:latin typeface="+mn-lt"/>
                          <a:ea typeface="Arial"/>
                          <a:cs typeface="Arial" panose="020B0604020202020204" pitchFamily="34" charset="0"/>
                          <a:sym typeface="Arial"/>
                        </a:rPr>
                        <a:t>Generalizations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8362406"/>
                  </a:ext>
                </a:extLst>
              </a:tr>
            </a:tbl>
          </a:graphicData>
        </a:graphic>
      </p:graphicFrame>
    </p:spTree>
    <p:extLst>
      <p:ext uri="{BB962C8B-B14F-4D97-AF65-F5344CB8AC3E}">
        <p14:creationId xmlns:p14="http://schemas.microsoft.com/office/powerpoint/2010/main" val="24920763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240BC-561A-4AFB-8FFE-89A8BF21C6EA}"/>
              </a:ext>
            </a:extLst>
          </p:cNvPr>
          <p:cNvSpPr>
            <a:spLocks noGrp="1"/>
          </p:cNvSpPr>
          <p:nvPr>
            <p:ph type="title"/>
          </p:nvPr>
        </p:nvSpPr>
        <p:spPr>
          <a:xfrm>
            <a:off x="457200" y="215371"/>
            <a:ext cx="8438606" cy="1097279"/>
          </a:xfrm>
        </p:spPr>
        <p:txBody>
          <a:bodyPr/>
          <a:lstStyle/>
          <a:p>
            <a:r>
              <a:rPr lang="en-US" altLang="en-US" sz="2400" dirty="0">
                <a:sym typeface="Arial"/>
              </a:rPr>
              <a:t>Figure 10.4 An Overall View of U</a:t>
            </a:r>
            <a:r>
              <a:rPr lang="en-US" altLang="en-US" sz="100" dirty="0">
                <a:sym typeface="Arial"/>
              </a:rPr>
              <a:t> </a:t>
            </a:r>
            <a:r>
              <a:rPr lang="en-US" altLang="en-US" sz="2400" dirty="0">
                <a:sym typeface="Arial"/>
              </a:rPr>
              <a:t>M</a:t>
            </a:r>
            <a:r>
              <a:rPr lang="en-US" altLang="en-US" sz="100" dirty="0">
                <a:sym typeface="Arial"/>
              </a:rPr>
              <a:t> </a:t>
            </a:r>
            <a:r>
              <a:rPr lang="en-US" altLang="en-US" sz="2400" dirty="0">
                <a:sym typeface="Arial"/>
              </a:rPr>
              <a:t>L and Its Components: Things, Relationships, and Diagrams </a:t>
            </a:r>
            <a:r>
              <a:rPr lang="en-US" altLang="en-US" sz="2000" b="0" dirty="0">
                <a:sym typeface="Arial"/>
              </a:rPr>
              <a:t>(2 of 2)</a:t>
            </a:r>
            <a:endParaRPr lang="en-US" sz="2000" b="0" dirty="0"/>
          </a:p>
        </p:txBody>
      </p:sp>
      <p:graphicFrame>
        <p:nvGraphicFramePr>
          <p:cNvPr id="4" name="Table 3">
            <a:extLst>
              <a:ext uri="{FF2B5EF4-FFF2-40B4-BE49-F238E27FC236}">
                <a16:creationId xmlns:a16="http://schemas.microsoft.com/office/drawing/2014/main" id="{E776871A-63C2-4FD5-AB9D-353F66A324F7}"/>
              </a:ext>
            </a:extLst>
          </p:cNvPr>
          <p:cNvGraphicFramePr>
            <a:graphicFrameLocks noGrp="1"/>
          </p:cNvGraphicFramePr>
          <p:nvPr>
            <p:extLst>
              <p:ext uri="{D42A27DB-BD31-4B8C-83A1-F6EECF244321}">
                <p14:modId xmlns:p14="http://schemas.microsoft.com/office/powerpoint/2010/main" val="3408066712"/>
              </p:ext>
            </p:extLst>
          </p:nvPr>
        </p:nvGraphicFramePr>
        <p:xfrm>
          <a:off x="1484607" y="1793001"/>
          <a:ext cx="5900467" cy="3809904"/>
        </p:xfrm>
        <a:graphic>
          <a:graphicData uri="http://schemas.openxmlformats.org/drawingml/2006/table">
            <a:tbl>
              <a:tblPr firstRow="1" firstCol="1" bandRow="1">
                <a:tableStyleId>{40F9630F-82C1-40B7-BC3A-925EFCFF5E92}</a:tableStyleId>
              </a:tblPr>
              <a:tblGrid>
                <a:gridCol w="1646975">
                  <a:extLst>
                    <a:ext uri="{9D8B030D-6E8A-4147-A177-3AD203B41FA5}">
                      <a16:colId xmlns:a16="http://schemas.microsoft.com/office/drawing/2014/main" val="2280425707"/>
                    </a:ext>
                  </a:extLst>
                </a:gridCol>
                <a:gridCol w="1890441">
                  <a:extLst>
                    <a:ext uri="{9D8B030D-6E8A-4147-A177-3AD203B41FA5}">
                      <a16:colId xmlns:a16="http://schemas.microsoft.com/office/drawing/2014/main" val="3925313438"/>
                    </a:ext>
                  </a:extLst>
                </a:gridCol>
                <a:gridCol w="2363051">
                  <a:extLst>
                    <a:ext uri="{9D8B030D-6E8A-4147-A177-3AD203B41FA5}">
                      <a16:colId xmlns:a16="http://schemas.microsoft.com/office/drawing/2014/main" val="923466277"/>
                    </a:ext>
                  </a:extLst>
                </a:gridCol>
              </a:tblGrid>
              <a:tr h="362792">
                <a:tc>
                  <a:txBody>
                    <a:bodyPr/>
                    <a:lstStyle/>
                    <a:p>
                      <a:r>
                        <a:rPr lang="en-US" sz="1600" b="1" i="0" u="none" strike="noStrike" cap="none" baseline="0" dirty="0">
                          <a:solidFill>
                            <a:schemeClr val="dk1"/>
                          </a:solidFill>
                          <a:latin typeface="+mn-lt"/>
                          <a:ea typeface="Arial"/>
                          <a:cs typeface="Arial" panose="020B0604020202020204" pitchFamily="34" charset="0"/>
                          <a:sym typeface="Arial"/>
                        </a:rPr>
                        <a:t>U</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M</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L Category</a:t>
                      </a:r>
                      <a:endParaRPr lang="en-US" sz="1600" dirty="0">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u="none" strike="noStrike" cap="none" baseline="0" dirty="0">
                          <a:solidFill>
                            <a:schemeClr val="dk1"/>
                          </a:solidFill>
                          <a:latin typeface="+mn-lt"/>
                          <a:ea typeface="Arial"/>
                          <a:cs typeface="Arial" panose="020B0604020202020204" pitchFamily="34" charset="0"/>
                          <a:sym typeface="Arial"/>
                        </a:rPr>
                        <a:t>U</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M</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L Elements</a:t>
                      </a:r>
                      <a:endParaRPr lang="en-US" sz="1600" dirty="0">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1" i="0" u="none" strike="noStrike" cap="none" baseline="0" dirty="0">
                          <a:solidFill>
                            <a:schemeClr val="dk1"/>
                          </a:solidFill>
                          <a:latin typeface="+mn-lt"/>
                          <a:ea typeface="Arial"/>
                          <a:cs typeface="Arial" panose="020B0604020202020204" pitchFamily="34" charset="0"/>
                          <a:sym typeface="Arial"/>
                        </a:rPr>
                        <a:t>Specific U</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M</a:t>
                      </a:r>
                      <a:r>
                        <a:rPr lang="en-US" sz="100" b="1" i="0" u="none" strike="noStrike" cap="none" baseline="0" dirty="0">
                          <a:solidFill>
                            <a:schemeClr val="dk1"/>
                          </a:solidFill>
                          <a:latin typeface="+mn-lt"/>
                          <a:ea typeface="Arial"/>
                          <a:cs typeface="Arial" panose="020B0604020202020204" pitchFamily="34" charset="0"/>
                          <a:sym typeface="Arial"/>
                        </a:rPr>
                        <a:t> </a:t>
                      </a:r>
                      <a:r>
                        <a:rPr lang="en-US" sz="1600" b="1" i="0" u="none" strike="noStrike" cap="none" baseline="0" dirty="0">
                          <a:solidFill>
                            <a:schemeClr val="dk1"/>
                          </a:solidFill>
                          <a:latin typeface="+mn-lt"/>
                          <a:ea typeface="Arial"/>
                          <a:cs typeface="Arial" panose="020B0604020202020204" pitchFamily="34" charset="0"/>
                          <a:sym typeface="Arial"/>
                        </a:rPr>
                        <a:t>L Details</a:t>
                      </a:r>
                      <a:endParaRPr lang="en-US" sz="1600" dirty="0">
                        <a:latin typeface="+mn-lt"/>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879387"/>
                  </a:ext>
                </a:extLst>
              </a:tr>
              <a:tr h="1069672">
                <a:tc>
                  <a:txBody>
                    <a:bodyPr/>
                    <a:lstStyle/>
                    <a:p>
                      <a:r>
                        <a:rPr lang="en-US" sz="1600" b="1" i="0" u="none" strike="noStrike" cap="none" baseline="0" dirty="0">
                          <a:solidFill>
                            <a:schemeClr val="tx1"/>
                          </a:solidFill>
                          <a:latin typeface="+mn-lt"/>
                          <a:ea typeface="Arial"/>
                          <a:cs typeface="Arial" panose="020B0604020202020204" pitchFamily="34" charset="0"/>
                          <a:sym typeface="Arial"/>
                        </a:rPr>
                        <a:t>Relationships</a:t>
                      </a:r>
                      <a:endParaRPr lang="en-US" sz="1600" dirty="0">
                        <a:solidFill>
                          <a:schemeClr val="tx1"/>
                        </a:solidFill>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Behavioral Relationships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Communicates</a:t>
                      </a:r>
                    </a:p>
                    <a:p>
                      <a:r>
                        <a:rPr lang="en-US" sz="1600" b="0" i="0" u="none" strike="noStrike" cap="none" baseline="0" dirty="0">
                          <a:solidFill>
                            <a:schemeClr val="dk1"/>
                          </a:solidFill>
                          <a:latin typeface="+mn-lt"/>
                          <a:ea typeface="Arial"/>
                          <a:cs typeface="Arial" panose="020B0604020202020204" pitchFamily="34" charset="0"/>
                          <a:sym typeface="Arial"/>
                        </a:rPr>
                        <a:t>Includes</a:t>
                      </a:r>
                    </a:p>
                    <a:p>
                      <a:r>
                        <a:rPr lang="en-US" sz="1600" b="0" i="0" u="none" strike="noStrike" cap="none" baseline="0" dirty="0">
                          <a:solidFill>
                            <a:schemeClr val="dk1"/>
                          </a:solidFill>
                          <a:latin typeface="+mn-lt"/>
                          <a:ea typeface="Arial"/>
                          <a:cs typeface="Arial" panose="020B0604020202020204" pitchFamily="34" charset="0"/>
                          <a:sym typeface="Arial"/>
                        </a:rPr>
                        <a:t>Extends</a:t>
                      </a:r>
                    </a:p>
                    <a:p>
                      <a:r>
                        <a:rPr lang="en-US" sz="1600" b="0" i="0" u="none" strike="noStrike" cap="none" baseline="0" dirty="0">
                          <a:solidFill>
                            <a:schemeClr val="dk1"/>
                          </a:solidFill>
                          <a:latin typeface="+mn-lt"/>
                          <a:ea typeface="Arial"/>
                          <a:cs typeface="Arial" panose="020B0604020202020204" pitchFamily="34" charset="0"/>
                          <a:sym typeface="Arial"/>
                        </a:rPr>
                        <a:t>Generalizes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4176907"/>
                  </a:ext>
                </a:extLst>
              </a:tr>
              <a:tr h="3366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dirty="0">
                          <a:solidFill>
                            <a:schemeClr val="dk1"/>
                          </a:solidFill>
                          <a:latin typeface="+mn-lt"/>
                          <a:ea typeface="Arial"/>
                          <a:cs typeface="Arial" panose="020B0604020202020204" pitchFamily="34" charset="0"/>
                          <a:sym typeface="Arial"/>
                        </a:rPr>
                        <a:t>Diagrams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Structural Diagrams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Class Diagrams</a:t>
                      </a:r>
                    </a:p>
                    <a:p>
                      <a:r>
                        <a:rPr lang="en-US" sz="1600" b="0" i="0" u="none" strike="noStrike" cap="none" baseline="0" dirty="0">
                          <a:solidFill>
                            <a:schemeClr val="dk1"/>
                          </a:solidFill>
                          <a:latin typeface="+mn-lt"/>
                          <a:ea typeface="Arial"/>
                          <a:cs typeface="Arial" panose="020B0604020202020204" pitchFamily="34" charset="0"/>
                          <a:sym typeface="Arial"/>
                        </a:rPr>
                        <a:t>Component Diagrams</a:t>
                      </a:r>
                    </a:p>
                    <a:p>
                      <a:r>
                        <a:rPr lang="en-US" sz="1600" b="0" i="0" u="none" strike="noStrike" cap="none" baseline="0" dirty="0">
                          <a:solidFill>
                            <a:schemeClr val="dk1"/>
                          </a:solidFill>
                          <a:latin typeface="+mn-lt"/>
                          <a:ea typeface="Arial"/>
                          <a:cs typeface="Arial" panose="020B0604020202020204" pitchFamily="34" charset="0"/>
                          <a:sym typeface="Arial"/>
                        </a:rPr>
                        <a:t>Deployment Diagrams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143218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dirty="0">
                          <a:solidFill>
                            <a:schemeClr val="tx1"/>
                          </a:solidFill>
                          <a:latin typeface="+mn-lt"/>
                          <a:ea typeface="Arial"/>
                          <a:cs typeface="Arial" panose="020B0604020202020204" pitchFamily="34" charset="0"/>
                          <a:sym typeface="Arial"/>
                        </a:rPr>
                        <a:t>Diagrams</a:t>
                      </a:r>
                      <a:endParaRPr lang="en-US" sz="1600" dirty="0">
                        <a:solidFill>
                          <a:schemeClr val="tx1"/>
                        </a:solidFill>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Behavioral Diagrams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i="0" u="none" strike="noStrike" cap="none" baseline="0" dirty="0">
                          <a:solidFill>
                            <a:schemeClr val="dk1"/>
                          </a:solidFill>
                          <a:latin typeface="+mn-lt"/>
                          <a:ea typeface="Arial"/>
                          <a:cs typeface="Arial" panose="020B0604020202020204" pitchFamily="34" charset="0"/>
                          <a:sym typeface="Arial"/>
                        </a:rPr>
                        <a:t>Use Case Diagrams</a:t>
                      </a:r>
                    </a:p>
                    <a:p>
                      <a:r>
                        <a:rPr lang="en-US" sz="1600" b="0" i="0" u="none" strike="noStrike" cap="none" baseline="0" dirty="0">
                          <a:solidFill>
                            <a:schemeClr val="dk1"/>
                          </a:solidFill>
                          <a:latin typeface="+mn-lt"/>
                          <a:ea typeface="Arial"/>
                          <a:cs typeface="Arial" panose="020B0604020202020204" pitchFamily="34" charset="0"/>
                          <a:sym typeface="Arial"/>
                        </a:rPr>
                        <a:t>Sequence Diagrams</a:t>
                      </a:r>
                    </a:p>
                    <a:p>
                      <a:r>
                        <a:rPr lang="en-US" sz="1600" b="0" i="0" u="none" strike="noStrike" cap="none" baseline="0" dirty="0">
                          <a:solidFill>
                            <a:schemeClr val="dk1"/>
                          </a:solidFill>
                          <a:latin typeface="+mn-lt"/>
                          <a:ea typeface="Arial"/>
                          <a:cs typeface="Arial" panose="020B0604020202020204" pitchFamily="34" charset="0"/>
                          <a:sym typeface="Arial"/>
                        </a:rPr>
                        <a:t>Communication Diagrams</a:t>
                      </a:r>
                    </a:p>
                    <a:p>
                      <a:r>
                        <a:rPr lang="en-US" sz="1600" b="0" i="0" u="none" strike="noStrike" cap="none" baseline="0" dirty="0">
                          <a:solidFill>
                            <a:schemeClr val="dk1"/>
                          </a:solidFill>
                          <a:latin typeface="+mn-lt"/>
                          <a:ea typeface="Arial"/>
                          <a:cs typeface="Arial" panose="020B0604020202020204" pitchFamily="34" charset="0"/>
                          <a:sym typeface="Arial"/>
                        </a:rPr>
                        <a:t>Statechart Diagrams</a:t>
                      </a:r>
                    </a:p>
                    <a:p>
                      <a:r>
                        <a:rPr lang="en-US" sz="1600" b="0" i="0" u="none" strike="noStrike" cap="none" baseline="0" dirty="0">
                          <a:solidFill>
                            <a:schemeClr val="dk1"/>
                          </a:solidFill>
                          <a:latin typeface="+mn-lt"/>
                          <a:ea typeface="Arial"/>
                          <a:cs typeface="Arial" panose="020B0604020202020204" pitchFamily="34" charset="0"/>
                          <a:sym typeface="Arial"/>
                        </a:rPr>
                        <a:t>Activity Diagrams</a:t>
                      </a:r>
                      <a:endParaRPr lang="en-US"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4498216"/>
                  </a:ext>
                </a:extLst>
              </a:tr>
            </a:tbl>
          </a:graphicData>
        </a:graphic>
      </p:graphicFrame>
    </p:spTree>
    <p:extLst>
      <p:ext uri="{BB962C8B-B14F-4D97-AF65-F5344CB8AC3E}">
        <p14:creationId xmlns:p14="http://schemas.microsoft.com/office/powerpoint/2010/main" val="26224301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DCA8D-C050-42A5-86C0-F5AA36ACD15A}"/>
              </a:ext>
            </a:extLst>
          </p:cNvPr>
          <p:cNvSpPr>
            <a:spLocks noGrp="1"/>
          </p:cNvSpPr>
          <p:nvPr>
            <p:ph type="title"/>
          </p:nvPr>
        </p:nvSpPr>
        <p:spPr/>
        <p:txBody>
          <a:bodyPr/>
          <a:lstStyle/>
          <a:p>
            <a:r>
              <a:rPr lang="en-US" altLang="en-US" sz="3200" dirty="0">
                <a:sym typeface="Arial"/>
              </a:rPr>
              <a:t>Commonly Used U</a:t>
            </a:r>
            <a:r>
              <a:rPr lang="en-US" altLang="en-US" sz="100" dirty="0">
                <a:sym typeface="Arial"/>
              </a:rPr>
              <a:t> </a:t>
            </a:r>
            <a:r>
              <a:rPr lang="en-US" altLang="en-US" sz="3200" dirty="0">
                <a:sym typeface="Arial"/>
              </a:rPr>
              <a:t>M</a:t>
            </a:r>
            <a:r>
              <a:rPr lang="en-US" altLang="en-US" sz="100" dirty="0">
                <a:sym typeface="Arial"/>
              </a:rPr>
              <a:t> </a:t>
            </a:r>
            <a:r>
              <a:rPr lang="en-US" altLang="en-US" sz="3200" dirty="0">
                <a:sym typeface="Arial"/>
              </a:rPr>
              <a:t>L Diagrams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336FA750-81D0-4D01-8EA6-ACCAAB724058}"/>
              </a:ext>
            </a:extLst>
          </p:cNvPr>
          <p:cNvSpPr>
            <a:spLocks noGrp="1"/>
          </p:cNvSpPr>
          <p:nvPr>
            <p:ph sz="quarter" idx="13"/>
          </p:nvPr>
        </p:nvSpPr>
        <p:spPr>
          <a:xfrm>
            <a:off x="457200" y="1556327"/>
            <a:ext cx="8229600" cy="3861493"/>
          </a:xfrm>
        </p:spPr>
        <p:txBody>
          <a:bodyPr/>
          <a:lstStyle/>
          <a:p>
            <a:pPr marL="255588" lvl="0" indent="-255588">
              <a:buSzPts val="2400"/>
            </a:pPr>
            <a:r>
              <a:rPr lang="en-US" altLang="en-US" dirty="0">
                <a:solidFill>
                  <a:srgbClr val="000000"/>
                </a:solidFill>
              </a:rPr>
              <a:t>Use case diagram</a:t>
            </a:r>
          </a:p>
          <a:p>
            <a:pPr marL="741600" lvl="1">
              <a:buSzPts val="2400"/>
            </a:pPr>
            <a:r>
              <a:rPr lang="en-US" altLang="en-US" dirty="0">
                <a:solidFill>
                  <a:srgbClr val="000000"/>
                </a:solidFill>
              </a:rPr>
              <a:t>Describing how the system is used</a:t>
            </a:r>
          </a:p>
          <a:p>
            <a:pPr marL="741600" lvl="1">
              <a:buSzPts val="2400"/>
            </a:pPr>
            <a:r>
              <a:rPr lang="en-US" altLang="en-US" dirty="0">
                <a:solidFill>
                  <a:srgbClr val="000000"/>
                </a:solidFill>
              </a:rPr>
              <a:t>The starting point for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 modeling</a:t>
            </a:r>
          </a:p>
          <a:p>
            <a:pPr marL="255588" lvl="0" indent="-255588">
              <a:buSzPts val="2400"/>
            </a:pPr>
            <a:r>
              <a:rPr lang="en-US" altLang="en-US" dirty="0">
                <a:solidFill>
                  <a:srgbClr val="000000"/>
                </a:solidFill>
              </a:rPr>
              <a:t>Use case scenario</a:t>
            </a:r>
          </a:p>
          <a:p>
            <a:pPr marL="741600" lvl="1">
              <a:buSzPts val="2400"/>
            </a:pPr>
            <a:r>
              <a:rPr lang="en-US" altLang="en-US" dirty="0">
                <a:solidFill>
                  <a:srgbClr val="000000"/>
                </a:solidFill>
              </a:rPr>
              <a:t>A verbal articulation of exceptions to the main behavior described by the primary use case</a:t>
            </a:r>
          </a:p>
          <a:p>
            <a:pPr marL="255588" lvl="0" indent="-255588">
              <a:buSzPts val="2400"/>
            </a:pPr>
            <a:r>
              <a:rPr lang="en-US" altLang="en-US" dirty="0">
                <a:solidFill>
                  <a:srgbClr val="000000"/>
                </a:solidFill>
              </a:rPr>
              <a:t>Activity diagram</a:t>
            </a:r>
          </a:p>
          <a:p>
            <a:pPr marL="741600" lvl="1">
              <a:buSzPts val="2400"/>
            </a:pPr>
            <a:r>
              <a:rPr lang="en-US" altLang="en-US" dirty="0">
                <a:solidFill>
                  <a:srgbClr val="000000"/>
                </a:solidFill>
              </a:rPr>
              <a:t>Illustrates the overall flow of activities</a:t>
            </a:r>
          </a:p>
        </p:txBody>
      </p:sp>
    </p:spTree>
    <p:extLst>
      <p:ext uri="{BB962C8B-B14F-4D97-AF65-F5344CB8AC3E}">
        <p14:creationId xmlns:p14="http://schemas.microsoft.com/office/powerpoint/2010/main" val="1787642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A812A-E63F-4732-8060-5049118BE57A}"/>
              </a:ext>
            </a:extLst>
          </p:cNvPr>
          <p:cNvSpPr>
            <a:spLocks noGrp="1"/>
          </p:cNvSpPr>
          <p:nvPr>
            <p:ph type="title"/>
          </p:nvPr>
        </p:nvSpPr>
        <p:spPr/>
        <p:txBody>
          <a:bodyPr/>
          <a:lstStyle/>
          <a:p>
            <a:r>
              <a:rPr lang="en-US" altLang="en-US" sz="3200" dirty="0">
                <a:sym typeface="Arial"/>
              </a:rPr>
              <a:t>Commonly Used U</a:t>
            </a:r>
            <a:r>
              <a:rPr lang="en-US" altLang="en-US" sz="100" dirty="0">
                <a:sym typeface="Arial"/>
              </a:rPr>
              <a:t> </a:t>
            </a:r>
            <a:r>
              <a:rPr lang="en-US" altLang="en-US" sz="3200" dirty="0">
                <a:sym typeface="Arial"/>
              </a:rPr>
              <a:t>M</a:t>
            </a:r>
            <a:r>
              <a:rPr lang="en-US" altLang="en-US" sz="100" dirty="0">
                <a:sym typeface="Arial"/>
              </a:rPr>
              <a:t> </a:t>
            </a:r>
            <a:r>
              <a:rPr lang="en-US" altLang="en-US" sz="3200" dirty="0">
                <a:sym typeface="Arial"/>
              </a:rPr>
              <a:t>L Diagrams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3E4E5EF1-FD4F-45AC-B248-880A1389707A}"/>
              </a:ext>
            </a:extLst>
          </p:cNvPr>
          <p:cNvSpPr>
            <a:spLocks noGrp="1"/>
          </p:cNvSpPr>
          <p:nvPr>
            <p:ph sz="quarter" idx="13"/>
          </p:nvPr>
        </p:nvSpPr>
        <p:spPr>
          <a:xfrm>
            <a:off x="457200" y="1556327"/>
            <a:ext cx="8229600" cy="3349048"/>
          </a:xfrm>
        </p:spPr>
        <p:txBody>
          <a:bodyPr/>
          <a:lstStyle/>
          <a:p>
            <a:pPr marL="255588" lvl="0" indent="-255588">
              <a:buSzPts val="2400"/>
            </a:pPr>
            <a:r>
              <a:rPr lang="en-US" altLang="en-US" dirty="0">
                <a:solidFill>
                  <a:srgbClr val="000000"/>
                </a:solidFill>
              </a:rPr>
              <a:t>Sequence diagrams</a:t>
            </a:r>
          </a:p>
          <a:p>
            <a:pPr marL="741600" lvl="1">
              <a:buSzPts val="2400"/>
            </a:pPr>
            <a:r>
              <a:rPr lang="en-US" altLang="en-US" dirty="0">
                <a:solidFill>
                  <a:srgbClr val="000000"/>
                </a:solidFill>
              </a:rPr>
              <a:t>Show the sequence of activities and class relationships</a:t>
            </a:r>
          </a:p>
          <a:p>
            <a:pPr marL="255588" lvl="0" indent="-255588">
              <a:buSzPts val="2400"/>
            </a:pPr>
            <a:r>
              <a:rPr lang="en-US" altLang="en-US" dirty="0">
                <a:solidFill>
                  <a:srgbClr val="000000"/>
                </a:solidFill>
              </a:rPr>
              <a:t>Class diagrams</a:t>
            </a:r>
          </a:p>
          <a:p>
            <a:pPr marL="741600" lvl="1">
              <a:buSzPts val="2400"/>
            </a:pPr>
            <a:r>
              <a:rPr lang="en-US" altLang="en-US" dirty="0">
                <a:solidFill>
                  <a:srgbClr val="000000"/>
                </a:solidFill>
              </a:rPr>
              <a:t>Show classes and relationships</a:t>
            </a:r>
          </a:p>
          <a:p>
            <a:pPr marL="255588" lvl="0" indent="-255588">
              <a:buSzPts val="2400"/>
            </a:pPr>
            <a:r>
              <a:rPr lang="en-US" altLang="en-US" dirty="0">
                <a:solidFill>
                  <a:srgbClr val="000000"/>
                </a:solidFill>
              </a:rPr>
              <a:t>Statechart diagrams</a:t>
            </a:r>
          </a:p>
          <a:p>
            <a:pPr marL="741600" lvl="1">
              <a:buSzPts val="2400"/>
            </a:pPr>
            <a:r>
              <a:rPr lang="en-US" altLang="en-US" dirty="0">
                <a:solidFill>
                  <a:srgbClr val="000000"/>
                </a:solidFill>
              </a:rPr>
              <a:t>Show the state transitions</a:t>
            </a:r>
          </a:p>
        </p:txBody>
      </p:sp>
    </p:spTree>
    <p:extLst>
      <p:ext uri="{BB962C8B-B14F-4D97-AF65-F5344CB8AC3E}">
        <p14:creationId xmlns:p14="http://schemas.microsoft.com/office/powerpoint/2010/main" val="27064919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CBDAA-529D-4A6A-8349-17500908E987}"/>
              </a:ext>
            </a:extLst>
          </p:cNvPr>
          <p:cNvSpPr>
            <a:spLocks noGrp="1"/>
          </p:cNvSpPr>
          <p:nvPr>
            <p:ph type="title"/>
          </p:nvPr>
        </p:nvSpPr>
        <p:spPr>
          <a:xfrm>
            <a:off x="457200" y="102870"/>
            <a:ext cx="8229600" cy="1209781"/>
          </a:xfrm>
        </p:spPr>
        <p:txBody>
          <a:bodyPr/>
          <a:lstStyle/>
          <a:p>
            <a:r>
              <a:rPr lang="en-US" altLang="en-US" sz="2400" dirty="0">
                <a:sym typeface="Arial"/>
              </a:rPr>
              <a:t>Figure 10.5 An Overview of U</a:t>
            </a:r>
            <a:r>
              <a:rPr lang="en-US" altLang="en-US" sz="100" dirty="0">
                <a:sym typeface="Arial"/>
              </a:rPr>
              <a:t> </a:t>
            </a:r>
            <a:r>
              <a:rPr lang="en-US" altLang="en-US" sz="2400" dirty="0">
                <a:sym typeface="Arial"/>
              </a:rPr>
              <a:t>M</a:t>
            </a:r>
            <a:r>
              <a:rPr lang="en-US" altLang="en-US" sz="100" dirty="0">
                <a:sym typeface="Arial"/>
              </a:rPr>
              <a:t> </a:t>
            </a:r>
            <a:r>
              <a:rPr lang="en-US" altLang="en-US" sz="2400" dirty="0">
                <a:sym typeface="Arial"/>
              </a:rPr>
              <a:t>L Diagrams Showing How Each Diagram Leads to the Development of Other U</a:t>
            </a:r>
            <a:r>
              <a:rPr lang="en-US" altLang="en-US" sz="100" dirty="0">
                <a:sym typeface="Arial"/>
              </a:rPr>
              <a:t> </a:t>
            </a:r>
            <a:r>
              <a:rPr lang="en-US" altLang="en-US" sz="2400" dirty="0">
                <a:sym typeface="Arial"/>
              </a:rPr>
              <a:t>M</a:t>
            </a:r>
            <a:r>
              <a:rPr lang="en-US" altLang="en-US" sz="100" dirty="0">
                <a:sym typeface="Arial"/>
              </a:rPr>
              <a:t> </a:t>
            </a:r>
            <a:r>
              <a:rPr lang="en-US" altLang="en-US" sz="2400" dirty="0">
                <a:sym typeface="Arial"/>
              </a:rPr>
              <a:t>L Diagrams</a:t>
            </a:r>
            <a:endParaRPr lang="en-US" sz="2400" dirty="0"/>
          </a:p>
        </p:txBody>
      </p:sp>
      <p:pic>
        <p:nvPicPr>
          <p:cNvPr id="5" name="Picture 4" descr="An illustration shows an overall view of U M L diagrams, showing how each diagram leads to the development of other U M L diagrams. Long description in notes, press F6.">
            <a:extLst>
              <a:ext uri="{FF2B5EF4-FFF2-40B4-BE49-F238E27FC236}">
                <a16:creationId xmlns:a16="http://schemas.microsoft.com/office/drawing/2014/main" id="{AB274B1E-AC60-4B55-A300-76CF48BE7886}"/>
              </a:ext>
            </a:extLst>
          </p:cNvPr>
          <p:cNvPicPr>
            <a:picLocks noChangeAspect="1"/>
          </p:cNvPicPr>
          <p:nvPr/>
        </p:nvPicPr>
        <p:blipFill>
          <a:blip r:embed="rId3"/>
          <a:stretch>
            <a:fillRect/>
          </a:stretch>
        </p:blipFill>
        <p:spPr>
          <a:xfrm>
            <a:off x="2225040" y="1593034"/>
            <a:ext cx="4693920" cy="4596130"/>
          </a:xfrm>
          <a:prstGeom prst="rect">
            <a:avLst/>
          </a:prstGeom>
        </p:spPr>
      </p:pic>
    </p:spTree>
    <p:extLst>
      <p:ext uri="{BB962C8B-B14F-4D97-AF65-F5344CB8AC3E}">
        <p14:creationId xmlns:p14="http://schemas.microsoft.com/office/powerpoint/2010/main" val="3499685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21147-7950-44A5-9D98-0B113A284F7C}"/>
              </a:ext>
            </a:extLst>
          </p:cNvPr>
          <p:cNvSpPr>
            <a:spLocks noGrp="1"/>
          </p:cNvSpPr>
          <p:nvPr>
            <p:ph type="title"/>
          </p:nvPr>
        </p:nvSpPr>
        <p:spPr/>
        <p:txBody>
          <a:bodyPr/>
          <a:lstStyle/>
          <a:p>
            <a:r>
              <a:rPr lang="en-US" altLang="en-US" dirty="0">
                <a:sym typeface="Arial"/>
              </a:rPr>
              <a:t>Use Case Modeling</a:t>
            </a:r>
            <a:endParaRPr lang="en-US" dirty="0"/>
          </a:p>
        </p:txBody>
      </p:sp>
      <p:sp>
        <p:nvSpPr>
          <p:cNvPr id="3" name="Content Placeholder 2">
            <a:extLst>
              <a:ext uri="{FF2B5EF4-FFF2-40B4-BE49-F238E27FC236}">
                <a16:creationId xmlns:a16="http://schemas.microsoft.com/office/drawing/2014/main" id="{371DA21B-A55A-4552-A59F-9D0331F758F1}"/>
              </a:ext>
            </a:extLst>
          </p:cNvPr>
          <p:cNvSpPr>
            <a:spLocks noGrp="1"/>
          </p:cNvSpPr>
          <p:nvPr>
            <p:ph sz="quarter" idx="13"/>
          </p:nvPr>
        </p:nvSpPr>
        <p:spPr>
          <a:xfrm>
            <a:off x="457200" y="1556327"/>
            <a:ext cx="8229600" cy="3735763"/>
          </a:xfrm>
        </p:spPr>
        <p:txBody>
          <a:bodyPr/>
          <a:lstStyle/>
          <a:p>
            <a:pPr marL="255588" indent="-255588">
              <a:buSzPts val="2400"/>
            </a:pPr>
            <a:r>
              <a:rPr lang="en-US" altLang="en-US" dirty="0">
                <a:solidFill>
                  <a:srgbClr val="000000"/>
                </a:solidFill>
              </a:rPr>
              <a:t>Describes what the system does, without describing how the system does it</a:t>
            </a:r>
          </a:p>
          <a:p>
            <a:pPr marL="255588" indent="-255588">
              <a:buSzPts val="2400"/>
            </a:pPr>
            <a:r>
              <a:rPr lang="en-US" altLang="en-US" dirty="0">
                <a:solidFill>
                  <a:srgbClr val="000000"/>
                </a:solidFill>
              </a:rPr>
              <a:t>Based on the interactions and relationships of individual use cases</a:t>
            </a:r>
          </a:p>
          <a:p>
            <a:pPr marL="255588" indent="-255588">
              <a:buSzPts val="2400"/>
            </a:pPr>
            <a:r>
              <a:rPr lang="en-US" altLang="en-US" dirty="0">
                <a:solidFill>
                  <a:srgbClr val="000000"/>
                </a:solidFill>
              </a:rPr>
              <a:t>Use case describes</a:t>
            </a:r>
          </a:p>
          <a:p>
            <a:pPr lvl="1"/>
            <a:r>
              <a:rPr lang="en-US" altLang="en-US" dirty="0"/>
              <a:t>Actor</a:t>
            </a:r>
          </a:p>
          <a:p>
            <a:pPr lvl="1"/>
            <a:r>
              <a:rPr lang="en-US" altLang="en-US" dirty="0"/>
              <a:t>Event</a:t>
            </a:r>
          </a:p>
          <a:p>
            <a:pPr lvl="1"/>
            <a:r>
              <a:rPr lang="en-US" altLang="en-US" dirty="0"/>
              <a:t>Use case</a:t>
            </a:r>
          </a:p>
        </p:txBody>
      </p:sp>
    </p:spTree>
    <p:extLst>
      <p:ext uri="{BB962C8B-B14F-4D97-AF65-F5344CB8AC3E}">
        <p14:creationId xmlns:p14="http://schemas.microsoft.com/office/powerpoint/2010/main" val="2833525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7029-0AE8-4A43-81F0-3B4CBB6D6780}"/>
              </a:ext>
            </a:extLst>
          </p:cNvPr>
          <p:cNvSpPr>
            <a:spLocks noGrp="1"/>
          </p:cNvSpPr>
          <p:nvPr>
            <p:ph type="title"/>
          </p:nvPr>
        </p:nvSpPr>
        <p:spPr/>
        <p:txBody>
          <a:bodyPr/>
          <a:lstStyle/>
          <a:p>
            <a:r>
              <a:rPr lang="en-US" altLang="en-US" sz="3200" dirty="0">
                <a:sym typeface="Arial"/>
              </a:rPr>
              <a:t>Figure 10.6 A Use Case Example of Student Enrollment</a:t>
            </a:r>
            <a:endParaRPr lang="en-US" sz="3200" dirty="0"/>
          </a:p>
        </p:txBody>
      </p:sp>
      <p:pic>
        <p:nvPicPr>
          <p:cNvPr id="5" name="Picture 4" descr="An illustration shows a use case example of student enrollment. Long description in notes, press F6.">
            <a:extLst>
              <a:ext uri="{FF2B5EF4-FFF2-40B4-BE49-F238E27FC236}">
                <a16:creationId xmlns:a16="http://schemas.microsoft.com/office/drawing/2014/main" id="{4A0C4D40-8AB5-4024-89FB-65788F35C4A5}"/>
              </a:ext>
            </a:extLst>
          </p:cNvPr>
          <p:cNvPicPr>
            <a:picLocks noChangeAspect="1"/>
          </p:cNvPicPr>
          <p:nvPr/>
        </p:nvPicPr>
        <p:blipFill>
          <a:blip r:embed="rId3"/>
          <a:stretch>
            <a:fillRect/>
          </a:stretch>
        </p:blipFill>
        <p:spPr>
          <a:xfrm>
            <a:off x="2432050" y="1557338"/>
            <a:ext cx="4279900" cy="4584700"/>
          </a:xfrm>
          <a:prstGeom prst="rect">
            <a:avLst/>
          </a:prstGeom>
        </p:spPr>
      </p:pic>
    </p:spTree>
    <p:extLst>
      <p:ext uri="{BB962C8B-B14F-4D97-AF65-F5344CB8AC3E}">
        <p14:creationId xmlns:p14="http://schemas.microsoft.com/office/powerpoint/2010/main" val="21552602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304D8-AFCC-4931-BAEB-F061CE9BDFAF}"/>
              </a:ext>
            </a:extLst>
          </p:cNvPr>
          <p:cNvSpPr>
            <a:spLocks noGrp="1"/>
          </p:cNvSpPr>
          <p:nvPr>
            <p:ph type="title"/>
          </p:nvPr>
        </p:nvSpPr>
        <p:spPr>
          <a:xfrm>
            <a:off x="479743" y="91441"/>
            <a:ext cx="8229600" cy="1221210"/>
          </a:xfrm>
        </p:spPr>
        <p:txBody>
          <a:bodyPr/>
          <a:lstStyle/>
          <a:p>
            <a:r>
              <a:rPr lang="en-US" altLang="en-US" sz="2400" dirty="0">
                <a:sym typeface="Arial"/>
              </a:rPr>
              <a:t>Figure 10.7 A Use Case Scenario is Divided into Three Sections: Identification and Initiation, Steps Performed, and Conditions, Assumptions, and Questions</a:t>
            </a:r>
            <a:endParaRPr lang="en-US" sz="2400" dirty="0"/>
          </a:p>
        </p:txBody>
      </p:sp>
      <p:pic>
        <p:nvPicPr>
          <p:cNvPr id="5" name="Picture 4" descr="An illustration shows Use case scenario, which is divided into three sections: identification and initiation, steps performed, and conditions, assumptions, and questions. Long description in notes, press F6.">
            <a:extLst>
              <a:ext uri="{FF2B5EF4-FFF2-40B4-BE49-F238E27FC236}">
                <a16:creationId xmlns:a16="http://schemas.microsoft.com/office/drawing/2014/main" id="{188721E5-F691-41F0-8FF5-820967807E1D}"/>
              </a:ext>
            </a:extLst>
          </p:cNvPr>
          <p:cNvPicPr>
            <a:picLocks noChangeAspect="1"/>
          </p:cNvPicPr>
          <p:nvPr/>
        </p:nvPicPr>
        <p:blipFill rotWithShape="1">
          <a:blip r:embed="rId3"/>
          <a:srcRect t="2028" b="2097"/>
          <a:stretch/>
        </p:blipFill>
        <p:spPr>
          <a:xfrm>
            <a:off x="1905826" y="1527239"/>
            <a:ext cx="5332348" cy="4744048"/>
          </a:xfrm>
          <a:prstGeom prst="rect">
            <a:avLst/>
          </a:prstGeom>
        </p:spPr>
      </p:pic>
    </p:spTree>
    <p:extLst>
      <p:ext uri="{BB962C8B-B14F-4D97-AF65-F5344CB8AC3E}">
        <p14:creationId xmlns:p14="http://schemas.microsoft.com/office/powerpoint/2010/main" val="37136691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FE662-D2D8-4456-BE00-14D9711F7BF6}"/>
              </a:ext>
            </a:extLst>
          </p:cNvPr>
          <p:cNvSpPr>
            <a:spLocks noGrp="1"/>
          </p:cNvSpPr>
          <p:nvPr>
            <p:ph type="title"/>
          </p:nvPr>
        </p:nvSpPr>
        <p:spPr/>
        <p:txBody>
          <a:bodyPr/>
          <a:lstStyle/>
          <a:p>
            <a:r>
              <a:rPr lang="en-US" altLang="en-US" dirty="0">
                <a:sym typeface="Arial"/>
              </a:rPr>
              <a:t>Activity Diagrams</a:t>
            </a:r>
            <a:endParaRPr lang="en-US" dirty="0"/>
          </a:p>
        </p:txBody>
      </p:sp>
      <p:sp>
        <p:nvSpPr>
          <p:cNvPr id="3" name="Content Placeholder 2">
            <a:extLst>
              <a:ext uri="{FF2B5EF4-FFF2-40B4-BE49-F238E27FC236}">
                <a16:creationId xmlns:a16="http://schemas.microsoft.com/office/drawing/2014/main" id="{AE6FD42D-FACE-4B4D-A593-85B4DBC4AC2D}"/>
              </a:ext>
            </a:extLst>
          </p:cNvPr>
          <p:cNvSpPr>
            <a:spLocks noGrp="1"/>
          </p:cNvSpPr>
          <p:nvPr>
            <p:ph sz="quarter" idx="13"/>
          </p:nvPr>
        </p:nvSpPr>
        <p:spPr>
          <a:xfrm>
            <a:off x="457200" y="1556327"/>
            <a:ext cx="8229600" cy="4272973"/>
          </a:xfrm>
        </p:spPr>
        <p:txBody>
          <a:bodyPr/>
          <a:lstStyle/>
          <a:p>
            <a:pPr marL="255588" indent="-255588">
              <a:buSzPts val="2400"/>
            </a:pPr>
            <a:r>
              <a:rPr lang="en-US" altLang="en-US" sz="2200" dirty="0">
                <a:solidFill>
                  <a:srgbClr val="000000"/>
                </a:solidFill>
              </a:rPr>
              <a:t>Show the sequence of activities in a process, including sequential and parallel activities, and decisions that are made</a:t>
            </a:r>
          </a:p>
          <a:p>
            <a:pPr marL="255588" indent="-255588">
              <a:buSzPts val="2400"/>
            </a:pPr>
            <a:r>
              <a:rPr lang="en-US" altLang="en-US" sz="2200" dirty="0">
                <a:solidFill>
                  <a:srgbClr val="000000"/>
                </a:solidFill>
              </a:rPr>
              <a:t>Symbols</a:t>
            </a:r>
          </a:p>
          <a:p>
            <a:pPr lvl="1"/>
            <a:r>
              <a:rPr lang="en-US" altLang="en-US" sz="2200" dirty="0"/>
              <a:t>Rectangle with rounded ends</a:t>
            </a:r>
          </a:p>
          <a:p>
            <a:pPr lvl="1"/>
            <a:r>
              <a:rPr lang="en-US" altLang="en-US" sz="2200" dirty="0"/>
              <a:t>Arrow</a:t>
            </a:r>
          </a:p>
          <a:p>
            <a:pPr lvl="1"/>
            <a:r>
              <a:rPr lang="en-US" altLang="en-US" sz="2200" dirty="0"/>
              <a:t>Diamond</a:t>
            </a:r>
          </a:p>
          <a:p>
            <a:pPr lvl="1"/>
            <a:r>
              <a:rPr lang="en-US" altLang="en-US" sz="2200" dirty="0"/>
              <a:t>Long, flat rectangle</a:t>
            </a:r>
          </a:p>
          <a:p>
            <a:pPr lvl="1"/>
            <a:r>
              <a:rPr lang="en-US" altLang="en-US" sz="2200" dirty="0"/>
              <a:t>Filled-in circle</a:t>
            </a:r>
          </a:p>
          <a:p>
            <a:pPr lvl="1"/>
            <a:r>
              <a:rPr lang="en-US" altLang="en-US" sz="2200" dirty="0"/>
              <a:t>Black circle surrounded by a white circle</a:t>
            </a:r>
          </a:p>
          <a:p>
            <a:pPr lvl="1"/>
            <a:r>
              <a:rPr lang="en-US" altLang="en-US" sz="2200" dirty="0"/>
              <a:t>Swimlanes</a:t>
            </a:r>
          </a:p>
        </p:txBody>
      </p:sp>
    </p:spTree>
    <p:extLst>
      <p:ext uri="{BB962C8B-B14F-4D97-AF65-F5344CB8AC3E}">
        <p14:creationId xmlns:p14="http://schemas.microsoft.com/office/powerpoint/2010/main" val="30900667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C272A-6279-4656-B573-6CE382284816}"/>
              </a:ext>
            </a:extLst>
          </p:cNvPr>
          <p:cNvSpPr>
            <a:spLocks noGrp="1"/>
          </p:cNvSpPr>
          <p:nvPr>
            <p:ph type="title"/>
          </p:nvPr>
        </p:nvSpPr>
        <p:spPr/>
        <p:txBody>
          <a:bodyPr/>
          <a:lstStyle/>
          <a:p>
            <a:r>
              <a:rPr lang="en-US" altLang="en-US" sz="2800" dirty="0">
                <a:sym typeface="Arial"/>
              </a:rPr>
              <a:t>Figure 10.8 Specialized Symbols are Used to Draw an Activity Diagram</a:t>
            </a:r>
            <a:endParaRPr lang="en-US" sz="2800" dirty="0"/>
          </a:p>
        </p:txBody>
      </p:sp>
      <p:pic>
        <p:nvPicPr>
          <p:cNvPr id="5" name="Picture 4" descr="A flow chart shows an activity diagram. Long description in notes, press F6.">
            <a:extLst>
              <a:ext uri="{FF2B5EF4-FFF2-40B4-BE49-F238E27FC236}">
                <a16:creationId xmlns:a16="http://schemas.microsoft.com/office/drawing/2014/main" id="{EE707D4C-6012-424B-BB0A-5BED6B5B2703}"/>
              </a:ext>
            </a:extLst>
          </p:cNvPr>
          <p:cNvPicPr>
            <a:picLocks noChangeAspect="1"/>
          </p:cNvPicPr>
          <p:nvPr/>
        </p:nvPicPr>
        <p:blipFill>
          <a:blip r:embed="rId3"/>
          <a:stretch>
            <a:fillRect/>
          </a:stretch>
        </p:blipFill>
        <p:spPr>
          <a:xfrm>
            <a:off x="1257300" y="1557338"/>
            <a:ext cx="7086600" cy="4584700"/>
          </a:xfrm>
          <a:prstGeom prst="rect">
            <a:avLst/>
          </a:prstGeom>
        </p:spPr>
      </p:pic>
    </p:spTree>
    <p:extLst>
      <p:ext uri="{BB962C8B-B14F-4D97-AF65-F5344CB8AC3E}">
        <p14:creationId xmlns:p14="http://schemas.microsoft.com/office/powerpoint/2010/main" val="28594435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E711F-AF26-427F-BA52-FC5ACC40F0BC}"/>
              </a:ext>
            </a:extLst>
          </p:cNvPr>
          <p:cNvSpPr>
            <a:spLocks noGrp="1"/>
          </p:cNvSpPr>
          <p:nvPr>
            <p:ph type="title"/>
          </p:nvPr>
        </p:nvSpPr>
        <p:spPr/>
        <p:txBody>
          <a:bodyPr/>
          <a:lstStyle/>
          <a:p>
            <a:r>
              <a:rPr lang="en-US" altLang="en-US" dirty="0">
                <a:sym typeface="Arial"/>
              </a:rPr>
              <a:t>Creating Activity Diagrams</a:t>
            </a:r>
            <a:endParaRPr lang="en-US" dirty="0"/>
          </a:p>
        </p:txBody>
      </p:sp>
      <p:sp>
        <p:nvSpPr>
          <p:cNvPr id="3" name="Content Placeholder 2">
            <a:extLst>
              <a:ext uri="{FF2B5EF4-FFF2-40B4-BE49-F238E27FC236}">
                <a16:creationId xmlns:a16="http://schemas.microsoft.com/office/drawing/2014/main" id="{2BF0E2C2-0A2A-4B0C-85C1-36C056ADCE3B}"/>
              </a:ext>
            </a:extLst>
          </p:cNvPr>
          <p:cNvSpPr>
            <a:spLocks noGrp="1"/>
          </p:cNvSpPr>
          <p:nvPr>
            <p:ph sz="quarter" idx="13"/>
          </p:nvPr>
        </p:nvSpPr>
        <p:spPr>
          <a:xfrm>
            <a:off x="457200" y="1556327"/>
            <a:ext cx="8229600" cy="3667183"/>
          </a:xfrm>
        </p:spPr>
        <p:txBody>
          <a:bodyPr/>
          <a:lstStyle/>
          <a:p>
            <a:pPr marL="255588" indent="-255588">
              <a:buSzPts val="2400"/>
            </a:pPr>
            <a:r>
              <a:rPr lang="en-US" altLang="en-US" dirty="0">
                <a:solidFill>
                  <a:srgbClr val="000000"/>
                </a:solidFill>
              </a:rPr>
              <a:t>Created by asking what happens first, what happens second, and so on</a:t>
            </a:r>
          </a:p>
          <a:p>
            <a:pPr marL="255588" indent="-255588">
              <a:buSzPts val="2400"/>
            </a:pPr>
            <a:r>
              <a:rPr lang="en-US" altLang="en-US" dirty="0">
                <a:solidFill>
                  <a:srgbClr val="000000"/>
                </a:solidFill>
              </a:rPr>
              <a:t>Must determine what activities are done in sequence or in parallel</a:t>
            </a:r>
          </a:p>
          <a:p>
            <a:pPr marL="255588" indent="-255588">
              <a:buSzPts val="2400"/>
            </a:pPr>
            <a:r>
              <a:rPr lang="en-US" altLang="en-US" dirty="0">
                <a:solidFill>
                  <a:srgbClr val="000000"/>
                </a:solidFill>
              </a:rPr>
              <a:t>The sequence of activities can be determined from physical data flow diagrams</a:t>
            </a:r>
          </a:p>
          <a:p>
            <a:pPr marL="255588" indent="-255588">
              <a:buSzPts val="2400"/>
            </a:pPr>
            <a:r>
              <a:rPr lang="en-US" altLang="en-US" dirty="0">
                <a:solidFill>
                  <a:srgbClr val="000000"/>
                </a:solidFill>
              </a:rPr>
              <a:t>Can be created by examining all the scenarios for a use case</a:t>
            </a:r>
          </a:p>
        </p:txBody>
      </p:sp>
    </p:spTree>
    <p:extLst>
      <p:ext uri="{BB962C8B-B14F-4D97-AF65-F5344CB8AC3E}">
        <p14:creationId xmlns:p14="http://schemas.microsoft.com/office/powerpoint/2010/main" val="18088439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EDABF-98F7-4852-B2C9-C69D2DF8E632}"/>
              </a:ext>
            </a:extLst>
          </p:cNvPr>
          <p:cNvSpPr>
            <a:spLocks noGrp="1"/>
          </p:cNvSpPr>
          <p:nvPr>
            <p:ph type="title"/>
          </p:nvPr>
        </p:nvSpPr>
        <p:spPr/>
        <p:txBody>
          <a:bodyPr/>
          <a:lstStyle/>
          <a:p>
            <a:r>
              <a:rPr lang="en-US" altLang="en-US" dirty="0">
                <a:sym typeface="Arial"/>
              </a:rPr>
              <a:t>Swimlanes</a:t>
            </a:r>
            <a:endParaRPr lang="en-US" dirty="0"/>
          </a:p>
        </p:txBody>
      </p:sp>
      <p:sp>
        <p:nvSpPr>
          <p:cNvPr id="3" name="Content Placeholder 2">
            <a:extLst>
              <a:ext uri="{FF2B5EF4-FFF2-40B4-BE49-F238E27FC236}">
                <a16:creationId xmlns:a16="http://schemas.microsoft.com/office/drawing/2014/main" id="{4A1D6050-DB3F-4C24-88F4-D9D8B0449EA5}"/>
              </a:ext>
            </a:extLst>
          </p:cNvPr>
          <p:cNvSpPr>
            <a:spLocks noGrp="1"/>
          </p:cNvSpPr>
          <p:nvPr>
            <p:ph sz="quarter" idx="13"/>
          </p:nvPr>
        </p:nvSpPr>
        <p:spPr>
          <a:xfrm>
            <a:off x="457200" y="1556327"/>
            <a:ext cx="8229600" cy="2375593"/>
          </a:xfrm>
        </p:spPr>
        <p:txBody>
          <a:bodyPr/>
          <a:lstStyle/>
          <a:p>
            <a:pPr marL="255588" indent="-255588">
              <a:buSzPts val="2400"/>
            </a:pPr>
            <a:r>
              <a:rPr lang="en-US" altLang="en-US" dirty="0">
                <a:solidFill>
                  <a:srgbClr val="000000"/>
                </a:solidFill>
              </a:rPr>
              <a:t>Useful to show how the data must be transmitted or converted</a:t>
            </a:r>
          </a:p>
          <a:p>
            <a:pPr marL="255588" indent="-255588">
              <a:buSzPts val="2400"/>
            </a:pPr>
            <a:r>
              <a:rPr lang="en-US" altLang="en-US" dirty="0">
                <a:solidFill>
                  <a:srgbClr val="000000"/>
                </a:solidFill>
              </a:rPr>
              <a:t>Help to divide up the tasks in a team</a:t>
            </a:r>
          </a:p>
          <a:p>
            <a:pPr marL="255588" indent="-255588">
              <a:buSzPts val="2400"/>
            </a:pPr>
            <a:r>
              <a:rPr lang="en-US" altLang="en-US" dirty="0">
                <a:solidFill>
                  <a:srgbClr val="000000"/>
                </a:solidFill>
              </a:rPr>
              <a:t>Makes the activity diagram one that people want to use to communicate with others</a:t>
            </a:r>
          </a:p>
        </p:txBody>
      </p:sp>
    </p:spTree>
    <p:extLst>
      <p:ext uri="{BB962C8B-B14F-4D97-AF65-F5344CB8AC3E}">
        <p14:creationId xmlns:p14="http://schemas.microsoft.com/office/powerpoint/2010/main" val="19514442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E1706-8BE2-4D08-8113-12E8E6DE1824}"/>
              </a:ext>
            </a:extLst>
          </p:cNvPr>
          <p:cNvSpPr>
            <a:spLocks noGrp="1"/>
          </p:cNvSpPr>
          <p:nvPr>
            <p:ph type="title"/>
          </p:nvPr>
        </p:nvSpPr>
        <p:spPr>
          <a:xfrm>
            <a:off x="457200" y="102871"/>
            <a:ext cx="8229600" cy="1209780"/>
          </a:xfrm>
        </p:spPr>
        <p:txBody>
          <a:bodyPr/>
          <a:lstStyle/>
          <a:p>
            <a:r>
              <a:rPr lang="en-US" altLang="en-US" sz="2400" dirty="0">
                <a:sym typeface="Arial"/>
              </a:rPr>
              <a:t>Figure 10.9 This Activity Diagram Shows Three Swimlanes: Client Web Page, Web Server, and Mainframe</a:t>
            </a:r>
            <a:endParaRPr lang="en-US" sz="2400" dirty="0"/>
          </a:p>
        </p:txBody>
      </p:sp>
      <p:pic>
        <p:nvPicPr>
          <p:cNvPr id="5" name="Picture 4" descr="An illustration shows change in student information use case. Long description in notes, press F6.">
            <a:extLst>
              <a:ext uri="{FF2B5EF4-FFF2-40B4-BE49-F238E27FC236}">
                <a16:creationId xmlns:a16="http://schemas.microsoft.com/office/drawing/2014/main" id="{5A49802D-4F34-47C7-917D-A2E27270D0F2}"/>
              </a:ext>
            </a:extLst>
          </p:cNvPr>
          <p:cNvPicPr>
            <a:picLocks noChangeAspect="1"/>
          </p:cNvPicPr>
          <p:nvPr/>
        </p:nvPicPr>
        <p:blipFill>
          <a:blip r:embed="rId3"/>
          <a:stretch>
            <a:fillRect/>
          </a:stretch>
        </p:blipFill>
        <p:spPr>
          <a:xfrm>
            <a:off x="2399030" y="1694180"/>
            <a:ext cx="3683000" cy="3949700"/>
          </a:xfrm>
          <a:prstGeom prst="rect">
            <a:avLst/>
          </a:prstGeom>
        </p:spPr>
      </p:pic>
    </p:spTree>
    <p:extLst>
      <p:ext uri="{BB962C8B-B14F-4D97-AF65-F5344CB8AC3E}">
        <p14:creationId xmlns:p14="http://schemas.microsoft.com/office/powerpoint/2010/main" val="15648609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7C32-F95C-4BAB-B21E-F36BE682C048}"/>
              </a:ext>
            </a:extLst>
          </p:cNvPr>
          <p:cNvSpPr>
            <a:spLocks noGrp="1"/>
          </p:cNvSpPr>
          <p:nvPr>
            <p:ph type="title"/>
          </p:nvPr>
        </p:nvSpPr>
        <p:spPr/>
        <p:txBody>
          <a:bodyPr/>
          <a:lstStyle/>
          <a:p>
            <a:r>
              <a:rPr lang="en-US" altLang="en-US" dirty="0">
                <a:sym typeface="Arial"/>
              </a:rPr>
              <a:t>Activity Diagrams and Test Plans</a:t>
            </a:r>
            <a:endParaRPr lang="en-US" dirty="0"/>
          </a:p>
        </p:txBody>
      </p:sp>
      <p:sp>
        <p:nvSpPr>
          <p:cNvPr id="3" name="Content Placeholder 2">
            <a:extLst>
              <a:ext uri="{FF2B5EF4-FFF2-40B4-BE49-F238E27FC236}">
                <a16:creationId xmlns:a16="http://schemas.microsoft.com/office/drawing/2014/main" id="{7F27D393-5EF4-449E-B5E7-F67D2D417A17}"/>
              </a:ext>
            </a:extLst>
          </p:cNvPr>
          <p:cNvSpPr>
            <a:spLocks noGrp="1"/>
          </p:cNvSpPr>
          <p:nvPr>
            <p:ph sz="quarter" idx="13"/>
          </p:nvPr>
        </p:nvSpPr>
        <p:spPr>
          <a:xfrm>
            <a:off x="457200" y="1556327"/>
            <a:ext cx="8229600" cy="2044123"/>
          </a:xfrm>
        </p:spPr>
        <p:txBody>
          <a:bodyPr/>
          <a:lstStyle/>
          <a:p>
            <a:pPr marL="255588" lvl="0" indent="-255588">
              <a:buSzPts val="2400"/>
            </a:pPr>
            <a:r>
              <a:rPr lang="en-US" altLang="en-US" dirty="0">
                <a:solidFill>
                  <a:srgbClr val="000000"/>
                </a:solidFill>
              </a:rPr>
              <a:t>Activity diagrams may be used to construct test plans</a:t>
            </a:r>
          </a:p>
          <a:p>
            <a:pPr marL="255588" lvl="0" indent="-255588">
              <a:buSzPts val="2400"/>
            </a:pPr>
            <a:r>
              <a:rPr lang="en-US" altLang="en-US" dirty="0">
                <a:solidFill>
                  <a:srgbClr val="000000"/>
                </a:solidFill>
              </a:rPr>
              <a:t>Each event must be tested to see if the system goes to the next state</a:t>
            </a:r>
          </a:p>
          <a:p>
            <a:pPr marL="255588" lvl="0" indent="-255588">
              <a:buSzPts val="2400"/>
            </a:pPr>
            <a:r>
              <a:rPr lang="en-US" altLang="en-US" dirty="0">
                <a:solidFill>
                  <a:srgbClr val="000000"/>
                </a:solidFill>
              </a:rPr>
              <a:t>Each decision must be tested</a:t>
            </a:r>
          </a:p>
        </p:txBody>
      </p:sp>
    </p:spTree>
    <p:extLst>
      <p:ext uri="{BB962C8B-B14F-4D97-AF65-F5344CB8AC3E}">
        <p14:creationId xmlns:p14="http://schemas.microsoft.com/office/powerpoint/2010/main" val="1553866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5EA43-7DB6-422E-95B4-7A17815587D7}"/>
              </a:ext>
            </a:extLst>
          </p:cNvPr>
          <p:cNvSpPr>
            <a:spLocks noGrp="1"/>
          </p:cNvSpPr>
          <p:nvPr>
            <p:ph type="title"/>
          </p:nvPr>
        </p:nvSpPr>
        <p:spPr>
          <a:xfrm>
            <a:off x="457200" y="215371"/>
            <a:ext cx="7262949" cy="1097279"/>
          </a:xfrm>
        </p:spPr>
        <p:txBody>
          <a:bodyPr/>
          <a:lstStyle/>
          <a:p>
            <a:r>
              <a:rPr lang="en-US" altLang="en-US" sz="3200" dirty="0">
                <a:sym typeface="Arial"/>
              </a:rPr>
              <a:t>Activity Diagrams Not Created for All Use Cases</a:t>
            </a:r>
            <a:endParaRPr lang="en-US" sz="3200" dirty="0"/>
          </a:p>
        </p:txBody>
      </p:sp>
      <p:sp>
        <p:nvSpPr>
          <p:cNvPr id="3" name="Content Placeholder 2">
            <a:extLst>
              <a:ext uri="{FF2B5EF4-FFF2-40B4-BE49-F238E27FC236}">
                <a16:creationId xmlns:a16="http://schemas.microsoft.com/office/drawing/2014/main" id="{5EF86F4F-5D7D-4DAD-9E09-055E2CB16451}"/>
              </a:ext>
            </a:extLst>
          </p:cNvPr>
          <p:cNvSpPr>
            <a:spLocks noGrp="1"/>
          </p:cNvSpPr>
          <p:nvPr>
            <p:ph sz="quarter" idx="13"/>
          </p:nvPr>
        </p:nvSpPr>
        <p:spPr>
          <a:xfrm>
            <a:off x="457200" y="1556326"/>
            <a:ext cx="8229600" cy="2290845"/>
          </a:xfrm>
        </p:spPr>
        <p:txBody>
          <a:bodyPr/>
          <a:lstStyle/>
          <a:p>
            <a:pPr marL="255588" indent="-255588">
              <a:buSzPts val="2400"/>
            </a:pPr>
            <a:r>
              <a:rPr lang="en-US" altLang="en-US" dirty="0">
                <a:solidFill>
                  <a:srgbClr val="000000"/>
                </a:solidFill>
              </a:rPr>
              <a:t>Use an activity diagram when:</a:t>
            </a:r>
          </a:p>
          <a:p>
            <a:pPr lvl="1"/>
            <a:r>
              <a:rPr lang="en-US" altLang="en-US" dirty="0"/>
              <a:t>It helps to understand the activities of a use case</a:t>
            </a:r>
          </a:p>
          <a:p>
            <a:pPr lvl="1"/>
            <a:r>
              <a:rPr lang="en-US" altLang="en-US" dirty="0"/>
              <a:t>The flow of control is complex</a:t>
            </a:r>
          </a:p>
          <a:p>
            <a:pPr lvl="1"/>
            <a:r>
              <a:rPr lang="en-US" altLang="en-US" dirty="0"/>
              <a:t>There is a need to model workflow</a:t>
            </a:r>
          </a:p>
          <a:p>
            <a:pPr lvl="1"/>
            <a:r>
              <a:rPr lang="en-US" altLang="en-US" dirty="0"/>
              <a:t>When all scenarios for a use case need to be shown</a:t>
            </a:r>
          </a:p>
        </p:txBody>
      </p:sp>
    </p:spTree>
    <p:extLst>
      <p:ext uri="{BB962C8B-B14F-4D97-AF65-F5344CB8AC3E}">
        <p14:creationId xmlns:p14="http://schemas.microsoft.com/office/powerpoint/2010/main" val="2496885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02151-FB7F-42E9-B4E3-C8B36125678B}"/>
              </a:ext>
            </a:extLst>
          </p:cNvPr>
          <p:cNvSpPr>
            <a:spLocks noGrp="1"/>
          </p:cNvSpPr>
          <p:nvPr>
            <p:ph type="title"/>
          </p:nvPr>
        </p:nvSpPr>
        <p:spPr/>
        <p:txBody>
          <a:bodyPr/>
          <a:lstStyle/>
          <a:p>
            <a:r>
              <a:rPr lang="en-US" altLang="en-US" dirty="0">
                <a:sym typeface="Arial"/>
              </a:rPr>
              <a:t>Sequence Diagrams</a:t>
            </a:r>
            <a:endParaRPr lang="en-US" dirty="0"/>
          </a:p>
        </p:txBody>
      </p:sp>
      <p:sp>
        <p:nvSpPr>
          <p:cNvPr id="3" name="Content Placeholder 2">
            <a:extLst>
              <a:ext uri="{FF2B5EF4-FFF2-40B4-BE49-F238E27FC236}">
                <a16:creationId xmlns:a16="http://schemas.microsoft.com/office/drawing/2014/main" id="{F4FF566F-35FB-4B36-9399-1EE352FC589A}"/>
              </a:ext>
            </a:extLst>
          </p:cNvPr>
          <p:cNvSpPr>
            <a:spLocks noGrp="1"/>
          </p:cNvSpPr>
          <p:nvPr>
            <p:ph sz="quarter" idx="13"/>
          </p:nvPr>
        </p:nvSpPr>
        <p:spPr>
          <a:xfrm>
            <a:off x="457200" y="1556327"/>
            <a:ext cx="8229600" cy="2798503"/>
          </a:xfrm>
        </p:spPr>
        <p:txBody>
          <a:bodyPr/>
          <a:lstStyle/>
          <a:p>
            <a:pPr marL="255588" indent="-255588">
              <a:buSzPts val="2400"/>
            </a:pPr>
            <a:r>
              <a:rPr lang="en-US" altLang="en-US" dirty="0">
                <a:solidFill>
                  <a:srgbClr val="000000"/>
                </a:solidFill>
              </a:rPr>
              <a:t>Illustrate a succession of interactions between classes or object instances over time</a:t>
            </a:r>
          </a:p>
          <a:p>
            <a:pPr marL="255588" indent="-255588">
              <a:buSzPts val="2400"/>
            </a:pPr>
            <a:r>
              <a:rPr lang="en-US" altLang="en-US" dirty="0">
                <a:solidFill>
                  <a:srgbClr val="000000"/>
                </a:solidFill>
              </a:rPr>
              <a:t>Often used to show the processing described in use case scenarios</a:t>
            </a:r>
          </a:p>
          <a:p>
            <a:pPr marL="255588" indent="-255588">
              <a:buSzPts val="2400"/>
            </a:pPr>
            <a:r>
              <a:rPr lang="en-US" altLang="en-US" dirty="0">
                <a:solidFill>
                  <a:srgbClr val="000000"/>
                </a:solidFill>
              </a:rPr>
              <a:t>Used to show the overall pattern of the activities or interactions in a use case</a:t>
            </a:r>
          </a:p>
        </p:txBody>
      </p:sp>
    </p:spTree>
    <p:extLst>
      <p:ext uri="{BB962C8B-B14F-4D97-AF65-F5344CB8AC3E}">
        <p14:creationId xmlns:p14="http://schemas.microsoft.com/office/powerpoint/2010/main" val="9365121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FEED-63B1-42C8-A21C-9DB1E2D5F35E}"/>
              </a:ext>
            </a:extLst>
          </p:cNvPr>
          <p:cNvSpPr>
            <a:spLocks noGrp="1"/>
          </p:cNvSpPr>
          <p:nvPr>
            <p:ph type="title"/>
          </p:nvPr>
        </p:nvSpPr>
        <p:spPr/>
        <p:txBody>
          <a:bodyPr/>
          <a:lstStyle/>
          <a:p>
            <a:r>
              <a:rPr lang="en-US" altLang="en-US" sz="3200" dirty="0">
                <a:sym typeface="Arial"/>
              </a:rPr>
              <a:t>Figure 10.10 Specialized Symbols Used to Draw a Sequence Diagram</a:t>
            </a:r>
            <a:endParaRPr lang="en-US" sz="3200" dirty="0"/>
          </a:p>
        </p:txBody>
      </p:sp>
      <p:pic>
        <p:nvPicPr>
          <p:cNvPr id="5" name="Picture 4" descr="An illustration shows specialized symbols used to draw a sequence diagram. Long description in notes, press F6.">
            <a:extLst>
              <a:ext uri="{FF2B5EF4-FFF2-40B4-BE49-F238E27FC236}">
                <a16:creationId xmlns:a16="http://schemas.microsoft.com/office/drawing/2014/main" id="{D8E0F02D-0F3B-43A6-A17B-D29149796D3C}"/>
              </a:ext>
            </a:extLst>
          </p:cNvPr>
          <p:cNvPicPr>
            <a:picLocks noChangeAspect="1"/>
          </p:cNvPicPr>
          <p:nvPr/>
        </p:nvPicPr>
        <p:blipFill>
          <a:blip r:embed="rId3"/>
          <a:stretch>
            <a:fillRect/>
          </a:stretch>
        </p:blipFill>
        <p:spPr>
          <a:xfrm>
            <a:off x="2921000" y="1557338"/>
            <a:ext cx="3302000" cy="4622800"/>
          </a:xfrm>
          <a:prstGeom prst="rect">
            <a:avLst/>
          </a:prstGeom>
        </p:spPr>
      </p:pic>
    </p:spTree>
    <p:extLst>
      <p:ext uri="{BB962C8B-B14F-4D97-AF65-F5344CB8AC3E}">
        <p14:creationId xmlns:p14="http://schemas.microsoft.com/office/powerpoint/2010/main" val="23985200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695DB-5723-4422-A568-DCF6CA28D360}"/>
              </a:ext>
            </a:extLst>
          </p:cNvPr>
          <p:cNvSpPr>
            <a:spLocks noGrp="1"/>
          </p:cNvSpPr>
          <p:nvPr>
            <p:ph type="title"/>
          </p:nvPr>
        </p:nvSpPr>
        <p:spPr>
          <a:xfrm>
            <a:off x="457200" y="102871"/>
            <a:ext cx="8229600" cy="1209780"/>
          </a:xfrm>
        </p:spPr>
        <p:txBody>
          <a:bodyPr/>
          <a:lstStyle/>
          <a:p>
            <a:r>
              <a:rPr lang="en-US" altLang="en-US" sz="2400" dirty="0">
                <a:sym typeface="Arial"/>
              </a:rPr>
              <a:t>Figure 10.11 A Sequence Diagram for Student Admission: Sequence Diagrams Emphasize the Time Ordering of Messages</a:t>
            </a:r>
            <a:endParaRPr lang="en-US" sz="2400" dirty="0"/>
          </a:p>
        </p:txBody>
      </p:sp>
      <p:pic>
        <p:nvPicPr>
          <p:cNvPr id="5" name="Picture 4" descr="An illustration shows a sequence diagram for student admission. Long description in notes, press F6.">
            <a:extLst>
              <a:ext uri="{FF2B5EF4-FFF2-40B4-BE49-F238E27FC236}">
                <a16:creationId xmlns:a16="http://schemas.microsoft.com/office/drawing/2014/main" id="{840A0F82-FDD3-4C26-948E-DA267CE280E0}"/>
              </a:ext>
            </a:extLst>
          </p:cNvPr>
          <p:cNvPicPr>
            <a:picLocks noChangeAspect="1"/>
          </p:cNvPicPr>
          <p:nvPr/>
        </p:nvPicPr>
        <p:blipFill>
          <a:blip r:embed="rId3"/>
          <a:stretch>
            <a:fillRect/>
          </a:stretch>
        </p:blipFill>
        <p:spPr>
          <a:xfrm>
            <a:off x="2030730" y="1934210"/>
            <a:ext cx="5334000" cy="3949700"/>
          </a:xfrm>
          <a:prstGeom prst="rect">
            <a:avLst/>
          </a:prstGeom>
        </p:spPr>
      </p:pic>
    </p:spTree>
    <p:extLst>
      <p:ext uri="{BB962C8B-B14F-4D97-AF65-F5344CB8AC3E}">
        <p14:creationId xmlns:p14="http://schemas.microsoft.com/office/powerpoint/2010/main" val="16770575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EBA8-52FC-452C-96FF-556E8A2CAD6B}"/>
              </a:ext>
            </a:extLst>
          </p:cNvPr>
          <p:cNvSpPr>
            <a:spLocks noGrp="1"/>
          </p:cNvSpPr>
          <p:nvPr>
            <p:ph type="title"/>
          </p:nvPr>
        </p:nvSpPr>
        <p:spPr/>
        <p:txBody>
          <a:bodyPr/>
          <a:lstStyle/>
          <a:p>
            <a:r>
              <a:rPr lang="en-US" altLang="en-US" dirty="0">
                <a:sym typeface="Arial"/>
              </a:rPr>
              <a:t>Communication Diagrams</a:t>
            </a:r>
            <a:endParaRPr lang="en-US" dirty="0"/>
          </a:p>
        </p:txBody>
      </p:sp>
      <p:sp>
        <p:nvSpPr>
          <p:cNvPr id="3" name="Content Placeholder 2">
            <a:extLst>
              <a:ext uri="{FF2B5EF4-FFF2-40B4-BE49-F238E27FC236}">
                <a16:creationId xmlns:a16="http://schemas.microsoft.com/office/drawing/2014/main" id="{DBBC5E62-B640-4F99-BB6E-98E9E811E8A9}"/>
              </a:ext>
            </a:extLst>
          </p:cNvPr>
          <p:cNvSpPr>
            <a:spLocks noGrp="1"/>
          </p:cNvSpPr>
          <p:nvPr>
            <p:ph sz="quarter" idx="13"/>
          </p:nvPr>
        </p:nvSpPr>
        <p:spPr>
          <a:xfrm>
            <a:off x="457200" y="1556327"/>
            <a:ext cx="8229600" cy="3712903"/>
          </a:xfrm>
        </p:spPr>
        <p:txBody>
          <a:bodyPr/>
          <a:lstStyle/>
          <a:p>
            <a:pPr marL="255588" indent="-255588">
              <a:buSzPts val="2400"/>
            </a:pPr>
            <a:r>
              <a:rPr lang="en-US" altLang="en-US" dirty="0">
                <a:solidFill>
                  <a:srgbClr val="000000"/>
                </a:solidFill>
              </a:rPr>
              <a:t>Describes the interactions of two or more things in the system that perform a behavior that is more than any one of the things can do alone</a:t>
            </a:r>
          </a:p>
          <a:p>
            <a:pPr marL="255588" indent="-255588">
              <a:buSzPts val="2400"/>
            </a:pPr>
            <a:r>
              <a:rPr lang="en-US" altLang="en-US" dirty="0">
                <a:solidFill>
                  <a:srgbClr val="000000"/>
                </a:solidFill>
              </a:rPr>
              <a:t>Shows the same information as a sequence diagram, but may be more difficult to read</a:t>
            </a:r>
          </a:p>
          <a:p>
            <a:pPr marL="255588" indent="-255588">
              <a:buSzPts val="2400"/>
            </a:pPr>
            <a:r>
              <a:rPr lang="en-US" altLang="en-US" dirty="0">
                <a:solidFill>
                  <a:srgbClr val="000000"/>
                </a:solidFill>
              </a:rPr>
              <a:t>Emphasizes the organization of objects</a:t>
            </a:r>
          </a:p>
          <a:p>
            <a:pPr marL="255588" indent="-255588">
              <a:buSzPts val="2400"/>
            </a:pPr>
            <a:r>
              <a:rPr lang="en-US" altLang="en-US" dirty="0">
                <a:solidFill>
                  <a:srgbClr val="000000"/>
                </a:solidFill>
              </a:rPr>
              <a:t>Made up of objects, communication links, and the messages that can be passed along those links</a:t>
            </a:r>
          </a:p>
        </p:txBody>
      </p:sp>
    </p:spTree>
    <p:extLst>
      <p:ext uri="{BB962C8B-B14F-4D97-AF65-F5344CB8AC3E}">
        <p14:creationId xmlns:p14="http://schemas.microsoft.com/office/powerpoint/2010/main" val="4847809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B5D51-3B00-46C6-A8DA-4FC245F8E63F}"/>
              </a:ext>
            </a:extLst>
          </p:cNvPr>
          <p:cNvSpPr>
            <a:spLocks noGrp="1"/>
          </p:cNvSpPr>
          <p:nvPr>
            <p:ph type="title"/>
          </p:nvPr>
        </p:nvSpPr>
        <p:spPr/>
        <p:txBody>
          <a:bodyPr/>
          <a:lstStyle/>
          <a:p>
            <a:r>
              <a:rPr lang="en-US" altLang="en-US" sz="3200" dirty="0">
                <a:sym typeface="Arial"/>
              </a:rPr>
              <a:t>Figure 10.12 A Communication Diagram for Student Admission</a:t>
            </a:r>
            <a:endParaRPr lang="en-US" sz="3200" dirty="0"/>
          </a:p>
        </p:txBody>
      </p:sp>
      <p:sp>
        <p:nvSpPr>
          <p:cNvPr id="3" name="Content Placeholder 2">
            <a:extLst>
              <a:ext uri="{FF2B5EF4-FFF2-40B4-BE49-F238E27FC236}">
                <a16:creationId xmlns:a16="http://schemas.microsoft.com/office/drawing/2014/main" id="{BE484D6A-53C5-47E4-BDBF-E20A20FE0757}"/>
              </a:ext>
            </a:extLst>
          </p:cNvPr>
          <p:cNvSpPr>
            <a:spLocks noGrp="1"/>
          </p:cNvSpPr>
          <p:nvPr>
            <p:ph sz="quarter" idx="13"/>
          </p:nvPr>
        </p:nvSpPr>
        <p:spPr>
          <a:xfrm>
            <a:off x="457200" y="1556327"/>
            <a:ext cx="8229600" cy="1255453"/>
          </a:xfrm>
        </p:spPr>
        <p:txBody>
          <a:bodyPr/>
          <a:lstStyle/>
          <a:p>
            <a:pPr marL="432" indent="0">
              <a:buNone/>
            </a:pPr>
            <a:r>
              <a:rPr lang="en-US" altLang="en-US" dirty="0">
                <a:solidFill>
                  <a:srgbClr val="000000"/>
                </a:solidFill>
                <a:latin typeface="Arial (Body)"/>
              </a:rPr>
              <a:t>Communication diagrams show the same information that is depicted in a sequence diagram but emphasize the organization of objects rather than the time ordering.</a:t>
            </a:r>
          </a:p>
        </p:txBody>
      </p:sp>
      <p:pic>
        <p:nvPicPr>
          <p:cNvPr id="7" name="Picture 6" descr="An illustration shows a communication diagram for student admission. Long description in notes, press F6.">
            <a:extLst>
              <a:ext uri="{FF2B5EF4-FFF2-40B4-BE49-F238E27FC236}">
                <a16:creationId xmlns:a16="http://schemas.microsoft.com/office/drawing/2014/main" id="{3255DA9E-0A90-4D35-B00B-F93717D33D82}"/>
              </a:ext>
            </a:extLst>
          </p:cNvPr>
          <p:cNvPicPr>
            <a:picLocks noChangeAspect="1"/>
          </p:cNvPicPr>
          <p:nvPr/>
        </p:nvPicPr>
        <p:blipFill>
          <a:blip r:embed="rId3"/>
          <a:stretch>
            <a:fillRect/>
          </a:stretch>
        </p:blipFill>
        <p:spPr>
          <a:xfrm>
            <a:off x="468313" y="3229610"/>
            <a:ext cx="8166100" cy="2844800"/>
          </a:xfrm>
          <a:prstGeom prst="rect">
            <a:avLst/>
          </a:prstGeom>
        </p:spPr>
      </p:pic>
    </p:spTree>
    <p:extLst>
      <p:ext uri="{BB962C8B-B14F-4D97-AF65-F5344CB8AC3E}">
        <p14:creationId xmlns:p14="http://schemas.microsoft.com/office/powerpoint/2010/main" val="24489713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7955C-4CC9-4FF7-B253-48B2F8702464}"/>
              </a:ext>
            </a:extLst>
          </p:cNvPr>
          <p:cNvSpPr>
            <a:spLocks noGrp="1"/>
          </p:cNvSpPr>
          <p:nvPr>
            <p:ph type="title"/>
          </p:nvPr>
        </p:nvSpPr>
        <p:spPr/>
        <p:txBody>
          <a:bodyPr/>
          <a:lstStyle/>
          <a:p>
            <a:r>
              <a:rPr lang="en-US" altLang="en-US" dirty="0">
                <a:sym typeface="Arial"/>
              </a:rPr>
              <a:t>Class Diagrams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ACE20B2D-7D4C-4C2F-89DD-041EAF04064E}"/>
              </a:ext>
            </a:extLst>
          </p:cNvPr>
          <p:cNvSpPr>
            <a:spLocks noGrp="1"/>
          </p:cNvSpPr>
          <p:nvPr>
            <p:ph sz="quarter" idx="13"/>
          </p:nvPr>
        </p:nvSpPr>
        <p:spPr>
          <a:xfrm>
            <a:off x="457200" y="1556327"/>
            <a:ext cx="8229600" cy="2364163"/>
          </a:xfrm>
        </p:spPr>
        <p:txBody>
          <a:bodyPr/>
          <a:lstStyle/>
          <a:p>
            <a:pPr marL="255588" indent="-255588">
              <a:buSzPts val="2400"/>
            </a:pPr>
            <a:r>
              <a:rPr lang="en-US" altLang="en-US" dirty="0">
                <a:solidFill>
                  <a:srgbClr val="000000"/>
                </a:solidFill>
              </a:rPr>
              <a:t>Show the static features of the system and do not represent any particular processing</a:t>
            </a:r>
          </a:p>
          <a:p>
            <a:pPr marL="255588" indent="-255588">
              <a:buSzPts val="2400"/>
            </a:pPr>
            <a:r>
              <a:rPr lang="en-US" altLang="en-US" dirty="0">
                <a:solidFill>
                  <a:srgbClr val="000000"/>
                </a:solidFill>
              </a:rPr>
              <a:t>Show the nature of the relationships between classes</a:t>
            </a:r>
          </a:p>
          <a:p>
            <a:pPr marL="255588" indent="-255588">
              <a:buSzPts val="2400"/>
            </a:pPr>
            <a:r>
              <a:rPr lang="en-US" altLang="en-US" dirty="0">
                <a:solidFill>
                  <a:srgbClr val="000000"/>
                </a:solidFill>
              </a:rPr>
              <a:t>Show data storage requirements as well as processing requirements</a:t>
            </a:r>
          </a:p>
        </p:txBody>
      </p:sp>
    </p:spTree>
    <p:extLst>
      <p:ext uri="{BB962C8B-B14F-4D97-AF65-F5344CB8AC3E}">
        <p14:creationId xmlns:p14="http://schemas.microsoft.com/office/powerpoint/2010/main" val="30889977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4DF6B-5D4D-4EC5-BA86-42C13BAB3D25}"/>
              </a:ext>
            </a:extLst>
          </p:cNvPr>
          <p:cNvSpPr>
            <a:spLocks noGrp="1"/>
          </p:cNvSpPr>
          <p:nvPr>
            <p:ph type="title"/>
          </p:nvPr>
        </p:nvSpPr>
        <p:spPr/>
        <p:txBody>
          <a:bodyPr/>
          <a:lstStyle/>
          <a:p>
            <a:r>
              <a:rPr lang="en-US" altLang="en-US" dirty="0">
                <a:sym typeface="Arial"/>
              </a:rPr>
              <a:t>Class Diagrams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CD74F369-E0C1-4AD0-B2A2-B2D97AC6C745}"/>
              </a:ext>
            </a:extLst>
          </p:cNvPr>
          <p:cNvSpPr>
            <a:spLocks noGrp="1"/>
          </p:cNvSpPr>
          <p:nvPr>
            <p:ph sz="quarter" idx="13"/>
          </p:nvPr>
        </p:nvSpPr>
        <p:spPr>
          <a:xfrm>
            <a:off x="457200" y="1556327"/>
            <a:ext cx="8229600" cy="3872923"/>
          </a:xfrm>
        </p:spPr>
        <p:txBody>
          <a:bodyPr/>
          <a:lstStyle/>
          <a:p>
            <a:pPr marL="255588" indent="-255588">
              <a:buSzPts val="2400"/>
            </a:pPr>
            <a:r>
              <a:rPr lang="en-US" altLang="en-US" dirty="0">
                <a:solidFill>
                  <a:srgbClr val="000000"/>
                </a:solidFill>
              </a:rPr>
              <a:t>Classes</a:t>
            </a:r>
          </a:p>
          <a:p>
            <a:pPr marL="255588" indent="-255588">
              <a:buSzPts val="2400"/>
            </a:pPr>
            <a:r>
              <a:rPr lang="en-US" altLang="en-US" dirty="0">
                <a:solidFill>
                  <a:srgbClr val="000000"/>
                </a:solidFill>
              </a:rPr>
              <a:t>Attributes</a:t>
            </a:r>
          </a:p>
          <a:p>
            <a:pPr lvl="1"/>
            <a:r>
              <a:rPr lang="en-US" altLang="en-US" dirty="0"/>
              <a:t>Private</a:t>
            </a:r>
          </a:p>
          <a:p>
            <a:pPr lvl="1"/>
            <a:r>
              <a:rPr lang="en-US" altLang="en-US" dirty="0"/>
              <a:t>Public</a:t>
            </a:r>
          </a:p>
          <a:p>
            <a:pPr lvl="1"/>
            <a:r>
              <a:rPr lang="en-US" altLang="en-US" dirty="0"/>
              <a:t>Protected</a:t>
            </a:r>
          </a:p>
          <a:p>
            <a:pPr marL="255588" indent="-255588">
              <a:buSzPts val="2400"/>
            </a:pPr>
            <a:r>
              <a:rPr lang="en-US" altLang="en-US" dirty="0">
                <a:solidFill>
                  <a:srgbClr val="000000"/>
                </a:solidFill>
              </a:rPr>
              <a:t>Methods</a:t>
            </a:r>
          </a:p>
          <a:p>
            <a:pPr lvl="1"/>
            <a:r>
              <a:rPr lang="en-US" altLang="en-US" dirty="0"/>
              <a:t>Standard</a:t>
            </a:r>
          </a:p>
          <a:p>
            <a:pPr lvl="1"/>
            <a:r>
              <a:rPr lang="en-US" altLang="en-US" dirty="0"/>
              <a:t>Custom</a:t>
            </a:r>
          </a:p>
        </p:txBody>
      </p:sp>
    </p:spTree>
    <p:extLst>
      <p:ext uri="{BB962C8B-B14F-4D97-AF65-F5344CB8AC3E}">
        <p14:creationId xmlns:p14="http://schemas.microsoft.com/office/powerpoint/2010/main" val="9484514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2FD6-3A60-457B-A960-284B1DA324F1}"/>
              </a:ext>
            </a:extLst>
          </p:cNvPr>
          <p:cNvSpPr>
            <a:spLocks noGrp="1"/>
          </p:cNvSpPr>
          <p:nvPr>
            <p:ph type="title"/>
          </p:nvPr>
        </p:nvSpPr>
        <p:spPr>
          <a:xfrm>
            <a:off x="457200" y="102871"/>
            <a:ext cx="8229600" cy="1209780"/>
          </a:xfrm>
        </p:spPr>
        <p:txBody>
          <a:bodyPr/>
          <a:lstStyle/>
          <a:p>
            <a:r>
              <a:rPr lang="en-US" altLang="en-US" sz="2400" dirty="0">
                <a:sym typeface="Arial"/>
              </a:rPr>
              <a:t>Figure 10.13 A Class Diagram for Course Offerings: the Filled-In Diamonds Show Aggregation and the Empty Diamond Shows a Whole-Part Relationship</a:t>
            </a:r>
            <a:endParaRPr lang="en-US" sz="2400" dirty="0"/>
          </a:p>
        </p:txBody>
      </p:sp>
      <p:pic>
        <p:nvPicPr>
          <p:cNvPr id="5" name="Picture 4" descr="An illustration shows a class diagram for course offerings. Long description in notes, press F6.">
            <a:extLst>
              <a:ext uri="{FF2B5EF4-FFF2-40B4-BE49-F238E27FC236}">
                <a16:creationId xmlns:a16="http://schemas.microsoft.com/office/drawing/2014/main" id="{49427FD5-CAB1-43F0-8C55-73D320986FEC}"/>
              </a:ext>
            </a:extLst>
          </p:cNvPr>
          <p:cNvPicPr>
            <a:picLocks noChangeAspect="1"/>
          </p:cNvPicPr>
          <p:nvPr/>
        </p:nvPicPr>
        <p:blipFill>
          <a:blip r:embed="rId3"/>
          <a:stretch>
            <a:fillRect/>
          </a:stretch>
        </p:blipFill>
        <p:spPr>
          <a:xfrm>
            <a:off x="1428750" y="1830070"/>
            <a:ext cx="6286500" cy="3975100"/>
          </a:xfrm>
          <a:prstGeom prst="rect">
            <a:avLst/>
          </a:prstGeom>
        </p:spPr>
      </p:pic>
    </p:spTree>
    <p:extLst>
      <p:ext uri="{BB962C8B-B14F-4D97-AF65-F5344CB8AC3E}">
        <p14:creationId xmlns:p14="http://schemas.microsoft.com/office/powerpoint/2010/main" val="56887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3ADFF-E857-45F6-9737-9B383F9E09E4}"/>
              </a:ext>
            </a:extLst>
          </p:cNvPr>
          <p:cNvSpPr>
            <a:spLocks noGrp="1"/>
          </p:cNvSpPr>
          <p:nvPr>
            <p:ph type="title"/>
          </p:nvPr>
        </p:nvSpPr>
        <p:spPr/>
        <p:txBody>
          <a:bodyPr/>
          <a:lstStyle/>
          <a:p>
            <a:r>
              <a:rPr lang="en-US" altLang="en-US" dirty="0">
                <a:sym typeface="Arial"/>
              </a:rPr>
              <a:t>Method Overloading</a:t>
            </a:r>
            <a:endParaRPr lang="en-US" dirty="0"/>
          </a:p>
        </p:txBody>
      </p:sp>
      <p:sp>
        <p:nvSpPr>
          <p:cNvPr id="3" name="Content Placeholder 2">
            <a:extLst>
              <a:ext uri="{FF2B5EF4-FFF2-40B4-BE49-F238E27FC236}">
                <a16:creationId xmlns:a16="http://schemas.microsoft.com/office/drawing/2014/main" id="{D259903E-434D-45B6-A956-0AC9A6F79AA4}"/>
              </a:ext>
            </a:extLst>
          </p:cNvPr>
          <p:cNvSpPr>
            <a:spLocks noGrp="1"/>
          </p:cNvSpPr>
          <p:nvPr>
            <p:ph sz="quarter" idx="13"/>
          </p:nvPr>
        </p:nvSpPr>
        <p:spPr>
          <a:xfrm>
            <a:off x="457200" y="1556327"/>
            <a:ext cx="8229600" cy="2169853"/>
          </a:xfrm>
        </p:spPr>
        <p:txBody>
          <a:bodyPr/>
          <a:lstStyle/>
          <a:p>
            <a:pPr marL="255588" indent="-255588">
              <a:buSzPts val="2400"/>
            </a:pPr>
            <a:r>
              <a:rPr lang="en-US" altLang="en-US" dirty="0">
                <a:solidFill>
                  <a:srgbClr val="000000"/>
                </a:solidFill>
              </a:rPr>
              <a:t>Including the same method (or operation) several times in a class</a:t>
            </a:r>
          </a:p>
          <a:p>
            <a:pPr marL="255588" indent="-255588">
              <a:buSzPts val="2400"/>
            </a:pPr>
            <a:r>
              <a:rPr lang="en-US" altLang="en-US" dirty="0">
                <a:solidFill>
                  <a:srgbClr val="000000"/>
                </a:solidFill>
              </a:rPr>
              <a:t>The same method may be defined more than once in a given class, as long as the parameters sent as part of the message are different</a:t>
            </a:r>
          </a:p>
        </p:txBody>
      </p:sp>
    </p:spTree>
    <p:extLst>
      <p:ext uri="{BB962C8B-B14F-4D97-AF65-F5344CB8AC3E}">
        <p14:creationId xmlns:p14="http://schemas.microsoft.com/office/powerpoint/2010/main" val="3716437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A64CD-49FF-4B7D-A53B-78F2F68AD65D}"/>
              </a:ext>
            </a:extLst>
          </p:cNvPr>
          <p:cNvSpPr>
            <a:spLocks noGrp="1"/>
          </p:cNvSpPr>
          <p:nvPr>
            <p:ph type="title"/>
          </p:nvPr>
        </p:nvSpPr>
        <p:spPr/>
        <p:txBody>
          <a:bodyPr/>
          <a:lstStyle/>
          <a:p>
            <a:r>
              <a:rPr lang="en-US" altLang="en-US" dirty="0">
                <a:sym typeface="Arial"/>
              </a:rPr>
              <a:t>Types of Classes</a:t>
            </a:r>
            <a:endParaRPr lang="en-US" dirty="0"/>
          </a:p>
        </p:txBody>
      </p:sp>
      <p:sp>
        <p:nvSpPr>
          <p:cNvPr id="3" name="Content Placeholder 2">
            <a:extLst>
              <a:ext uri="{FF2B5EF4-FFF2-40B4-BE49-F238E27FC236}">
                <a16:creationId xmlns:a16="http://schemas.microsoft.com/office/drawing/2014/main" id="{C8F74383-888C-43CF-96DB-8D4D10BDBC65}"/>
              </a:ext>
            </a:extLst>
          </p:cNvPr>
          <p:cNvSpPr>
            <a:spLocks noGrp="1"/>
          </p:cNvSpPr>
          <p:nvPr>
            <p:ph sz="quarter" idx="13"/>
          </p:nvPr>
        </p:nvSpPr>
        <p:spPr>
          <a:xfrm>
            <a:off x="457200" y="1556327"/>
            <a:ext cx="8229600" cy="2261293"/>
          </a:xfrm>
        </p:spPr>
        <p:txBody>
          <a:bodyPr/>
          <a:lstStyle/>
          <a:p>
            <a:pPr marL="255588" lvl="0" indent="-255588">
              <a:buSzPts val="2400"/>
            </a:pPr>
            <a:r>
              <a:rPr lang="en-US" altLang="en-US" dirty="0">
                <a:solidFill>
                  <a:srgbClr val="000000"/>
                </a:solidFill>
              </a:rPr>
              <a:t>Entity classes</a:t>
            </a:r>
          </a:p>
          <a:p>
            <a:pPr marL="255588" lvl="0" indent="-255588">
              <a:buSzPts val="2400"/>
            </a:pPr>
            <a:r>
              <a:rPr lang="en-US" altLang="en-US" dirty="0">
                <a:solidFill>
                  <a:srgbClr val="000000"/>
                </a:solidFill>
              </a:rPr>
              <a:t>Interface classes</a:t>
            </a:r>
          </a:p>
          <a:p>
            <a:pPr marL="255588" lvl="0" indent="-255588">
              <a:buSzPts val="2400"/>
            </a:pPr>
            <a:r>
              <a:rPr lang="en-US" altLang="en-US" dirty="0">
                <a:solidFill>
                  <a:srgbClr val="000000"/>
                </a:solidFill>
              </a:rPr>
              <a:t>Abstract classes</a:t>
            </a:r>
          </a:p>
          <a:p>
            <a:pPr marL="255588" lvl="0" indent="-255588">
              <a:buSzPts val="2400"/>
            </a:pPr>
            <a:r>
              <a:rPr lang="en-US" altLang="en-US" dirty="0">
                <a:solidFill>
                  <a:srgbClr val="000000"/>
                </a:solidFill>
              </a:rPr>
              <a:t>Control classes</a:t>
            </a:r>
          </a:p>
        </p:txBody>
      </p:sp>
    </p:spTree>
    <p:extLst>
      <p:ext uri="{BB962C8B-B14F-4D97-AF65-F5344CB8AC3E}">
        <p14:creationId xmlns:p14="http://schemas.microsoft.com/office/powerpoint/2010/main" val="8128021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B660-EC7A-4A72-9A60-8BC3E5262EE1}"/>
              </a:ext>
            </a:extLst>
          </p:cNvPr>
          <p:cNvSpPr>
            <a:spLocks noGrp="1"/>
          </p:cNvSpPr>
          <p:nvPr>
            <p:ph type="title"/>
          </p:nvPr>
        </p:nvSpPr>
        <p:spPr/>
        <p:txBody>
          <a:bodyPr/>
          <a:lstStyle/>
          <a:p>
            <a:r>
              <a:rPr lang="en-US" altLang="en-US" dirty="0">
                <a:sym typeface="Arial"/>
              </a:rPr>
              <a:t>Entity Classes</a:t>
            </a:r>
            <a:endParaRPr lang="en-US" dirty="0"/>
          </a:p>
        </p:txBody>
      </p:sp>
      <p:sp>
        <p:nvSpPr>
          <p:cNvPr id="3" name="Content Placeholder 2">
            <a:extLst>
              <a:ext uri="{FF2B5EF4-FFF2-40B4-BE49-F238E27FC236}">
                <a16:creationId xmlns:a16="http://schemas.microsoft.com/office/drawing/2014/main" id="{13DDCDF5-FB94-486C-95C6-A1B6D5AB943A}"/>
              </a:ext>
            </a:extLst>
          </p:cNvPr>
          <p:cNvSpPr>
            <a:spLocks noGrp="1"/>
          </p:cNvSpPr>
          <p:nvPr>
            <p:ph sz="quarter" idx="13"/>
          </p:nvPr>
        </p:nvSpPr>
        <p:spPr>
          <a:xfrm>
            <a:off x="457200" y="1556327"/>
            <a:ext cx="8229600" cy="1495483"/>
          </a:xfrm>
        </p:spPr>
        <p:txBody>
          <a:bodyPr/>
          <a:lstStyle/>
          <a:p>
            <a:pPr marL="255588" lvl="0" indent="-255588">
              <a:buSzPts val="2400"/>
            </a:pPr>
            <a:r>
              <a:rPr lang="en-US" altLang="en-US" dirty="0">
                <a:solidFill>
                  <a:srgbClr val="000000"/>
                </a:solidFill>
              </a:rPr>
              <a:t>Represent real-world items</a:t>
            </a:r>
          </a:p>
          <a:p>
            <a:pPr marL="255588" lvl="0" indent="-255588">
              <a:buSzPts val="2400"/>
            </a:pPr>
            <a:r>
              <a:rPr lang="en-US" altLang="en-US" dirty="0">
                <a:solidFill>
                  <a:srgbClr val="000000"/>
                </a:solidFill>
              </a:rPr>
              <a:t>The entities represented on an entity-relationship diagram</a:t>
            </a:r>
          </a:p>
        </p:txBody>
      </p:sp>
    </p:spTree>
    <p:extLst>
      <p:ext uri="{BB962C8B-B14F-4D97-AF65-F5344CB8AC3E}">
        <p14:creationId xmlns:p14="http://schemas.microsoft.com/office/powerpoint/2010/main" val="23918847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BB8F-BFDB-4798-A0EE-58CD4E37AA5B}"/>
              </a:ext>
            </a:extLst>
          </p:cNvPr>
          <p:cNvSpPr>
            <a:spLocks noGrp="1"/>
          </p:cNvSpPr>
          <p:nvPr>
            <p:ph type="title"/>
          </p:nvPr>
        </p:nvSpPr>
        <p:spPr/>
        <p:txBody>
          <a:bodyPr/>
          <a:lstStyle/>
          <a:p>
            <a:r>
              <a:rPr lang="en-US" altLang="en-US" dirty="0">
                <a:sym typeface="Arial"/>
              </a:rPr>
              <a:t>Interface or Boundary Classes</a:t>
            </a:r>
            <a:endParaRPr lang="en-US" dirty="0"/>
          </a:p>
        </p:txBody>
      </p:sp>
      <p:sp>
        <p:nvSpPr>
          <p:cNvPr id="3" name="Content Placeholder 2">
            <a:extLst>
              <a:ext uri="{FF2B5EF4-FFF2-40B4-BE49-F238E27FC236}">
                <a16:creationId xmlns:a16="http://schemas.microsoft.com/office/drawing/2014/main" id="{104B6FDB-8139-43F8-A856-2EDC7B2E7DAD}"/>
              </a:ext>
            </a:extLst>
          </p:cNvPr>
          <p:cNvSpPr>
            <a:spLocks noGrp="1"/>
          </p:cNvSpPr>
          <p:nvPr>
            <p:ph sz="quarter" idx="13"/>
          </p:nvPr>
        </p:nvSpPr>
        <p:spPr>
          <a:xfrm>
            <a:off x="457200" y="1556327"/>
            <a:ext cx="8229600" cy="2798503"/>
          </a:xfrm>
        </p:spPr>
        <p:txBody>
          <a:bodyPr/>
          <a:lstStyle/>
          <a:p>
            <a:pPr marL="255588" lvl="0" indent="-255588">
              <a:buSzPts val="2400"/>
            </a:pPr>
            <a:r>
              <a:rPr lang="en-US" altLang="en-US" dirty="0">
                <a:solidFill>
                  <a:srgbClr val="000000"/>
                </a:solidFill>
              </a:rPr>
              <a:t>Provide a means for users to work with the system</a:t>
            </a:r>
          </a:p>
          <a:p>
            <a:pPr marL="255588" lvl="0" indent="-255588">
              <a:buSzPts val="2400"/>
            </a:pPr>
            <a:r>
              <a:rPr lang="en-US" altLang="en-US" dirty="0">
                <a:solidFill>
                  <a:srgbClr val="000000"/>
                </a:solidFill>
              </a:rPr>
              <a:t>Human interfaces may be a display, window, Web form, dialogue box, touch-tone telephone, or other way for users to interact with the system</a:t>
            </a:r>
          </a:p>
          <a:p>
            <a:pPr marL="255588" lvl="0" indent="-255588">
              <a:buSzPts val="2400"/>
            </a:pPr>
            <a:r>
              <a:rPr lang="en-US" altLang="en-US" dirty="0">
                <a:solidFill>
                  <a:srgbClr val="000000"/>
                </a:solidFill>
              </a:rPr>
              <a:t>System interfaces involve sending data to or receiving data from others</a:t>
            </a:r>
          </a:p>
        </p:txBody>
      </p:sp>
    </p:spTree>
    <p:extLst>
      <p:ext uri="{BB962C8B-B14F-4D97-AF65-F5344CB8AC3E}">
        <p14:creationId xmlns:p14="http://schemas.microsoft.com/office/powerpoint/2010/main" val="577618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32C0B-0850-4EF0-97E7-798BE452A112}"/>
              </a:ext>
            </a:extLst>
          </p:cNvPr>
          <p:cNvSpPr>
            <a:spLocks noGrp="1"/>
          </p:cNvSpPr>
          <p:nvPr>
            <p:ph type="title"/>
          </p:nvPr>
        </p:nvSpPr>
        <p:spPr/>
        <p:txBody>
          <a:bodyPr/>
          <a:lstStyle/>
          <a:p>
            <a:r>
              <a:rPr lang="en-US" altLang="en-US" dirty="0">
                <a:sym typeface="Arial"/>
              </a:rPr>
              <a:t>Abstract Classes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7B50F24E-0386-40E5-8394-BD907DFB7477}"/>
              </a:ext>
            </a:extLst>
          </p:cNvPr>
          <p:cNvSpPr>
            <a:spLocks noGrp="1"/>
          </p:cNvSpPr>
          <p:nvPr>
            <p:ph sz="quarter" idx="13"/>
          </p:nvPr>
        </p:nvSpPr>
        <p:spPr>
          <a:xfrm>
            <a:off x="457200" y="1556327"/>
            <a:ext cx="8229600" cy="1541203"/>
          </a:xfrm>
        </p:spPr>
        <p:txBody>
          <a:bodyPr/>
          <a:lstStyle/>
          <a:p>
            <a:pPr marL="255588" lvl="0" indent="-255588">
              <a:buSzPts val="2400"/>
            </a:pPr>
            <a:r>
              <a:rPr lang="en-US" altLang="en-US" dirty="0">
                <a:solidFill>
                  <a:srgbClr val="000000"/>
                </a:solidFill>
              </a:rPr>
              <a:t>Linked to concrete classes in a generalization/specialization relationship</a:t>
            </a:r>
          </a:p>
          <a:p>
            <a:pPr marL="255588" lvl="0" indent="-255588">
              <a:buSzPts val="2400"/>
            </a:pPr>
            <a:r>
              <a:rPr lang="en-US" altLang="en-US" dirty="0">
                <a:solidFill>
                  <a:srgbClr val="000000"/>
                </a:solidFill>
              </a:rPr>
              <a:t>Cannot be directly instantiated</a:t>
            </a:r>
          </a:p>
        </p:txBody>
      </p:sp>
    </p:spTree>
    <p:extLst>
      <p:ext uri="{BB962C8B-B14F-4D97-AF65-F5344CB8AC3E}">
        <p14:creationId xmlns:p14="http://schemas.microsoft.com/office/powerpoint/2010/main" val="23874628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B9D9B-AB6B-4DC1-B515-6512721DBDC1}"/>
              </a:ext>
            </a:extLst>
          </p:cNvPr>
          <p:cNvSpPr>
            <a:spLocks noGrp="1"/>
          </p:cNvSpPr>
          <p:nvPr>
            <p:ph type="title"/>
          </p:nvPr>
        </p:nvSpPr>
        <p:spPr/>
        <p:txBody>
          <a:bodyPr/>
          <a:lstStyle/>
          <a:p>
            <a:r>
              <a:rPr lang="en-US" altLang="en-US" dirty="0">
                <a:sym typeface="Arial"/>
              </a:rPr>
              <a:t>Control Classes</a:t>
            </a:r>
            <a:endParaRPr lang="en-US" dirty="0"/>
          </a:p>
        </p:txBody>
      </p:sp>
      <p:sp>
        <p:nvSpPr>
          <p:cNvPr id="3" name="Content Placeholder 2">
            <a:extLst>
              <a:ext uri="{FF2B5EF4-FFF2-40B4-BE49-F238E27FC236}">
                <a16:creationId xmlns:a16="http://schemas.microsoft.com/office/drawing/2014/main" id="{D304160B-3DDE-48C7-8252-2BF813FC3CA1}"/>
              </a:ext>
            </a:extLst>
          </p:cNvPr>
          <p:cNvSpPr>
            <a:spLocks noGrp="1"/>
          </p:cNvSpPr>
          <p:nvPr>
            <p:ph sz="quarter" idx="13"/>
          </p:nvPr>
        </p:nvSpPr>
        <p:spPr>
          <a:xfrm>
            <a:off x="457200" y="1556327"/>
            <a:ext cx="8229600" cy="1529773"/>
          </a:xfrm>
        </p:spPr>
        <p:txBody>
          <a:bodyPr/>
          <a:lstStyle/>
          <a:p>
            <a:pPr marL="255588" lvl="0" indent="-255588">
              <a:buSzPts val="2400"/>
            </a:pPr>
            <a:r>
              <a:rPr lang="en-US" altLang="en-US" dirty="0">
                <a:solidFill>
                  <a:srgbClr val="000000"/>
                </a:solidFill>
              </a:rPr>
              <a:t>Used to control the flow of activities</a:t>
            </a:r>
          </a:p>
          <a:p>
            <a:pPr marL="255588" lvl="0" indent="-255588">
              <a:buSzPts val="2400"/>
            </a:pPr>
            <a:r>
              <a:rPr lang="en-US" altLang="en-US" dirty="0">
                <a:solidFill>
                  <a:srgbClr val="000000"/>
                </a:solidFill>
              </a:rPr>
              <a:t>Many small control classes can be used to achieve classes that are reusable</a:t>
            </a:r>
          </a:p>
        </p:txBody>
      </p:sp>
    </p:spTree>
    <p:extLst>
      <p:ext uri="{BB962C8B-B14F-4D97-AF65-F5344CB8AC3E}">
        <p14:creationId xmlns:p14="http://schemas.microsoft.com/office/powerpoint/2010/main" val="20311918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4F04B-6BC9-4C61-A179-ED56BAA49652}"/>
              </a:ext>
            </a:extLst>
          </p:cNvPr>
          <p:cNvSpPr>
            <a:spLocks noGrp="1"/>
          </p:cNvSpPr>
          <p:nvPr>
            <p:ph type="title"/>
          </p:nvPr>
        </p:nvSpPr>
        <p:spPr/>
        <p:txBody>
          <a:bodyPr/>
          <a:lstStyle/>
          <a:p>
            <a:r>
              <a:rPr lang="en-US" altLang="en-US" sz="3200" dirty="0">
                <a:sym typeface="Arial"/>
              </a:rPr>
              <a:t>Presentation, Business, and Persistence Layers</a:t>
            </a:r>
            <a:endParaRPr lang="en-US" sz="3200" dirty="0"/>
          </a:p>
        </p:txBody>
      </p:sp>
      <p:sp>
        <p:nvSpPr>
          <p:cNvPr id="3" name="Content Placeholder 2">
            <a:extLst>
              <a:ext uri="{FF2B5EF4-FFF2-40B4-BE49-F238E27FC236}">
                <a16:creationId xmlns:a16="http://schemas.microsoft.com/office/drawing/2014/main" id="{F072C9E5-626B-417A-AAC5-DC2B9FD67C73}"/>
              </a:ext>
            </a:extLst>
          </p:cNvPr>
          <p:cNvSpPr>
            <a:spLocks noGrp="1"/>
          </p:cNvSpPr>
          <p:nvPr>
            <p:ph sz="quarter" idx="13"/>
          </p:nvPr>
        </p:nvSpPr>
        <p:spPr>
          <a:xfrm>
            <a:off x="457200" y="1556327"/>
            <a:ext cx="8229600" cy="3349048"/>
          </a:xfrm>
        </p:spPr>
        <p:txBody>
          <a:bodyPr/>
          <a:lstStyle/>
          <a:p>
            <a:pPr marL="255588" lvl="0" indent="-255588">
              <a:buSzPts val="2400"/>
            </a:pPr>
            <a:r>
              <a:rPr lang="en-US" altLang="en-US" dirty="0">
                <a:solidFill>
                  <a:srgbClr val="000000"/>
                </a:solidFill>
              </a:rPr>
              <a:t>Sequence diagrams may be discussed using three layers:</a:t>
            </a:r>
          </a:p>
          <a:p>
            <a:pPr marL="741600" lvl="1">
              <a:buSzPts val="2400"/>
            </a:pPr>
            <a:r>
              <a:rPr lang="en-US" altLang="en-US" dirty="0">
                <a:solidFill>
                  <a:srgbClr val="000000"/>
                </a:solidFill>
              </a:rPr>
              <a:t>Presentation layer, what the user sees, corresponding to the interface or boundary classes</a:t>
            </a:r>
          </a:p>
          <a:p>
            <a:pPr marL="741600" lvl="1">
              <a:buSzPts val="2400"/>
            </a:pPr>
            <a:r>
              <a:rPr lang="en-US" altLang="en-US" dirty="0">
                <a:solidFill>
                  <a:srgbClr val="000000"/>
                </a:solidFill>
              </a:rPr>
              <a:t>Business layer, containing the unique rules for this application, corresponding roughly to control classes</a:t>
            </a:r>
          </a:p>
          <a:p>
            <a:pPr marL="741600" lvl="1">
              <a:buSzPts val="2400"/>
            </a:pPr>
            <a:r>
              <a:rPr lang="en-US" altLang="en-US" dirty="0">
                <a:solidFill>
                  <a:srgbClr val="000000"/>
                </a:solidFill>
              </a:rPr>
              <a:t>Persistence or data access layer, for obtaining and storing data, corresponding to the entity classes</a:t>
            </a:r>
          </a:p>
        </p:txBody>
      </p:sp>
    </p:spTree>
    <p:extLst>
      <p:ext uri="{BB962C8B-B14F-4D97-AF65-F5344CB8AC3E}">
        <p14:creationId xmlns:p14="http://schemas.microsoft.com/office/powerpoint/2010/main" val="2990914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6D527-EAB1-44AC-9F96-2FB9AD9A7DA4}"/>
              </a:ext>
            </a:extLst>
          </p:cNvPr>
          <p:cNvSpPr>
            <a:spLocks noGrp="1"/>
          </p:cNvSpPr>
          <p:nvPr>
            <p:ph type="title"/>
          </p:nvPr>
        </p:nvSpPr>
        <p:spPr/>
        <p:txBody>
          <a:bodyPr/>
          <a:lstStyle/>
          <a:p>
            <a:r>
              <a:rPr lang="en-US" altLang="en-US" dirty="0">
                <a:sym typeface="Arial"/>
              </a:rPr>
              <a:t>Defining Messages and Methods</a:t>
            </a:r>
            <a:endParaRPr lang="en-US" dirty="0"/>
          </a:p>
        </p:txBody>
      </p:sp>
      <p:sp>
        <p:nvSpPr>
          <p:cNvPr id="3" name="Content Placeholder 2">
            <a:extLst>
              <a:ext uri="{FF2B5EF4-FFF2-40B4-BE49-F238E27FC236}">
                <a16:creationId xmlns:a16="http://schemas.microsoft.com/office/drawing/2014/main" id="{B1FCBD16-328D-453A-BA8E-7A98091A1663}"/>
              </a:ext>
            </a:extLst>
          </p:cNvPr>
          <p:cNvSpPr>
            <a:spLocks noGrp="1"/>
          </p:cNvSpPr>
          <p:nvPr>
            <p:ph sz="quarter" idx="13"/>
          </p:nvPr>
        </p:nvSpPr>
        <p:spPr>
          <a:xfrm>
            <a:off x="457200" y="1556327"/>
            <a:ext cx="8229600" cy="1872673"/>
          </a:xfrm>
        </p:spPr>
        <p:txBody>
          <a:bodyPr/>
          <a:lstStyle/>
          <a:p>
            <a:pPr marL="255588" lvl="0" indent="-255588">
              <a:buSzPts val="2400"/>
            </a:pPr>
            <a:r>
              <a:rPr lang="en-US" altLang="en-US" dirty="0">
                <a:solidFill>
                  <a:srgbClr val="000000"/>
                </a:solidFill>
              </a:rPr>
              <a:t>Each message may be defined using a notation similar to that described for the data dictionary</a:t>
            </a:r>
          </a:p>
          <a:p>
            <a:pPr marL="255588" lvl="0" indent="-255588">
              <a:buSzPts val="2400"/>
            </a:pPr>
            <a:r>
              <a:rPr lang="en-US" altLang="en-US" dirty="0">
                <a:solidFill>
                  <a:srgbClr val="000000"/>
                </a:solidFill>
              </a:rPr>
              <a:t>The methods may have logic defined using structured English, a decision table, or a decision tree</a:t>
            </a:r>
          </a:p>
        </p:txBody>
      </p:sp>
    </p:spTree>
    <p:extLst>
      <p:ext uri="{BB962C8B-B14F-4D97-AF65-F5344CB8AC3E}">
        <p14:creationId xmlns:p14="http://schemas.microsoft.com/office/powerpoint/2010/main" val="22841260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785C1-E3BD-4A02-92AE-CCED6A0FDBD9}"/>
              </a:ext>
            </a:extLst>
          </p:cNvPr>
          <p:cNvSpPr>
            <a:spLocks noGrp="1"/>
          </p:cNvSpPr>
          <p:nvPr>
            <p:ph type="title"/>
          </p:nvPr>
        </p:nvSpPr>
        <p:spPr>
          <a:xfrm>
            <a:off x="457200" y="91441"/>
            <a:ext cx="8229600" cy="1221210"/>
          </a:xfrm>
        </p:spPr>
        <p:txBody>
          <a:bodyPr/>
          <a:lstStyle/>
          <a:p>
            <a:r>
              <a:rPr lang="en-US" altLang="en-US" sz="2400" dirty="0">
                <a:sym typeface="Arial"/>
              </a:rPr>
              <a:t>Figure 10.15 A Sequence Diagram for Using Two Web Pages: One for Student Information, One for Course Information</a:t>
            </a:r>
            <a:endParaRPr lang="en-US" sz="2400" dirty="0"/>
          </a:p>
        </p:txBody>
      </p:sp>
      <p:pic>
        <p:nvPicPr>
          <p:cNvPr id="5" name="Picture 4" descr="An image shows a sequence diagram using two web pages, one for student information and the other for course information. Long description in notes, press F6.">
            <a:extLst>
              <a:ext uri="{FF2B5EF4-FFF2-40B4-BE49-F238E27FC236}">
                <a16:creationId xmlns:a16="http://schemas.microsoft.com/office/drawing/2014/main" id="{37570CBA-6345-4E91-950F-5B74257B29ED}"/>
              </a:ext>
            </a:extLst>
          </p:cNvPr>
          <p:cNvPicPr>
            <a:picLocks noChangeAspect="1"/>
          </p:cNvPicPr>
          <p:nvPr/>
        </p:nvPicPr>
        <p:blipFill>
          <a:blip r:embed="rId3"/>
          <a:stretch>
            <a:fillRect/>
          </a:stretch>
        </p:blipFill>
        <p:spPr>
          <a:xfrm>
            <a:off x="2271074" y="1523490"/>
            <a:ext cx="4624712" cy="4669905"/>
          </a:xfrm>
          <a:prstGeom prst="rect">
            <a:avLst/>
          </a:prstGeom>
        </p:spPr>
      </p:pic>
    </p:spTree>
    <p:extLst>
      <p:ext uri="{BB962C8B-B14F-4D97-AF65-F5344CB8AC3E}">
        <p14:creationId xmlns:p14="http://schemas.microsoft.com/office/powerpoint/2010/main" val="11615649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5BE9-4AA8-419E-A843-A694165747FE}"/>
              </a:ext>
            </a:extLst>
          </p:cNvPr>
          <p:cNvSpPr>
            <a:spLocks noGrp="1"/>
          </p:cNvSpPr>
          <p:nvPr>
            <p:ph type="title"/>
          </p:nvPr>
        </p:nvSpPr>
        <p:spPr/>
        <p:txBody>
          <a:bodyPr/>
          <a:lstStyle/>
          <a:p>
            <a:r>
              <a:rPr lang="en-US" altLang="en-US" dirty="0">
                <a:sym typeface="Arial"/>
              </a:rPr>
              <a:t>Create Sequence Diagrams</a:t>
            </a:r>
            <a:endParaRPr lang="en-US" dirty="0"/>
          </a:p>
        </p:txBody>
      </p:sp>
      <p:sp>
        <p:nvSpPr>
          <p:cNvPr id="3" name="Content Placeholder 2">
            <a:extLst>
              <a:ext uri="{FF2B5EF4-FFF2-40B4-BE49-F238E27FC236}">
                <a16:creationId xmlns:a16="http://schemas.microsoft.com/office/drawing/2014/main" id="{424233FD-7A63-4D98-8AEF-6C7C36D9AEBD}"/>
              </a:ext>
            </a:extLst>
          </p:cNvPr>
          <p:cNvSpPr>
            <a:spLocks noGrp="1"/>
          </p:cNvSpPr>
          <p:nvPr>
            <p:ph sz="quarter" idx="13"/>
          </p:nvPr>
        </p:nvSpPr>
        <p:spPr>
          <a:xfrm>
            <a:off x="457200" y="1556327"/>
            <a:ext cx="8229600" cy="3530023"/>
          </a:xfrm>
        </p:spPr>
        <p:txBody>
          <a:bodyPr/>
          <a:lstStyle/>
          <a:p>
            <a:pPr marL="255588" lvl="0" indent="-255588">
              <a:buSzPts val="2400"/>
            </a:pPr>
            <a:r>
              <a:rPr lang="en-US" altLang="en-US" dirty="0">
                <a:solidFill>
                  <a:srgbClr val="000000"/>
                </a:solidFill>
              </a:rPr>
              <a:t>Include the actor from the use case diagram</a:t>
            </a:r>
          </a:p>
          <a:p>
            <a:pPr marL="255588" lvl="0" indent="-255588">
              <a:buSzPts val="2400"/>
            </a:pPr>
            <a:r>
              <a:rPr lang="en-US" altLang="en-US" dirty="0">
                <a:solidFill>
                  <a:srgbClr val="000000"/>
                </a:solidFill>
              </a:rPr>
              <a:t>Define one or more interface classes for each actor</a:t>
            </a:r>
          </a:p>
          <a:p>
            <a:pPr marL="255588" lvl="0" indent="-255588">
              <a:buSzPts val="2400"/>
            </a:pPr>
            <a:r>
              <a:rPr lang="en-US" altLang="en-US" dirty="0">
                <a:solidFill>
                  <a:srgbClr val="000000"/>
                </a:solidFill>
              </a:rPr>
              <a:t>Each use case should have one control class</a:t>
            </a:r>
          </a:p>
          <a:p>
            <a:pPr marL="255588" lvl="0" indent="-255588">
              <a:buSzPts val="2400"/>
            </a:pPr>
            <a:r>
              <a:rPr lang="en-US" altLang="en-US" dirty="0">
                <a:solidFill>
                  <a:srgbClr val="000000"/>
                </a:solidFill>
              </a:rPr>
              <a:t>Examine the use case to see what entity classes are required</a:t>
            </a:r>
          </a:p>
          <a:p>
            <a:pPr marL="255588" lvl="0" indent="-255588">
              <a:buSzPts val="2400"/>
            </a:pPr>
            <a:r>
              <a:rPr lang="en-US" altLang="en-US" dirty="0">
                <a:solidFill>
                  <a:srgbClr val="000000"/>
                </a:solidFill>
              </a:rPr>
              <a:t>The sequence diagram may be modified when doing detailed design</a:t>
            </a:r>
          </a:p>
        </p:txBody>
      </p:sp>
    </p:spTree>
    <p:extLst>
      <p:ext uri="{BB962C8B-B14F-4D97-AF65-F5344CB8AC3E}">
        <p14:creationId xmlns:p14="http://schemas.microsoft.com/office/powerpoint/2010/main" val="10259636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E6656-C7F4-49B5-851F-7CDB8A4355D4}"/>
              </a:ext>
            </a:extLst>
          </p:cNvPr>
          <p:cNvSpPr>
            <a:spLocks noGrp="1"/>
          </p:cNvSpPr>
          <p:nvPr>
            <p:ph type="title"/>
          </p:nvPr>
        </p:nvSpPr>
        <p:spPr>
          <a:xfrm>
            <a:off x="457200" y="215371"/>
            <a:ext cx="8229600" cy="1097279"/>
          </a:xfrm>
        </p:spPr>
        <p:txBody>
          <a:bodyPr/>
          <a:lstStyle/>
          <a:p>
            <a:r>
              <a:rPr lang="en-US" altLang="en-US" sz="3200" dirty="0">
                <a:sym typeface="Arial"/>
              </a:rPr>
              <a:t>Creating a Test Plan from a Sequence Diagram</a:t>
            </a:r>
            <a:endParaRPr lang="en-US" sz="3200" dirty="0"/>
          </a:p>
        </p:txBody>
      </p:sp>
      <p:sp>
        <p:nvSpPr>
          <p:cNvPr id="3" name="Content Placeholder 2">
            <a:extLst>
              <a:ext uri="{FF2B5EF4-FFF2-40B4-BE49-F238E27FC236}">
                <a16:creationId xmlns:a16="http://schemas.microsoft.com/office/drawing/2014/main" id="{34E243EB-1796-4FE4-B969-15F94739E1B8}"/>
              </a:ext>
            </a:extLst>
          </p:cNvPr>
          <p:cNvSpPr>
            <a:spLocks noGrp="1"/>
          </p:cNvSpPr>
          <p:nvPr>
            <p:ph sz="quarter" idx="13"/>
          </p:nvPr>
        </p:nvSpPr>
        <p:spPr>
          <a:xfrm>
            <a:off x="457200" y="1556327"/>
            <a:ext cx="8229600" cy="3758623"/>
          </a:xfrm>
        </p:spPr>
        <p:txBody>
          <a:bodyPr/>
          <a:lstStyle/>
          <a:p>
            <a:pPr marL="255588" lvl="0" indent="-255588">
              <a:buSzPts val="2400"/>
            </a:pPr>
            <a:r>
              <a:rPr lang="en-US" altLang="en-US" dirty="0">
                <a:solidFill>
                  <a:srgbClr val="000000"/>
                </a:solidFill>
              </a:rPr>
              <a:t>Does each method return correct results?</a:t>
            </a:r>
          </a:p>
          <a:p>
            <a:pPr marL="255588" lvl="0" indent="-255588">
              <a:buSzPts val="2400"/>
            </a:pPr>
            <a:r>
              <a:rPr lang="en-US" altLang="en-US" dirty="0">
                <a:solidFill>
                  <a:srgbClr val="000000"/>
                </a:solidFill>
              </a:rPr>
              <a:t>Ensure that entity classes store or obtain the correct attribute values</a:t>
            </a:r>
          </a:p>
          <a:p>
            <a:pPr marL="255588" lvl="0" indent="-255588">
              <a:buSzPts val="2400"/>
            </a:pPr>
            <a:r>
              <a:rPr lang="en-US" altLang="en-US" dirty="0">
                <a:solidFill>
                  <a:srgbClr val="000000"/>
                </a:solidFill>
              </a:rPr>
              <a:t>Verify that all JavaScript paths work correctly</a:t>
            </a:r>
          </a:p>
          <a:p>
            <a:pPr marL="255588" lvl="0" indent="-255588">
              <a:buSzPts val="2400"/>
            </a:pPr>
            <a:r>
              <a:rPr lang="en-US" altLang="en-US" dirty="0">
                <a:solidFill>
                  <a:srgbClr val="000000"/>
                </a:solidFill>
              </a:rPr>
              <a:t>Ensure that the server control classes work correctly</a:t>
            </a:r>
          </a:p>
          <a:p>
            <a:pPr marL="255588" lvl="0" indent="-255588">
              <a:buSzPts val="2400"/>
            </a:pPr>
            <a:r>
              <a:rPr lang="en-US" altLang="en-US" dirty="0">
                <a:solidFill>
                  <a:srgbClr val="000000"/>
                </a:solidFill>
              </a:rPr>
              <a:t>Ask, “What may fail?”</a:t>
            </a:r>
          </a:p>
          <a:p>
            <a:pPr marL="255588" lvl="0" indent="-255588">
              <a:buSzPts val="2400"/>
            </a:pPr>
            <a:r>
              <a:rPr lang="en-US" altLang="en-US" dirty="0">
                <a:solidFill>
                  <a:srgbClr val="000000"/>
                </a:solidFill>
              </a:rPr>
              <a:t>Determine what to do if something can fail</a:t>
            </a:r>
          </a:p>
        </p:txBody>
      </p:sp>
    </p:spTree>
    <p:extLst>
      <p:ext uri="{BB962C8B-B14F-4D97-AF65-F5344CB8AC3E}">
        <p14:creationId xmlns:p14="http://schemas.microsoft.com/office/powerpoint/2010/main" val="19954223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FA8E5-6A7D-485C-8DE7-C3BED454D246}"/>
              </a:ext>
            </a:extLst>
          </p:cNvPr>
          <p:cNvSpPr>
            <a:spLocks noGrp="1"/>
          </p:cNvSpPr>
          <p:nvPr>
            <p:ph type="title"/>
          </p:nvPr>
        </p:nvSpPr>
        <p:spPr/>
        <p:txBody>
          <a:bodyPr/>
          <a:lstStyle/>
          <a:p>
            <a:r>
              <a:rPr lang="en-US" altLang="en-US" dirty="0">
                <a:sym typeface="Arial"/>
              </a:rPr>
              <a:t>Relationships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6912FE1F-FB77-4308-A730-A09D4F74FCE8}"/>
              </a:ext>
            </a:extLst>
          </p:cNvPr>
          <p:cNvSpPr>
            <a:spLocks noGrp="1"/>
          </p:cNvSpPr>
          <p:nvPr>
            <p:ph sz="quarter" idx="13"/>
          </p:nvPr>
        </p:nvSpPr>
        <p:spPr>
          <a:xfrm>
            <a:off x="457200" y="1556327"/>
            <a:ext cx="8229600" cy="1438333"/>
          </a:xfrm>
        </p:spPr>
        <p:txBody>
          <a:bodyPr/>
          <a:lstStyle/>
          <a:p>
            <a:pPr marL="255588" lvl="0" indent="-255588">
              <a:buSzPts val="2400"/>
            </a:pPr>
            <a:r>
              <a:rPr lang="en-US" altLang="en-US" dirty="0">
                <a:solidFill>
                  <a:srgbClr val="000000"/>
                </a:solidFill>
              </a:rPr>
              <a:t>The connections between classes</a:t>
            </a:r>
          </a:p>
          <a:p>
            <a:pPr marL="741600" lvl="1">
              <a:buSzPts val="2400"/>
            </a:pPr>
            <a:r>
              <a:rPr lang="en-US" altLang="en-US" dirty="0">
                <a:solidFill>
                  <a:srgbClr val="000000"/>
                </a:solidFill>
              </a:rPr>
              <a:t>Associations</a:t>
            </a:r>
          </a:p>
          <a:p>
            <a:pPr marL="741600" lvl="1">
              <a:buSzPts val="2400"/>
            </a:pPr>
            <a:r>
              <a:rPr lang="en-US" altLang="en-US" dirty="0">
                <a:solidFill>
                  <a:srgbClr val="000000"/>
                </a:solidFill>
              </a:rPr>
              <a:t>Whole/part</a:t>
            </a:r>
          </a:p>
        </p:txBody>
      </p:sp>
    </p:spTree>
    <p:extLst>
      <p:ext uri="{BB962C8B-B14F-4D97-AF65-F5344CB8AC3E}">
        <p14:creationId xmlns:p14="http://schemas.microsoft.com/office/powerpoint/2010/main" val="8019917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7E19F-494C-43FC-82D0-9672941EE9FA}"/>
              </a:ext>
            </a:extLst>
          </p:cNvPr>
          <p:cNvSpPr>
            <a:spLocks noGrp="1"/>
          </p:cNvSpPr>
          <p:nvPr>
            <p:ph type="title"/>
          </p:nvPr>
        </p:nvSpPr>
        <p:spPr>
          <a:xfrm>
            <a:off x="457200" y="91441"/>
            <a:ext cx="8229600" cy="1221210"/>
          </a:xfrm>
        </p:spPr>
        <p:txBody>
          <a:bodyPr/>
          <a:lstStyle/>
          <a:p>
            <a:r>
              <a:rPr lang="en-US" altLang="en-US" sz="2400" dirty="0">
                <a:sym typeface="Arial"/>
              </a:rPr>
              <a:t>Figure 10.18 An Example of an Associative Class in Which a Particular Section Defines the Relationship between a Student and a Course</a:t>
            </a:r>
            <a:endParaRPr lang="en-US" sz="2400" dirty="0"/>
          </a:p>
        </p:txBody>
      </p:sp>
      <p:pic>
        <p:nvPicPr>
          <p:cNvPr id="5" name="Picture 4" descr="An illustration shows an example of an associative class in which a particular section defines the relationship between a student and a course. Long description in notes, press F6.">
            <a:extLst>
              <a:ext uri="{FF2B5EF4-FFF2-40B4-BE49-F238E27FC236}">
                <a16:creationId xmlns:a16="http://schemas.microsoft.com/office/drawing/2014/main" id="{3B9F2994-5429-4E92-A646-4517A0CE015F}"/>
              </a:ext>
            </a:extLst>
          </p:cNvPr>
          <p:cNvPicPr>
            <a:picLocks noChangeAspect="1"/>
          </p:cNvPicPr>
          <p:nvPr/>
        </p:nvPicPr>
        <p:blipFill>
          <a:blip r:embed="rId3"/>
          <a:stretch>
            <a:fillRect/>
          </a:stretch>
        </p:blipFill>
        <p:spPr>
          <a:xfrm>
            <a:off x="1104900" y="1798320"/>
            <a:ext cx="6934200" cy="4152900"/>
          </a:xfrm>
          <a:prstGeom prst="rect">
            <a:avLst/>
          </a:prstGeom>
        </p:spPr>
      </p:pic>
    </p:spTree>
    <p:extLst>
      <p:ext uri="{BB962C8B-B14F-4D97-AF65-F5344CB8AC3E}">
        <p14:creationId xmlns:p14="http://schemas.microsoft.com/office/powerpoint/2010/main" val="112938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9EEB-37A2-4504-ADF0-FB1294322828}"/>
              </a:ext>
            </a:extLst>
          </p:cNvPr>
          <p:cNvSpPr>
            <a:spLocks noGrp="1"/>
          </p:cNvSpPr>
          <p:nvPr>
            <p:ph type="title"/>
          </p:nvPr>
        </p:nvSpPr>
        <p:spPr/>
        <p:txBody>
          <a:bodyPr/>
          <a:lstStyle/>
          <a:p>
            <a:r>
              <a:rPr lang="en-US" altLang="en-US" dirty="0">
                <a:sym typeface="Arial"/>
              </a:rPr>
              <a:t>Associations</a:t>
            </a:r>
            <a:endParaRPr lang="en-US" dirty="0"/>
          </a:p>
        </p:txBody>
      </p:sp>
      <p:sp>
        <p:nvSpPr>
          <p:cNvPr id="3" name="Content Placeholder 2">
            <a:extLst>
              <a:ext uri="{FF2B5EF4-FFF2-40B4-BE49-F238E27FC236}">
                <a16:creationId xmlns:a16="http://schemas.microsoft.com/office/drawing/2014/main" id="{EAD960AB-FB58-4FEB-81B2-886050F6EC30}"/>
              </a:ext>
            </a:extLst>
          </p:cNvPr>
          <p:cNvSpPr>
            <a:spLocks noGrp="1"/>
          </p:cNvSpPr>
          <p:nvPr>
            <p:ph sz="quarter" idx="13"/>
          </p:nvPr>
        </p:nvSpPr>
        <p:spPr>
          <a:xfrm>
            <a:off x="457200" y="1556327"/>
            <a:ext cx="8229600" cy="2409883"/>
          </a:xfrm>
        </p:spPr>
        <p:txBody>
          <a:bodyPr/>
          <a:lstStyle/>
          <a:p>
            <a:pPr marL="255588" lvl="0" indent="-255588">
              <a:buSzPts val="2400"/>
            </a:pPr>
            <a:r>
              <a:rPr lang="en-US" altLang="en-US" dirty="0">
                <a:solidFill>
                  <a:srgbClr val="000000"/>
                </a:solidFill>
              </a:rPr>
              <a:t>The simplest type of relationship</a:t>
            </a:r>
          </a:p>
          <a:p>
            <a:pPr marL="255588" lvl="0" indent="-255588">
              <a:buSzPts val="2400"/>
            </a:pPr>
            <a:r>
              <a:rPr lang="en-US" altLang="en-US" dirty="0">
                <a:solidFill>
                  <a:srgbClr val="000000"/>
                </a:solidFill>
              </a:rPr>
              <a:t>Association classes are those that are used to break up a many-to-many association between classes</a:t>
            </a:r>
          </a:p>
          <a:p>
            <a:pPr marL="255588" lvl="0" indent="-255588">
              <a:buSzPts val="2400"/>
            </a:pPr>
            <a:r>
              <a:rPr lang="en-US" altLang="en-US" dirty="0">
                <a:solidFill>
                  <a:srgbClr val="000000"/>
                </a:solidFill>
              </a:rPr>
              <a:t>An object in a class may have a relationship to other objects in the same class, called a reflexive association</a:t>
            </a:r>
          </a:p>
        </p:txBody>
      </p:sp>
    </p:spTree>
    <p:extLst>
      <p:ext uri="{BB962C8B-B14F-4D97-AF65-F5344CB8AC3E}">
        <p14:creationId xmlns:p14="http://schemas.microsoft.com/office/powerpoint/2010/main" val="23450656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A827-075A-453B-A3FC-9691255FAF0B}"/>
              </a:ext>
            </a:extLst>
          </p:cNvPr>
          <p:cNvSpPr>
            <a:spLocks noGrp="1"/>
          </p:cNvSpPr>
          <p:nvPr>
            <p:ph type="title"/>
          </p:nvPr>
        </p:nvSpPr>
        <p:spPr/>
        <p:txBody>
          <a:bodyPr/>
          <a:lstStyle/>
          <a:p>
            <a:r>
              <a:rPr lang="en-US" altLang="en-US" dirty="0">
                <a:sym typeface="Arial"/>
              </a:rPr>
              <a:t>Whole/Part Relationships</a:t>
            </a:r>
            <a:endParaRPr lang="en-US" dirty="0"/>
          </a:p>
        </p:txBody>
      </p:sp>
      <p:sp>
        <p:nvSpPr>
          <p:cNvPr id="3" name="Content Placeholder 2">
            <a:extLst>
              <a:ext uri="{FF2B5EF4-FFF2-40B4-BE49-F238E27FC236}">
                <a16:creationId xmlns:a16="http://schemas.microsoft.com/office/drawing/2014/main" id="{12C008E0-5835-432A-A917-977C329C67BD}"/>
              </a:ext>
            </a:extLst>
          </p:cNvPr>
          <p:cNvSpPr>
            <a:spLocks noGrp="1"/>
          </p:cNvSpPr>
          <p:nvPr>
            <p:ph sz="quarter" idx="13"/>
          </p:nvPr>
        </p:nvSpPr>
        <p:spPr>
          <a:xfrm>
            <a:off x="457200" y="1556327"/>
            <a:ext cx="8229600" cy="2775643"/>
          </a:xfrm>
        </p:spPr>
        <p:txBody>
          <a:bodyPr/>
          <a:lstStyle/>
          <a:p>
            <a:pPr marL="255588" lvl="0" indent="-255588">
              <a:buSzPts val="2400"/>
            </a:pPr>
            <a:r>
              <a:rPr lang="en-US" altLang="en-US" dirty="0">
                <a:solidFill>
                  <a:srgbClr val="000000"/>
                </a:solidFill>
              </a:rPr>
              <a:t>When one class represents the whole object, and other classes represent parts</a:t>
            </a:r>
          </a:p>
          <a:p>
            <a:pPr marL="255588" lvl="0" indent="-255588">
              <a:buSzPts val="2400"/>
            </a:pPr>
            <a:r>
              <a:rPr lang="en-US" altLang="en-US" dirty="0">
                <a:solidFill>
                  <a:srgbClr val="000000"/>
                </a:solidFill>
              </a:rPr>
              <a:t>Categories</a:t>
            </a:r>
          </a:p>
          <a:p>
            <a:pPr marL="741600" lvl="1">
              <a:buSzPts val="2400"/>
            </a:pPr>
            <a:r>
              <a:rPr lang="en-US" altLang="en-US" dirty="0">
                <a:solidFill>
                  <a:srgbClr val="000000"/>
                </a:solidFill>
              </a:rPr>
              <a:t>Aggregation</a:t>
            </a:r>
          </a:p>
          <a:p>
            <a:pPr marL="741600" lvl="1">
              <a:buSzPts val="2400"/>
            </a:pPr>
            <a:r>
              <a:rPr lang="en-US" altLang="en-US" dirty="0">
                <a:solidFill>
                  <a:srgbClr val="000000"/>
                </a:solidFill>
              </a:rPr>
              <a:t>Collection</a:t>
            </a:r>
          </a:p>
          <a:p>
            <a:pPr marL="741600" lvl="1">
              <a:buSzPts val="2400"/>
            </a:pPr>
            <a:r>
              <a:rPr lang="en-US" altLang="en-US" dirty="0">
                <a:solidFill>
                  <a:srgbClr val="000000"/>
                </a:solidFill>
              </a:rPr>
              <a:t>Composition</a:t>
            </a:r>
          </a:p>
        </p:txBody>
      </p:sp>
    </p:spTree>
    <p:extLst>
      <p:ext uri="{BB962C8B-B14F-4D97-AF65-F5344CB8AC3E}">
        <p14:creationId xmlns:p14="http://schemas.microsoft.com/office/powerpoint/2010/main" val="42849829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C37C3-31B2-493D-A3FF-D83BF9CC9591}"/>
              </a:ext>
            </a:extLst>
          </p:cNvPr>
          <p:cNvSpPr>
            <a:spLocks noGrp="1"/>
          </p:cNvSpPr>
          <p:nvPr>
            <p:ph type="title"/>
          </p:nvPr>
        </p:nvSpPr>
        <p:spPr/>
        <p:txBody>
          <a:bodyPr/>
          <a:lstStyle/>
          <a:p>
            <a:r>
              <a:rPr lang="en-US" altLang="en-US" dirty="0">
                <a:sym typeface="Arial"/>
              </a:rPr>
              <a:t>Aggregation</a:t>
            </a:r>
            <a:endParaRPr lang="en-US" dirty="0"/>
          </a:p>
        </p:txBody>
      </p:sp>
      <p:sp>
        <p:nvSpPr>
          <p:cNvPr id="3" name="Content Placeholder 2">
            <a:extLst>
              <a:ext uri="{FF2B5EF4-FFF2-40B4-BE49-F238E27FC236}">
                <a16:creationId xmlns:a16="http://schemas.microsoft.com/office/drawing/2014/main" id="{3BB5055A-E6D9-4AC5-9A77-75C7AC4B4ED7}"/>
              </a:ext>
            </a:extLst>
          </p:cNvPr>
          <p:cNvSpPr>
            <a:spLocks noGrp="1"/>
          </p:cNvSpPr>
          <p:nvPr>
            <p:ph sz="quarter" idx="13"/>
          </p:nvPr>
        </p:nvSpPr>
        <p:spPr>
          <a:xfrm>
            <a:off x="457200" y="1556327"/>
            <a:ext cx="8229600" cy="1541203"/>
          </a:xfrm>
        </p:spPr>
        <p:txBody>
          <a:bodyPr/>
          <a:lstStyle/>
          <a:p>
            <a:pPr marL="255588" lvl="0" indent="-255588">
              <a:buSzPts val="2400"/>
            </a:pPr>
            <a:r>
              <a:rPr lang="en-US" altLang="en-US" dirty="0">
                <a:solidFill>
                  <a:srgbClr val="000000"/>
                </a:solidFill>
              </a:rPr>
              <a:t>A “has a” relationship</a:t>
            </a:r>
          </a:p>
          <a:p>
            <a:pPr marL="255588" lvl="0" indent="-255588">
              <a:buSzPts val="2400"/>
            </a:pPr>
            <a:r>
              <a:rPr lang="en-US" altLang="en-US" dirty="0">
                <a:solidFill>
                  <a:srgbClr val="000000"/>
                </a:solidFill>
              </a:rPr>
              <a:t>Provides a means of showing that the whole object is composed of the sum of its parts</a:t>
            </a:r>
          </a:p>
        </p:txBody>
      </p:sp>
    </p:spTree>
    <p:extLst>
      <p:ext uri="{BB962C8B-B14F-4D97-AF65-F5344CB8AC3E}">
        <p14:creationId xmlns:p14="http://schemas.microsoft.com/office/powerpoint/2010/main" val="16837592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ED921-34BC-4ED3-842B-C256039538A4}"/>
              </a:ext>
            </a:extLst>
          </p:cNvPr>
          <p:cNvSpPr>
            <a:spLocks noGrp="1"/>
          </p:cNvSpPr>
          <p:nvPr>
            <p:ph type="title"/>
          </p:nvPr>
        </p:nvSpPr>
        <p:spPr/>
        <p:txBody>
          <a:bodyPr/>
          <a:lstStyle/>
          <a:p>
            <a:r>
              <a:rPr lang="en-US" altLang="en-US" dirty="0">
                <a:sym typeface="Arial"/>
              </a:rPr>
              <a:t>Collection</a:t>
            </a:r>
            <a:endParaRPr lang="en-US" dirty="0"/>
          </a:p>
        </p:txBody>
      </p:sp>
      <p:sp>
        <p:nvSpPr>
          <p:cNvPr id="3" name="Content Placeholder 2">
            <a:extLst>
              <a:ext uri="{FF2B5EF4-FFF2-40B4-BE49-F238E27FC236}">
                <a16:creationId xmlns:a16="http://schemas.microsoft.com/office/drawing/2014/main" id="{CB858133-86BF-4917-A560-62F3A4E6FDDE}"/>
              </a:ext>
            </a:extLst>
          </p:cNvPr>
          <p:cNvSpPr>
            <a:spLocks noGrp="1"/>
          </p:cNvSpPr>
          <p:nvPr>
            <p:ph sz="quarter" idx="13"/>
          </p:nvPr>
        </p:nvSpPr>
        <p:spPr>
          <a:xfrm>
            <a:off x="457200" y="1556327"/>
            <a:ext cx="8229600" cy="1689793"/>
          </a:xfrm>
        </p:spPr>
        <p:txBody>
          <a:bodyPr/>
          <a:lstStyle/>
          <a:p>
            <a:pPr marL="255588" lvl="0" indent="-255588">
              <a:buSzPts val="2400"/>
            </a:pPr>
            <a:r>
              <a:rPr lang="en-US" altLang="en-US" dirty="0">
                <a:solidFill>
                  <a:srgbClr val="000000"/>
                </a:solidFill>
              </a:rPr>
              <a:t>Consists of a whole and its members</a:t>
            </a:r>
          </a:p>
          <a:p>
            <a:pPr marL="255588" lvl="0" indent="-255588">
              <a:buSzPts val="2400"/>
            </a:pPr>
            <a:r>
              <a:rPr lang="en-US" altLang="en-US" dirty="0">
                <a:solidFill>
                  <a:srgbClr val="000000"/>
                </a:solidFill>
              </a:rPr>
              <a:t>Members may change, but the whole retains its identity</a:t>
            </a:r>
          </a:p>
          <a:p>
            <a:pPr marL="255588" lvl="0" indent="-255588">
              <a:buSzPts val="2400"/>
            </a:pPr>
            <a:r>
              <a:rPr lang="en-US" altLang="en-US" dirty="0">
                <a:solidFill>
                  <a:srgbClr val="000000"/>
                </a:solidFill>
              </a:rPr>
              <a:t>A weak association</a:t>
            </a:r>
          </a:p>
        </p:txBody>
      </p:sp>
    </p:spTree>
    <p:extLst>
      <p:ext uri="{BB962C8B-B14F-4D97-AF65-F5344CB8AC3E}">
        <p14:creationId xmlns:p14="http://schemas.microsoft.com/office/powerpoint/2010/main" val="23910869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80E6C-864E-4E75-A192-74FAD8633B0C}"/>
              </a:ext>
            </a:extLst>
          </p:cNvPr>
          <p:cNvSpPr>
            <a:spLocks noGrp="1"/>
          </p:cNvSpPr>
          <p:nvPr>
            <p:ph type="title"/>
          </p:nvPr>
        </p:nvSpPr>
        <p:spPr/>
        <p:txBody>
          <a:bodyPr/>
          <a:lstStyle/>
          <a:p>
            <a:r>
              <a:rPr lang="en-US" altLang="en-US" dirty="0">
                <a:sym typeface="Arial"/>
              </a:rPr>
              <a:t>Composition</a:t>
            </a:r>
            <a:endParaRPr lang="en-US" dirty="0"/>
          </a:p>
        </p:txBody>
      </p:sp>
      <p:sp>
        <p:nvSpPr>
          <p:cNvPr id="3" name="Content Placeholder 2">
            <a:extLst>
              <a:ext uri="{FF2B5EF4-FFF2-40B4-BE49-F238E27FC236}">
                <a16:creationId xmlns:a16="http://schemas.microsoft.com/office/drawing/2014/main" id="{D7D55C89-F085-4667-8891-A0DBB5FC6BAB}"/>
              </a:ext>
            </a:extLst>
          </p:cNvPr>
          <p:cNvSpPr>
            <a:spLocks noGrp="1"/>
          </p:cNvSpPr>
          <p:nvPr>
            <p:ph sz="quarter" idx="13"/>
          </p:nvPr>
        </p:nvSpPr>
        <p:spPr>
          <a:xfrm>
            <a:off x="457200" y="1556328"/>
            <a:ext cx="8229600" cy="1510258"/>
          </a:xfrm>
        </p:spPr>
        <p:txBody>
          <a:bodyPr/>
          <a:lstStyle/>
          <a:p>
            <a:pPr marL="255588" lvl="0" indent="-255588">
              <a:buSzPts val="2400"/>
            </a:pPr>
            <a:r>
              <a:rPr lang="en-US" altLang="en-US" dirty="0">
                <a:solidFill>
                  <a:srgbClr val="000000"/>
                </a:solidFill>
              </a:rPr>
              <a:t>The whole has a responsibility for the parts, and is a stronger relationship</a:t>
            </a:r>
          </a:p>
          <a:p>
            <a:pPr marL="255588" lvl="0" indent="-255588">
              <a:buSzPts val="2400"/>
            </a:pPr>
            <a:r>
              <a:rPr lang="en-US" altLang="en-US" dirty="0">
                <a:solidFill>
                  <a:srgbClr val="000000"/>
                </a:solidFill>
              </a:rPr>
              <a:t>If the whole is deleted, all parts are deleted</a:t>
            </a:r>
          </a:p>
        </p:txBody>
      </p:sp>
    </p:spTree>
    <p:extLst>
      <p:ext uri="{BB962C8B-B14F-4D97-AF65-F5344CB8AC3E}">
        <p14:creationId xmlns:p14="http://schemas.microsoft.com/office/powerpoint/2010/main" val="20064134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A59E-5FA4-453D-8FC7-3DBF08ACED8D}"/>
              </a:ext>
            </a:extLst>
          </p:cNvPr>
          <p:cNvSpPr>
            <a:spLocks noGrp="1"/>
          </p:cNvSpPr>
          <p:nvPr>
            <p:ph type="title"/>
          </p:nvPr>
        </p:nvSpPr>
        <p:spPr/>
        <p:txBody>
          <a:bodyPr/>
          <a:lstStyle/>
          <a:p>
            <a:r>
              <a:rPr lang="en-US" altLang="en-US" sz="3200" dirty="0">
                <a:sym typeface="Arial"/>
              </a:rPr>
              <a:t>Figure 10.19 An Example of Whole-Part and Aggregation Relationships</a:t>
            </a:r>
            <a:endParaRPr lang="en-US" sz="3200" dirty="0"/>
          </a:p>
        </p:txBody>
      </p:sp>
      <p:pic>
        <p:nvPicPr>
          <p:cNvPr id="5" name="Picture 4" descr="An illustration shows an example of whole or part and aggregation relationships. Long description in notes, press F6.">
            <a:extLst>
              <a:ext uri="{FF2B5EF4-FFF2-40B4-BE49-F238E27FC236}">
                <a16:creationId xmlns:a16="http://schemas.microsoft.com/office/drawing/2014/main" id="{E362F878-1027-4ACF-B523-2900A6633320}"/>
              </a:ext>
            </a:extLst>
          </p:cNvPr>
          <p:cNvPicPr>
            <a:picLocks noChangeAspect="1"/>
          </p:cNvPicPr>
          <p:nvPr/>
        </p:nvPicPr>
        <p:blipFill>
          <a:blip r:embed="rId3"/>
          <a:stretch>
            <a:fillRect/>
          </a:stretch>
        </p:blipFill>
        <p:spPr>
          <a:xfrm>
            <a:off x="2390908" y="1670445"/>
            <a:ext cx="4362184" cy="4434686"/>
          </a:xfrm>
          <a:prstGeom prst="rect">
            <a:avLst/>
          </a:prstGeom>
        </p:spPr>
      </p:pic>
    </p:spTree>
    <p:extLst>
      <p:ext uri="{BB962C8B-B14F-4D97-AF65-F5344CB8AC3E}">
        <p14:creationId xmlns:p14="http://schemas.microsoft.com/office/powerpoint/2010/main" val="34392038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D1EDE-5A32-409F-97E1-00106FD07D9F}"/>
              </a:ext>
            </a:extLst>
          </p:cNvPr>
          <p:cNvSpPr>
            <a:spLocks noGrp="1"/>
          </p:cNvSpPr>
          <p:nvPr>
            <p:ph type="title"/>
          </p:nvPr>
        </p:nvSpPr>
        <p:spPr/>
        <p:txBody>
          <a:bodyPr/>
          <a:lstStyle/>
          <a:p>
            <a:r>
              <a:rPr lang="en-US" altLang="en-US" sz="3200" dirty="0">
                <a:sym typeface="Arial"/>
              </a:rPr>
              <a:t>Generalization/Specialization Diagrams</a:t>
            </a:r>
            <a:endParaRPr lang="en-US" sz="3200" dirty="0"/>
          </a:p>
        </p:txBody>
      </p:sp>
      <p:sp>
        <p:nvSpPr>
          <p:cNvPr id="3" name="Content Placeholder 2">
            <a:extLst>
              <a:ext uri="{FF2B5EF4-FFF2-40B4-BE49-F238E27FC236}">
                <a16:creationId xmlns:a16="http://schemas.microsoft.com/office/drawing/2014/main" id="{83BB3153-FF1F-4DF2-B9BB-D20C43AD57CA}"/>
              </a:ext>
            </a:extLst>
          </p:cNvPr>
          <p:cNvSpPr>
            <a:spLocks noGrp="1"/>
          </p:cNvSpPr>
          <p:nvPr>
            <p:ph sz="quarter" idx="13"/>
          </p:nvPr>
        </p:nvSpPr>
        <p:spPr>
          <a:xfrm>
            <a:off x="457200" y="1556327"/>
            <a:ext cx="8229600" cy="2821363"/>
          </a:xfrm>
        </p:spPr>
        <p:txBody>
          <a:bodyPr/>
          <a:lstStyle/>
          <a:p>
            <a:pPr marL="255588" lvl="0" indent="-255588">
              <a:buSzPts val="2400"/>
            </a:pPr>
            <a:r>
              <a:rPr lang="en-US" altLang="en-US" dirty="0">
                <a:solidFill>
                  <a:srgbClr val="000000"/>
                </a:solidFill>
              </a:rPr>
              <a:t>Generalization</a:t>
            </a:r>
          </a:p>
          <a:p>
            <a:pPr marL="255588" lvl="0" indent="-255588">
              <a:buSzPts val="2400"/>
            </a:pPr>
            <a:r>
              <a:rPr lang="en-US" altLang="en-US" dirty="0">
                <a:solidFill>
                  <a:srgbClr val="000000"/>
                </a:solidFill>
              </a:rPr>
              <a:t>Inheritance</a:t>
            </a:r>
          </a:p>
          <a:p>
            <a:pPr marL="255588" lvl="0" indent="-255588">
              <a:buSzPts val="2400"/>
            </a:pPr>
            <a:r>
              <a:rPr lang="en-US" altLang="en-US" dirty="0">
                <a:solidFill>
                  <a:srgbClr val="000000"/>
                </a:solidFill>
              </a:rPr>
              <a:t>Polymorphism</a:t>
            </a:r>
          </a:p>
          <a:p>
            <a:pPr marL="255588" lvl="0" indent="-255588">
              <a:buSzPts val="2400"/>
            </a:pPr>
            <a:r>
              <a:rPr lang="en-US" altLang="en-US" dirty="0">
                <a:solidFill>
                  <a:srgbClr val="000000"/>
                </a:solidFill>
              </a:rPr>
              <a:t>Abstract classes</a:t>
            </a:r>
          </a:p>
          <a:p>
            <a:pPr marL="255588" lvl="0" indent="-255588">
              <a:buSzPts val="2400"/>
            </a:pPr>
            <a:r>
              <a:rPr lang="en-US" altLang="en-US" dirty="0">
                <a:solidFill>
                  <a:srgbClr val="000000"/>
                </a:solidFill>
              </a:rPr>
              <a:t>Messages</a:t>
            </a:r>
          </a:p>
        </p:txBody>
      </p:sp>
    </p:spTree>
    <p:extLst>
      <p:ext uri="{BB962C8B-B14F-4D97-AF65-F5344CB8AC3E}">
        <p14:creationId xmlns:p14="http://schemas.microsoft.com/office/powerpoint/2010/main" val="25448497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F7F99-ABDA-4EB2-AF26-5EC1FF27A46A}"/>
              </a:ext>
            </a:extLst>
          </p:cNvPr>
          <p:cNvSpPr>
            <a:spLocks noGrp="1"/>
          </p:cNvSpPr>
          <p:nvPr>
            <p:ph type="title"/>
          </p:nvPr>
        </p:nvSpPr>
        <p:spPr/>
        <p:txBody>
          <a:bodyPr/>
          <a:lstStyle/>
          <a:p>
            <a:r>
              <a:rPr lang="en-US" altLang="en-US" dirty="0">
                <a:sym typeface="Arial"/>
              </a:rPr>
              <a:t>Generalization</a:t>
            </a:r>
            <a:endParaRPr lang="en-US" dirty="0"/>
          </a:p>
        </p:txBody>
      </p:sp>
      <p:sp>
        <p:nvSpPr>
          <p:cNvPr id="3" name="Content Placeholder 2">
            <a:extLst>
              <a:ext uri="{FF2B5EF4-FFF2-40B4-BE49-F238E27FC236}">
                <a16:creationId xmlns:a16="http://schemas.microsoft.com/office/drawing/2014/main" id="{77663338-0FD1-4528-A1F9-D513612F937A}"/>
              </a:ext>
            </a:extLst>
          </p:cNvPr>
          <p:cNvSpPr>
            <a:spLocks noGrp="1"/>
          </p:cNvSpPr>
          <p:nvPr>
            <p:ph sz="quarter" idx="13"/>
          </p:nvPr>
        </p:nvSpPr>
        <p:spPr>
          <a:xfrm>
            <a:off x="457200" y="1556327"/>
            <a:ext cx="8229600" cy="3152833"/>
          </a:xfrm>
        </p:spPr>
        <p:txBody>
          <a:bodyPr/>
          <a:lstStyle/>
          <a:p>
            <a:pPr marL="255588" lvl="0" indent="-255588">
              <a:buSzPts val="2400"/>
            </a:pPr>
            <a:r>
              <a:rPr lang="en-US" altLang="en-US" dirty="0">
                <a:solidFill>
                  <a:srgbClr val="000000"/>
                </a:solidFill>
              </a:rPr>
              <a:t>Describes a relationship between a general kind of thing and a more specific kind of thing</a:t>
            </a:r>
          </a:p>
          <a:p>
            <a:pPr marL="255588" lvl="0" indent="-255588">
              <a:buSzPts val="2400"/>
            </a:pPr>
            <a:r>
              <a:rPr lang="en-US" altLang="en-US" dirty="0">
                <a:solidFill>
                  <a:srgbClr val="000000"/>
                </a:solidFill>
              </a:rPr>
              <a:t>Described as an “is a” relationship</a:t>
            </a:r>
          </a:p>
          <a:p>
            <a:pPr marL="255588" lvl="0" indent="-255588">
              <a:buSzPts val="2400"/>
            </a:pPr>
            <a:r>
              <a:rPr lang="en-US" altLang="en-US" dirty="0">
                <a:solidFill>
                  <a:srgbClr val="000000"/>
                </a:solidFill>
              </a:rPr>
              <a:t>Used for modeling class inheritance and specialization</a:t>
            </a:r>
          </a:p>
          <a:p>
            <a:pPr marL="255588" lvl="0" indent="-255588">
              <a:buSzPts val="2400"/>
            </a:pPr>
            <a:r>
              <a:rPr lang="en-US" altLang="en-US" dirty="0">
                <a:solidFill>
                  <a:srgbClr val="000000"/>
                </a:solidFill>
              </a:rPr>
              <a:t>General class is a parent, base, or superclass</a:t>
            </a:r>
          </a:p>
          <a:p>
            <a:pPr marL="255588" lvl="0" indent="-255588">
              <a:buSzPts val="2400"/>
            </a:pPr>
            <a:r>
              <a:rPr lang="en-US" altLang="en-US" dirty="0">
                <a:solidFill>
                  <a:srgbClr val="000000"/>
                </a:solidFill>
              </a:rPr>
              <a:t>Specialized class is a child, derived, or subclass</a:t>
            </a:r>
          </a:p>
        </p:txBody>
      </p:sp>
    </p:spTree>
    <p:extLst>
      <p:ext uri="{BB962C8B-B14F-4D97-AF65-F5344CB8AC3E}">
        <p14:creationId xmlns:p14="http://schemas.microsoft.com/office/powerpoint/2010/main" val="16575094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192A6-ED4D-43A2-B15B-918EB13B9F0C}"/>
              </a:ext>
            </a:extLst>
          </p:cNvPr>
          <p:cNvSpPr>
            <a:spLocks noGrp="1"/>
          </p:cNvSpPr>
          <p:nvPr>
            <p:ph type="title"/>
          </p:nvPr>
        </p:nvSpPr>
        <p:spPr/>
        <p:txBody>
          <a:bodyPr/>
          <a:lstStyle/>
          <a:p>
            <a:r>
              <a:rPr lang="en-US" altLang="en-US" dirty="0">
                <a:sym typeface="Arial"/>
              </a:rPr>
              <a:t>Inheritance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8EFB0015-043A-4110-B130-1168BEE11839}"/>
              </a:ext>
            </a:extLst>
          </p:cNvPr>
          <p:cNvSpPr>
            <a:spLocks noGrp="1"/>
          </p:cNvSpPr>
          <p:nvPr>
            <p:ph sz="quarter" idx="13"/>
          </p:nvPr>
        </p:nvSpPr>
        <p:spPr>
          <a:xfrm>
            <a:off x="457200" y="1556327"/>
            <a:ext cx="8229600" cy="1097279"/>
          </a:xfrm>
        </p:spPr>
        <p:txBody>
          <a:bodyPr/>
          <a:lstStyle/>
          <a:p>
            <a:pPr marL="255588" lvl="0" indent="-255588">
              <a:buSzPts val="2400"/>
            </a:pPr>
            <a:r>
              <a:rPr lang="en-US" altLang="en-US" dirty="0">
                <a:solidFill>
                  <a:srgbClr val="000000"/>
                </a:solidFill>
              </a:rPr>
              <a:t>Helps to foster reuse</a:t>
            </a:r>
          </a:p>
          <a:p>
            <a:pPr marL="255588" lvl="0" indent="-255588">
              <a:buSzPts val="2400"/>
            </a:pPr>
            <a:r>
              <a:rPr lang="en-US" altLang="en-US" dirty="0">
                <a:solidFill>
                  <a:srgbClr val="000000"/>
                </a:solidFill>
              </a:rPr>
              <a:t>Helps to maintain existing program code</a:t>
            </a:r>
          </a:p>
        </p:txBody>
      </p:sp>
    </p:spTree>
    <p:extLst>
      <p:ext uri="{BB962C8B-B14F-4D97-AF65-F5344CB8AC3E}">
        <p14:creationId xmlns:p14="http://schemas.microsoft.com/office/powerpoint/2010/main" val="16692402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E7F1B-0345-4F5C-83D2-DCEE5C9EAD33}"/>
              </a:ext>
            </a:extLst>
          </p:cNvPr>
          <p:cNvSpPr>
            <a:spLocks noGrp="1"/>
          </p:cNvSpPr>
          <p:nvPr>
            <p:ph type="title"/>
          </p:nvPr>
        </p:nvSpPr>
        <p:spPr/>
        <p:txBody>
          <a:bodyPr/>
          <a:lstStyle/>
          <a:p>
            <a:r>
              <a:rPr lang="en-US" altLang="en-US" dirty="0">
                <a:sym typeface="Arial"/>
              </a:rPr>
              <a:t>Polymorphism</a:t>
            </a:r>
            <a:endParaRPr lang="en-US" dirty="0"/>
          </a:p>
        </p:txBody>
      </p:sp>
      <p:sp>
        <p:nvSpPr>
          <p:cNvPr id="3" name="Content Placeholder 2">
            <a:extLst>
              <a:ext uri="{FF2B5EF4-FFF2-40B4-BE49-F238E27FC236}">
                <a16:creationId xmlns:a16="http://schemas.microsoft.com/office/drawing/2014/main" id="{089A051E-D18E-49F0-A08B-D9FD818DB526}"/>
              </a:ext>
            </a:extLst>
          </p:cNvPr>
          <p:cNvSpPr>
            <a:spLocks noGrp="1"/>
          </p:cNvSpPr>
          <p:nvPr>
            <p:ph sz="quarter" idx="13"/>
          </p:nvPr>
        </p:nvSpPr>
        <p:spPr>
          <a:xfrm>
            <a:off x="457200" y="1556327"/>
            <a:ext cx="8229600" cy="2775643"/>
          </a:xfrm>
        </p:spPr>
        <p:txBody>
          <a:bodyPr/>
          <a:lstStyle/>
          <a:p>
            <a:pPr marL="255588" lvl="0" indent="-255588">
              <a:buSzPts val="2400"/>
            </a:pPr>
            <a:r>
              <a:rPr lang="en-US" altLang="en-US" dirty="0">
                <a:solidFill>
                  <a:srgbClr val="000000"/>
                </a:solidFill>
              </a:rPr>
              <a:t>The capability of an object-oriented program to have several versions of the same method with the same name within a superclass/subclass relationship</a:t>
            </a:r>
          </a:p>
          <a:p>
            <a:pPr marL="255588" lvl="0" indent="-255588">
              <a:buSzPts val="2400"/>
            </a:pPr>
            <a:r>
              <a:rPr lang="en-US" altLang="en-US" dirty="0">
                <a:solidFill>
                  <a:srgbClr val="000000"/>
                </a:solidFill>
              </a:rPr>
              <a:t>The subclass method overrides the superclass method</a:t>
            </a:r>
          </a:p>
          <a:p>
            <a:pPr marL="255588" lvl="0" indent="-255588">
              <a:buSzPts val="2400"/>
            </a:pPr>
            <a:r>
              <a:rPr lang="en-US" altLang="en-US" dirty="0">
                <a:solidFill>
                  <a:srgbClr val="000000"/>
                </a:solidFill>
              </a:rPr>
              <a:t>When attributes or methods are defined more than once, the most specific one is used</a:t>
            </a:r>
          </a:p>
        </p:txBody>
      </p:sp>
    </p:spTree>
    <p:extLst>
      <p:ext uri="{BB962C8B-B14F-4D97-AF65-F5344CB8AC3E}">
        <p14:creationId xmlns:p14="http://schemas.microsoft.com/office/powerpoint/2010/main" val="16654829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88014-6D51-40CA-BB07-E18D7F651956}"/>
              </a:ext>
            </a:extLst>
          </p:cNvPr>
          <p:cNvSpPr>
            <a:spLocks noGrp="1"/>
          </p:cNvSpPr>
          <p:nvPr>
            <p:ph type="title"/>
          </p:nvPr>
        </p:nvSpPr>
        <p:spPr/>
        <p:txBody>
          <a:bodyPr/>
          <a:lstStyle/>
          <a:p>
            <a:r>
              <a:rPr lang="en-US" altLang="en-US" dirty="0">
                <a:sym typeface="Arial"/>
              </a:rPr>
              <a:t>Abstract Classes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1A60E5DE-9A7D-4192-A971-92F96D80208A}"/>
              </a:ext>
            </a:extLst>
          </p:cNvPr>
          <p:cNvSpPr>
            <a:spLocks noGrp="1"/>
          </p:cNvSpPr>
          <p:nvPr>
            <p:ph sz="quarter" idx="13"/>
          </p:nvPr>
        </p:nvSpPr>
        <p:spPr>
          <a:xfrm>
            <a:off x="457200" y="1556327"/>
            <a:ext cx="8229600" cy="2089843"/>
          </a:xfrm>
        </p:spPr>
        <p:txBody>
          <a:bodyPr/>
          <a:lstStyle/>
          <a:p>
            <a:pPr marL="255588" lvl="0" indent="-255588">
              <a:buSzPts val="2400"/>
            </a:pPr>
            <a:r>
              <a:rPr lang="en-US" altLang="en-US" dirty="0">
                <a:solidFill>
                  <a:srgbClr val="000000"/>
                </a:solidFill>
              </a:rPr>
              <a:t>Abstract classes are general classes</a:t>
            </a:r>
          </a:p>
          <a:p>
            <a:pPr marL="255588" lvl="0" indent="-255588">
              <a:buSzPts val="2400"/>
            </a:pPr>
            <a:r>
              <a:rPr lang="en-US" altLang="en-US" dirty="0">
                <a:solidFill>
                  <a:srgbClr val="000000"/>
                </a:solidFill>
              </a:rPr>
              <a:t>No direct objects or class instances, and is only used in conjunction with specialized classes</a:t>
            </a:r>
          </a:p>
          <a:p>
            <a:pPr marL="255588" lvl="0" indent="-255588">
              <a:buSzPts val="2400"/>
            </a:pPr>
            <a:r>
              <a:rPr lang="en-US" altLang="en-US" dirty="0">
                <a:solidFill>
                  <a:srgbClr val="000000"/>
                </a:solidFill>
              </a:rPr>
              <a:t>Usually have attributes and may have a few methods</a:t>
            </a:r>
          </a:p>
        </p:txBody>
      </p:sp>
    </p:spTree>
    <p:extLst>
      <p:ext uri="{BB962C8B-B14F-4D97-AF65-F5344CB8AC3E}">
        <p14:creationId xmlns:p14="http://schemas.microsoft.com/office/powerpoint/2010/main" val="29256401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D9D55-5A3A-40CB-B4E9-4F6888D5DBBC}"/>
              </a:ext>
            </a:extLst>
          </p:cNvPr>
          <p:cNvSpPr>
            <a:spLocks noGrp="1"/>
          </p:cNvSpPr>
          <p:nvPr>
            <p:ph type="title"/>
          </p:nvPr>
        </p:nvSpPr>
        <p:spPr/>
        <p:txBody>
          <a:bodyPr/>
          <a:lstStyle/>
          <a:p>
            <a:r>
              <a:rPr lang="en-US" altLang="en-US" sz="2800" dirty="0">
                <a:sym typeface="Arial"/>
              </a:rPr>
              <a:t>Figure 10.20 A Generalization/Specification Diagram is a Refined Form of a Class Diagram</a:t>
            </a:r>
            <a:endParaRPr lang="en-US" sz="2800" dirty="0"/>
          </a:p>
        </p:txBody>
      </p:sp>
      <p:pic>
        <p:nvPicPr>
          <p:cNvPr id="5" name="Picture 4" descr="An illustration shows gen or spec diagram as a refined form of a class diagram. Long description in notes, press F6.">
            <a:extLst>
              <a:ext uri="{FF2B5EF4-FFF2-40B4-BE49-F238E27FC236}">
                <a16:creationId xmlns:a16="http://schemas.microsoft.com/office/drawing/2014/main" id="{902E764A-F02A-448F-96E5-D9424A66909E}"/>
              </a:ext>
            </a:extLst>
          </p:cNvPr>
          <p:cNvPicPr>
            <a:picLocks noChangeAspect="1"/>
          </p:cNvPicPr>
          <p:nvPr/>
        </p:nvPicPr>
        <p:blipFill>
          <a:blip r:embed="rId3"/>
          <a:stretch>
            <a:fillRect/>
          </a:stretch>
        </p:blipFill>
        <p:spPr>
          <a:xfrm>
            <a:off x="2604471" y="1597586"/>
            <a:ext cx="3935058" cy="4629480"/>
          </a:xfrm>
          <a:prstGeom prst="rect">
            <a:avLst/>
          </a:prstGeom>
        </p:spPr>
      </p:pic>
    </p:spTree>
    <p:extLst>
      <p:ext uri="{BB962C8B-B14F-4D97-AF65-F5344CB8AC3E}">
        <p14:creationId xmlns:p14="http://schemas.microsoft.com/office/powerpoint/2010/main" val="40066448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74756-D342-45B7-B53E-A64480BE04A9}"/>
              </a:ext>
            </a:extLst>
          </p:cNvPr>
          <p:cNvSpPr>
            <a:spLocks noGrp="1"/>
          </p:cNvSpPr>
          <p:nvPr>
            <p:ph type="title"/>
          </p:nvPr>
        </p:nvSpPr>
        <p:spPr/>
        <p:txBody>
          <a:bodyPr/>
          <a:lstStyle/>
          <a:p>
            <a:r>
              <a:rPr lang="en-US" altLang="en-US" dirty="0">
                <a:sym typeface="Arial"/>
              </a:rPr>
              <a:t>Finding Classes</a:t>
            </a:r>
            <a:endParaRPr lang="en-US" dirty="0"/>
          </a:p>
        </p:txBody>
      </p:sp>
      <p:sp>
        <p:nvSpPr>
          <p:cNvPr id="3" name="Content Placeholder 2">
            <a:extLst>
              <a:ext uri="{FF2B5EF4-FFF2-40B4-BE49-F238E27FC236}">
                <a16:creationId xmlns:a16="http://schemas.microsoft.com/office/drawing/2014/main" id="{C61B2C7C-C0C4-4865-8BE3-266964915525}"/>
              </a:ext>
            </a:extLst>
          </p:cNvPr>
          <p:cNvSpPr>
            <a:spLocks noGrp="1"/>
          </p:cNvSpPr>
          <p:nvPr>
            <p:ph sz="quarter" idx="13"/>
          </p:nvPr>
        </p:nvSpPr>
        <p:spPr>
          <a:xfrm>
            <a:off x="457200" y="1556327"/>
            <a:ext cx="8229600" cy="2844223"/>
          </a:xfrm>
        </p:spPr>
        <p:txBody>
          <a:bodyPr/>
          <a:lstStyle/>
          <a:p>
            <a:pPr marL="255588" lvl="0" indent="-255588">
              <a:buSzPts val="2400"/>
            </a:pPr>
            <a:r>
              <a:rPr lang="en-US" altLang="en-US" dirty="0">
                <a:solidFill>
                  <a:srgbClr val="000000"/>
                </a:solidFill>
              </a:rPr>
              <a:t>During interviewing or J</a:t>
            </a:r>
            <a:r>
              <a:rPr lang="en-US" altLang="en-US" sz="100" dirty="0">
                <a:solidFill>
                  <a:srgbClr val="000000"/>
                </a:solidFill>
              </a:rPr>
              <a:t> </a:t>
            </a:r>
            <a:r>
              <a:rPr lang="en-US" altLang="en-US" dirty="0">
                <a:solidFill>
                  <a:srgbClr val="000000"/>
                </a:solidFill>
              </a:rPr>
              <a:t>A</a:t>
            </a:r>
            <a:r>
              <a:rPr lang="en-US" altLang="en-US" sz="100" dirty="0">
                <a:solidFill>
                  <a:srgbClr val="000000"/>
                </a:solidFill>
              </a:rPr>
              <a:t> </a:t>
            </a:r>
            <a:r>
              <a:rPr lang="en-US" altLang="en-US" dirty="0">
                <a:solidFill>
                  <a:srgbClr val="000000"/>
                </a:solidFill>
              </a:rPr>
              <a:t>D sessions</a:t>
            </a:r>
          </a:p>
          <a:p>
            <a:pPr marL="255588" lvl="0" indent="-255588">
              <a:buSzPts val="2400"/>
            </a:pPr>
            <a:r>
              <a:rPr lang="en-US" altLang="en-US" dirty="0">
                <a:solidFill>
                  <a:srgbClr val="000000"/>
                </a:solidFill>
              </a:rPr>
              <a:t>During facilitated team sessions</a:t>
            </a:r>
          </a:p>
          <a:p>
            <a:pPr marL="255588" lvl="0" indent="-255588">
              <a:buSzPts val="2400"/>
            </a:pPr>
            <a:r>
              <a:rPr lang="en-US" altLang="en-US" dirty="0">
                <a:solidFill>
                  <a:srgbClr val="000000"/>
                </a:solidFill>
              </a:rPr>
              <a:t>During brainstorming sessions</a:t>
            </a:r>
          </a:p>
          <a:p>
            <a:pPr marL="255588" lvl="0" indent="-255588">
              <a:buSzPts val="2400"/>
            </a:pPr>
            <a:r>
              <a:rPr lang="en-US" altLang="en-US" dirty="0">
                <a:solidFill>
                  <a:srgbClr val="000000"/>
                </a:solidFill>
              </a:rPr>
              <a:t>Analyzing documents and memos</a:t>
            </a:r>
          </a:p>
          <a:p>
            <a:pPr marL="255588" lvl="0" indent="-255588">
              <a:buSzPts val="2400"/>
            </a:pPr>
            <a:r>
              <a:rPr lang="en-US" altLang="en-US" dirty="0">
                <a:solidFill>
                  <a:srgbClr val="000000"/>
                </a:solidFill>
              </a:rPr>
              <a:t>Examining use cases, looking for nouns</a:t>
            </a:r>
          </a:p>
        </p:txBody>
      </p:sp>
    </p:spTree>
    <p:extLst>
      <p:ext uri="{BB962C8B-B14F-4D97-AF65-F5344CB8AC3E}">
        <p14:creationId xmlns:p14="http://schemas.microsoft.com/office/powerpoint/2010/main" val="72113521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23C3F-5E7D-476E-9B16-08D42DCDFAB1}"/>
              </a:ext>
            </a:extLst>
          </p:cNvPr>
          <p:cNvSpPr>
            <a:spLocks noGrp="1"/>
          </p:cNvSpPr>
          <p:nvPr>
            <p:ph type="title"/>
          </p:nvPr>
        </p:nvSpPr>
        <p:spPr/>
        <p:txBody>
          <a:bodyPr/>
          <a:lstStyle/>
          <a:p>
            <a:r>
              <a:rPr lang="en-US" altLang="en-US" dirty="0">
                <a:sym typeface="Arial"/>
              </a:rPr>
              <a:t>Determining Class Methods</a:t>
            </a:r>
            <a:endParaRPr lang="en-US" dirty="0"/>
          </a:p>
        </p:txBody>
      </p:sp>
      <p:sp>
        <p:nvSpPr>
          <p:cNvPr id="3" name="Content Placeholder 2">
            <a:extLst>
              <a:ext uri="{FF2B5EF4-FFF2-40B4-BE49-F238E27FC236}">
                <a16:creationId xmlns:a16="http://schemas.microsoft.com/office/drawing/2014/main" id="{7528F2AC-6B45-4D24-A6FC-EDD24B7029DD}"/>
              </a:ext>
            </a:extLst>
          </p:cNvPr>
          <p:cNvSpPr>
            <a:spLocks noGrp="1"/>
          </p:cNvSpPr>
          <p:nvPr>
            <p:ph sz="quarter" idx="13"/>
          </p:nvPr>
        </p:nvSpPr>
        <p:spPr>
          <a:xfrm>
            <a:off x="457200" y="1556327"/>
            <a:ext cx="8229600" cy="1221163"/>
          </a:xfrm>
        </p:spPr>
        <p:txBody>
          <a:bodyPr/>
          <a:lstStyle/>
          <a:p>
            <a:pPr marL="255588" lvl="0" indent="-255588">
              <a:buSzPts val="2400"/>
            </a:pPr>
            <a:r>
              <a:rPr lang="en-US" altLang="en-US" dirty="0">
                <a:solidFill>
                  <a:srgbClr val="000000"/>
                </a:solidFill>
              </a:rPr>
              <a:t>Standard methods</a:t>
            </a:r>
          </a:p>
          <a:p>
            <a:pPr marL="255588" lvl="0" indent="-255588">
              <a:buSzPts val="2400"/>
            </a:pPr>
            <a:r>
              <a:rPr lang="en-US" altLang="en-US" dirty="0">
                <a:solidFill>
                  <a:srgbClr val="000000"/>
                </a:solidFill>
              </a:rPr>
              <a:t>Examine a C</a:t>
            </a:r>
            <a:r>
              <a:rPr lang="en-US" altLang="en-US" sz="100" dirty="0">
                <a:solidFill>
                  <a:srgbClr val="000000"/>
                </a:solidFill>
              </a:rPr>
              <a:t> </a:t>
            </a:r>
            <a:r>
              <a:rPr lang="en-US" altLang="en-US" dirty="0">
                <a:solidFill>
                  <a:srgbClr val="000000"/>
                </a:solidFill>
              </a:rPr>
              <a:t>R</a:t>
            </a:r>
            <a:r>
              <a:rPr lang="en-US" altLang="en-US" sz="100" dirty="0">
                <a:solidFill>
                  <a:srgbClr val="000000"/>
                </a:solidFill>
              </a:rPr>
              <a:t> </a:t>
            </a:r>
            <a:r>
              <a:rPr lang="en-US" altLang="en-US" dirty="0">
                <a:solidFill>
                  <a:srgbClr val="000000"/>
                </a:solidFill>
              </a:rPr>
              <a:t>U</a:t>
            </a:r>
            <a:r>
              <a:rPr lang="en-US" altLang="en-US" sz="100" dirty="0">
                <a:solidFill>
                  <a:srgbClr val="000000"/>
                </a:solidFill>
              </a:rPr>
              <a:t> </a:t>
            </a:r>
            <a:r>
              <a:rPr lang="en-US" altLang="en-US" dirty="0">
                <a:solidFill>
                  <a:srgbClr val="000000"/>
                </a:solidFill>
              </a:rPr>
              <a:t>D matrix</a:t>
            </a:r>
          </a:p>
        </p:txBody>
      </p:sp>
    </p:spTree>
    <p:extLst>
      <p:ext uri="{BB962C8B-B14F-4D97-AF65-F5344CB8AC3E}">
        <p14:creationId xmlns:p14="http://schemas.microsoft.com/office/powerpoint/2010/main" val="18763321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E7492-8F59-478F-A51E-E108AF4661B5}"/>
              </a:ext>
            </a:extLst>
          </p:cNvPr>
          <p:cNvSpPr>
            <a:spLocks noGrp="1"/>
          </p:cNvSpPr>
          <p:nvPr>
            <p:ph type="title"/>
          </p:nvPr>
        </p:nvSpPr>
        <p:spPr/>
        <p:txBody>
          <a:bodyPr/>
          <a:lstStyle/>
          <a:p>
            <a:r>
              <a:rPr lang="en-US" altLang="en-US" dirty="0">
                <a:sym typeface="Arial"/>
              </a:rPr>
              <a:t>Messages</a:t>
            </a:r>
            <a:endParaRPr lang="en-US" dirty="0"/>
          </a:p>
        </p:txBody>
      </p:sp>
      <p:sp>
        <p:nvSpPr>
          <p:cNvPr id="3" name="Content Placeholder 2">
            <a:extLst>
              <a:ext uri="{FF2B5EF4-FFF2-40B4-BE49-F238E27FC236}">
                <a16:creationId xmlns:a16="http://schemas.microsoft.com/office/drawing/2014/main" id="{243BA186-403E-4DE4-9FD1-8076247D6F4F}"/>
              </a:ext>
            </a:extLst>
          </p:cNvPr>
          <p:cNvSpPr>
            <a:spLocks noGrp="1"/>
          </p:cNvSpPr>
          <p:nvPr>
            <p:ph sz="quarter" idx="13"/>
          </p:nvPr>
        </p:nvSpPr>
        <p:spPr>
          <a:xfrm>
            <a:off x="457200" y="1556327"/>
            <a:ext cx="8229600" cy="3758623"/>
          </a:xfrm>
        </p:spPr>
        <p:txBody>
          <a:bodyPr/>
          <a:lstStyle/>
          <a:p>
            <a:pPr marL="255588" lvl="0" indent="-255588">
              <a:buSzPts val="2400"/>
            </a:pPr>
            <a:r>
              <a:rPr lang="en-US" altLang="en-US" dirty="0">
                <a:solidFill>
                  <a:srgbClr val="000000"/>
                </a:solidFill>
              </a:rPr>
              <a:t>Used to send information by an object in one class to an object in another class</a:t>
            </a:r>
          </a:p>
          <a:p>
            <a:pPr marL="255588" lvl="0" indent="-255588">
              <a:buSzPts val="2400"/>
            </a:pPr>
            <a:r>
              <a:rPr lang="en-US" altLang="en-US" dirty="0">
                <a:solidFill>
                  <a:srgbClr val="000000"/>
                </a:solidFill>
              </a:rPr>
              <a:t>Acts as a command, telling the receiving class to do something</a:t>
            </a:r>
          </a:p>
          <a:p>
            <a:pPr marL="255588" lvl="0" indent="-255588">
              <a:buSzPts val="2400"/>
            </a:pPr>
            <a:r>
              <a:rPr lang="en-US" altLang="en-US" dirty="0">
                <a:solidFill>
                  <a:srgbClr val="000000"/>
                </a:solidFill>
              </a:rPr>
              <a:t>Consists of the name of the method in the receiving class, as well as the attributes that are passed with the method name</a:t>
            </a:r>
          </a:p>
          <a:p>
            <a:pPr marL="255588" lvl="0" indent="-255588">
              <a:buSzPts val="2400"/>
            </a:pPr>
            <a:r>
              <a:rPr lang="en-US" altLang="en-US" dirty="0">
                <a:solidFill>
                  <a:srgbClr val="000000"/>
                </a:solidFill>
              </a:rPr>
              <a:t>May be thought of as an output or an input</a:t>
            </a:r>
          </a:p>
        </p:txBody>
      </p:sp>
    </p:spTree>
    <p:extLst>
      <p:ext uri="{BB962C8B-B14F-4D97-AF65-F5344CB8AC3E}">
        <p14:creationId xmlns:p14="http://schemas.microsoft.com/office/powerpoint/2010/main" val="15766069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CE89B-C4C2-4AD3-B6A7-1B46B6C0AFE9}"/>
              </a:ext>
            </a:extLst>
          </p:cNvPr>
          <p:cNvSpPr>
            <a:spLocks noGrp="1"/>
          </p:cNvSpPr>
          <p:nvPr>
            <p:ph type="title"/>
          </p:nvPr>
        </p:nvSpPr>
        <p:spPr/>
        <p:txBody>
          <a:bodyPr/>
          <a:lstStyle/>
          <a:p>
            <a:r>
              <a:rPr lang="en-US" altLang="en-US" dirty="0">
                <a:sym typeface="Arial"/>
              </a:rPr>
              <a:t>Statechart Diagrams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650E8DCA-3CAD-45A1-BD2E-40DD88D1CA20}"/>
              </a:ext>
            </a:extLst>
          </p:cNvPr>
          <p:cNvSpPr>
            <a:spLocks noGrp="1"/>
          </p:cNvSpPr>
          <p:nvPr>
            <p:ph sz="quarter" idx="13"/>
          </p:nvPr>
        </p:nvSpPr>
        <p:spPr>
          <a:xfrm>
            <a:off x="457200" y="1556327"/>
            <a:ext cx="8229600" cy="4661593"/>
          </a:xfrm>
        </p:spPr>
        <p:txBody>
          <a:bodyPr/>
          <a:lstStyle/>
          <a:p>
            <a:pPr marL="255588" lvl="0" indent="-255588"/>
            <a:r>
              <a:rPr lang="en-US" altLang="en-US" sz="2200" dirty="0">
                <a:solidFill>
                  <a:srgbClr val="000000"/>
                </a:solidFill>
              </a:rPr>
              <a:t>Used to examine the different states that an object may have</a:t>
            </a:r>
          </a:p>
          <a:p>
            <a:pPr marL="255588" lvl="0" indent="-255588"/>
            <a:r>
              <a:rPr lang="en-US" altLang="en-US" sz="2200" dirty="0">
                <a:solidFill>
                  <a:srgbClr val="000000"/>
                </a:solidFill>
              </a:rPr>
              <a:t>Created for a single class</a:t>
            </a:r>
          </a:p>
          <a:p>
            <a:pPr marL="741600" lvl="1"/>
            <a:r>
              <a:rPr lang="en-US" altLang="en-US" sz="2200" dirty="0">
                <a:solidFill>
                  <a:srgbClr val="000000"/>
                </a:solidFill>
              </a:rPr>
              <a:t>Objects are created, go through changes, and are deleted or removed</a:t>
            </a:r>
          </a:p>
          <a:p>
            <a:pPr marL="255588" lvl="0" indent="-255588"/>
            <a:r>
              <a:rPr lang="en-US" altLang="en-US" sz="2200" dirty="0">
                <a:solidFill>
                  <a:srgbClr val="000000"/>
                </a:solidFill>
              </a:rPr>
              <a:t>Objects</a:t>
            </a:r>
          </a:p>
          <a:p>
            <a:pPr marL="255588" lvl="0" indent="-255588"/>
            <a:r>
              <a:rPr lang="en-US" altLang="en-US" sz="2200" dirty="0">
                <a:solidFill>
                  <a:srgbClr val="000000"/>
                </a:solidFill>
              </a:rPr>
              <a:t>States</a:t>
            </a:r>
          </a:p>
          <a:p>
            <a:pPr marL="255588" lvl="0" indent="-255588"/>
            <a:r>
              <a:rPr lang="en-US" altLang="en-US" sz="2200" dirty="0">
                <a:solidFill>
                  <a:srgbClr val="000000"/>
                </a:solidFill>
              </a:rPr>
              <a:t>Events</a:t>
            </a:r>
          </a:p>
          <a:p>
            <a:pPr marL="741600" lvl="1"/>
            <a:r>
              <a:rPr lang="en-US" altLang="en-US" sz="2200" dirty="0">
                <a:solidFill>
                  <a:srgbClr val="000000"/>
                </a:solidFill>
              </a:rPr>
              <a:t>Signals or asynchronous messages</a:t>
            </a:r>
          </a:p>
          <a:p>
            <a:pPr marL="741600" lvl="1"/>
            <a:r>
              <a:rPr lang="en-US" altLang="en-US" sz="2200" dirty="0">
                <a:solidFill>
                  <a:srgbClr val="000000"/>
                </a:solidFill>
              </a:rPr>
              <a:t>Synchronous</a:t>
            </a:r>
          </a:p>
          <a:p>
            <a:pPr marL="741600" lvl="1"/>
            <a:r>
              <a:rPr lang="en-US" altLang="en-US" sz="2200" dirty="0">
                <a:solidFill>
                  <a:srgbClr val="000000"/>
                </a:solidFill>
              </a:rPr>
              <a:t>Temporal events</a:t>
            </a:r>
          </a:p>
        </p:txBody>
      </p:sp>
    </p:spTree>
    <p:extLst>
      <p:ext uri="{BB962C8B-B14F-4D97-AF65-F5344CB8AC3E}">
        <p14:creationId xmlns:p14="http://schemas.microsoft.com/office/powerpoint/2010/main" val="31070300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F54B0-4A9E-4ECB-A7EB-F762853F90AF}"/>
              </a:ext>
            </a:extLst>
          </p:cNvPr>
          <p:cNvSpPr>
            <a:spLocks noGrp="1"/>
          </p:cNvSpPr>
          <p:nvPr>
            <p:ph type="title"/>
          </p:nvPr>
        </p:nvSpPr>
        <p:spPr/>
        <p:txBody>
          <a:bodyPr/>
          <a:lstStyle/>
          <a:p>
            <a:r>
              <a:rPr lang="en-US" altLang="en-US" dirty="0">
                <a:sym typeface="Arial"/>
              </a:rPr>
              <a:t>Statechart Diagrams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C9578BA9-FB39-4629-8D04-F2A1BB5F2356}"/>
              </a:ext>
            </a:extLst>
          </p:cNvPr>
          <p:cNvSpPr>
            <a:spLocks noGrp="1"/>
          </p:cNvSpPr>
          <p:nvPr>
            <p:ph sz="quarter" idx="13"/>
          </p:nvPr>
        </p:nvSpPr>
        <p:spPr>
          <a:xfrm>
            <a:off x="457200" y="1556326"/>
            <a:ext cx="8229600" cy="3495733"/>
          </a:xfrm>
        </p:spPr>
        <p:txBody>
          <a:bodyPr/>
          <a:lstStyle/>
          <a:p>
            <a:pPr marL="255588" lvl="0" indent="-255588">
              <a:buSzPts val="2400"/>
            </a:pPr>
            <a:r>
              <a:rPr lang="en-US" altLang="en-US" dirty="0">
                <a:solidFill>
                  <a:srgbClr val="000000"/>
                </a:solidFill>
              </a:rPr>
              <a:t>Created when:</a:t>
            </a:r>
          </a:p>
          <a:p>
            <a:pPr marL="741600" lvl="1">
              <a:buSzPts val="2400"/>
            </a:pPr>
            <a:r>
              <a:rPr lang="en-US" altLang="en-US" dirty="0">
                <a:solidFill>
                  <a:srgbClr val="000000"/>
                </a:solidFill>
              </a:rPr>
              <a:t>A class has a complex life cycle</a:t>
            </a:r>
          </a:p>
          <a:p>
            <a:pPr marL="741600" lvl="1">
              <a:buSzPts val="2400"/>
            </a:pPr>
            <a:r>
              <a:rPr lang="en-US" altLang="en-US" dirty="0">
                <a:solidFill>
                  <a:srgbClr val="000000"/>
                </a:solidFill>
              </a:rPr>
              <a:t>An instance of a class may update its attributes in a number of ways through the life cycle</a:t>
            </a:r>
          </a:p>
          <a:p>
            <a:pPr marL="741600" lvl="1">
              <a:buSzPts val="2400"/>
            </a:pPr>
            <a:r>
              <a:rPr lang="en-US" altLang="en-US" dirty="0">
                <a:solidFill>
                  <a:srgbClr val="000000"/>
                </a:solidFill>
              </a:rPr>
              <a:t>A class has an operational life cycle</a:t>
            </a:r>
          </a:p>
          <a:p>
            <a:pPr marL="741600" lvl="1">
              <a:buSzPts val="2400"/>
            </a:pPr>
            <a:r>
              <a:rPr lang="en-US" altLang="en-US" dirty="0">
                <a:solidFill>
                  <a:srgbClr val="000000"/>
                </a:solidFill>
              </a:rPr>
              <a:t>Two classes depend on each other</a:t>
            </a:r>
          </a:p>
          <a:p>
            <a:pPr marL="741600" lvl="1">
              <a:buSzPts val="2400"/>
            </a:pPr>
            <a:r>
              <a:rPr lang="en-US" altLang="en-US" dirty="0">
                <a:solidFill>
                  <a:srgbClr val="000000"/>
                </a:solidFill>
              </a:rPr>
              <a:t>The object’s current behavior depends on what happened previously</a:t>
            </a:r>
          </a:p>
        </p:txBody>
      </p:sp>
    </p:spTree>
    <p:extLst>
      <p:ext uri="{BB962C8B-B14F-4D97-AF65-F5344CB8AC3E}">
        <p14:creationId xmlns:p14="http://schemas.microsoft.com/office/powerpoint/2010/main" val="26539923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91C5F-2E06-43D0-9DD4-3853C42A0713}"/>
              </a:ext>
            </a:extLst>
          </p:cNvPr>
          <p:cNvSpPr>
            <a:spLocks noGrp="1"/>
          </p:cNvSpPr>
          <p:nvPr>
            <p:ph type="title"/>
          </p:nvPr>
        </p:nvSpPr>
        <p:spPr>
          <a:xfrm>
            <a:off x="457200" y="91441"/>
            <a:ext cx="8229600" cy="1221210"/>
          </a:xfrm>
        </p:spPr>
        <p:txBody>
          <a:bodyPr/>
          <a:lstStyle/>
          <a:p>
            <a:r>
              <a:rPr lang="en-US" altLang="en-US" sz="2400" dirty="0">
                <a:sym typeface="Arial"/>
              </a:rPr>
              <a:t>Figure 10.22 A Statechart Diagram Showing How a Student Progresses from a Potential Student to a Graduated Student</a:t>
            </a:r>
            <a:endParaRPr lang="en-US" sz="2400" dirty="0"/>
          </a:p>
        </p:txBody>
      </p:sp>
      <p:pic>
        <p:nvPicPr>
          <p:cNvPr id="7" name="Picture 6" descr="A statechart diagram shows how a student progresses to become a graduated student from a potential student. Long description in notes, press F6.">
            <a:extLst>
              <a:ext uri="{FF2B5EF4-FFF2-40B4-BE49-F238E27FC236}">
                <a16:creationId xmlns:a16="http://schemas.microsoft.com/office/drawing/2014/main" id="{BE4020F6-0D36-412A-B32C-0585B226B0F8}"/>
              </a:ext>
            </a:extLst>
          </p:cNvPr>
          <p:cNvPicPr>
            <a:picLocks noChangeAspect="1"/>
          </p:cNvPicPr>
          <p:nvPr/>
        </p:nvPicPr>
        <p:blipFill>
          <a:blip r:embed="rId3"/>
          <a:stretch>
            <a:fillRect/>
          </a:stretch>
        </p:blipFill>
        <p:spPr>
          <a:xfrm>
            <a:off x="2978150" y="1686858"/>
            <a:ext cx="3187700" cy="4483100"/>
          </a:xfrm>
          <a:prstGeom prst="rect">
            <a:avLst/>
          </a:prstGeom>
        </p:spPr>
      </p:pic>
    </p:spTree>
    <p:extLst>
      <p:ext uri="{BB962C8B-B14F-4D97-AF65-F5344CB8AC3E}">
        <p14:creationId xmlns:p14="http://schemas.microsoft.com/office/powerpoint/2010/main" val="109739104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E648C-343F-4D03-A341-2D82B778A5DC}"/>
              </a:ext>
            </a:extLst>
          </p:cNvPr>
          <p:cNvSpPr>
            <a:spLocks noGrp="1"/>
          </p:cNvSpPr>
          <p:nvPr>
            <p:ph type="title"/>
          </p:nvPr>
        </p:nvSpPr>
        <p:spPr/>
        <p:txBody>
          <a:bodyPr/>
          <a:lstStyle/>
          <a:p>
            <a:r>
              <a:rPr lang="en-US" altLang="en-US" dirty="0">
                <a:sym typeface="Arial"/>
              </a:rPr>
              <a:t>Packages</a:t>
            </a:r>
            <a:endParaRPr lang="en-US" dirty="0"/>
          </a:p>
        </p:txBody>
      </p:sp>
      <p:sp>
        <p:nvSpPr>
          <p:cNvPr id="3" name="Content Placeholder 2">
            <a:extLst>
              <a:ext uri="{FF2B5EF4-FFF2-40B4-BE49-F238E27FC236}">
                <a16:creationId xmlns:a16="http://schemas.microsoft.com/office/drawing/2014/main" id="{79FEAC69-0C64-4CD2-B86F-E334C8DF53B0}"/>
              </a:ext>
            </a:extLst>
          </p:cNvPr>
          <p:cNvSpPr>
            <a:spLocks noGrp="1"/>
          </p:cNvSpPr>
          <p:nvPr>
            <p:ph sz="quarter" idx="13"/>
          </p:nvPr>
        </p:nvSpPr>
        <p:spPr>
          <a:xfrm>
            <a:off x="457200" y="1556327"/>
            <a:ext cx="8229600" cy="3349048"/>
          </a:xfrm>
        </p:spPr>
        <p:txBody>
          <a:bodyPr/>
          <a:lstStyle/>
          <a:p>
            <a:pPr marL="255588" lvl="0" indent="-255588">
              <a:buSzPts val="2400"/>
            </a:pPr>
            <a:r>
              <a:rPr lang="en-US" altLang="en-US" dirty="0">
                <a:solidFill>
                  <a:srgbClr val="000000"/>
                </a:solidFill>
              </a:rPr>
              <a:t>Containers for other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 things</a:t>
            </a:r>
          </a:p>
          <a:p>
            <a:pPr marL="255588" lvl="0" indent="-255588">
              <a:buSzPts val="2400"/>
            </a:pPr>
            <a:r>
              <a:rPr lang="en-US" altLang="en-US" dirty="0">
                <a:solidFill>
                  <a:srgbClr val="000000"/>
                </a:solidFill>
              </a:rPr>
              <a:t>Show system partitioning</a:t>
            </a:r>
          </a:p>
          <a:p>
            <a:pPr marL="255588" lvl="0" indent="-255588">
              <a:buSzPts val="2400"/>
            </a:pPr>
            <a:r>
              <a:rPr lang="en-US" altLang="en-US" dirty="0">
                <a:solidFill>
                  <a:srgbClr val="000000"/>
                </a:solidFill>
              </a:rPr>
              <a:t>Can be component packages</a:t>
            </a:r>
          </a:p>
          <a:p>
            <a:pPr marL="255588" lvl="0" indent="-255588">
              <a:buSzPts val="2400"/>
            </a:pPr>
            <a:r>
              <a:rPr lang="en-US" altLang="en-US" dirty="0">
                <a:solidFill>
                  <a:srgbClr val="000000"/>
                </a:solidFill>
              </a:rPr>
              <a:t>Can be physical subsystems</a:t>
            </a:r>
          </a:p>
          <a:p>
            <a:pPr marL="255588" lvl="0" indent="-255588">
              <a:buSzPts val="2400"/>
            </a:pPr>
            <a:r>
              <a:rPr lang="en-US" altLang="en-US" dirty="0">
                <a:solidFill>
                  <a:srgbClr val="000000"/>
                </a:solidFill>
              </a:rPr>
              <a:t>Use a folder symbol</a:t>
            </a:r>
          </a:p>
          <a:p>
            <a:pPr marL="255588" lvl="0" indent="-255588">
              <a:buSzPts val="2400"/>
            </a:pPr>
            <a:r>
              <a:rPr lang="en-US" altLang="en-US" dirty="0">
                <a:solidFill>
                  <a:srgbClr val="000000"/>
                </a:solidFill>
              </a:rPr>
              <a:t>May have relationships</a:t>
            </a:r>
          </a:p>
        </p:txBody>
      </p:sp>
    </p:spTree>
    <p:extLst>
      <p:ext uri="{BB962C8B-B14F-4D97-AF65-F5344CB8AC3E}">
        <p14:creationId xmlns:p14="http://schemas.microsoft.com/office/powerpoint/2010/main" val="38656661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0E7C1-C1FE-4216-A529-E146A7A0E296}"/>
              </a:ext>
            </a:extLst>
          </p:cNvPr>
          <p:cNvSpPr>
            <a:spLocks noGrp="1"/>
          </p:cNvSpPr>
          <p:nvPr>
            <p:ph type="title"/>
          </p:nvPr>
        </p:nvSpPr>
        <p:spPr/>
        <p:txBody>
          <a:bodyPr/>
          <a:lstStyle/>
          <a:p>
            <a:r>
              <a:rPr lang="en-US" altLang="en-US" sz="3200" dirty="0">
                <a:sym typeface="Arial"/>
              </a:rPr>
              <a:t>Figure 10.23 Use Cases Can Be Grouped into Packages</a:t>
            </a:r>
            <a:endParaRPr lang="en-US" sz="3200" dirty="0"/>
          </a:p>
        </p:txBody>
      </p:sp>
      <p:pic>
        <p:nvPicPr>
          <p:cNvPr id="5" name="Picture 4" descr="An illustration shows how Use-Cases can be grouped into packages. Long description in notes, press F6.">
            <a:extLst>
              <a:ext uri="{FF2B5EF4-FFF2-40B4-BE49-F238E27FC236}">
                <a16:creationId xmlns:a16="http://schemas.microsoft.com/office/drawing/2014/main" id="{BA0433A6-6CF4-411C-B1F7-A0EB3AA49B3C}"/>
              </a:ext>
            </a:extLst>
          </p:cNvPr>
          <p:cNvPicPr>
            <a:picLocks noChangeAspect="1"/>
          </p:cNvPicPr>
          <p:nvPr/>
        </p:nvPicPr>
        <p:blipFill>
          <a:blip r:embed="rId3"/>
          <a:stretch>
            <a:fillRect/>
          </a:stretch>
        </p:blipFill>
        <p:spPr>
          <a:xfrm>
            <a:off x="2300281" y="1705499"/>
            <a:ext cx="4543439" cy="4398437"/>
          </a:xfrm>
          <a:prstGeom prst="rect">
            <a:avLst/>
          </a:prstGeom>
        </p:spPr>
      </p:pic>
    </p:spTree>
    <p:extLst>
      <p:ext uri="{BB962C8B-B14F-4D97-AF65-F5344CB8AC3E}">
        <p14:creationId xmlns:p14="http://schemas.microsoft.com/office/powerpoint/2010/main" val="37287277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99157-4EAA-47C0-9A01-68F13B85484A}"/>
              </a:ext>
            </a:extLst>
          </p:cNvPr>
          <p:cNvSpPr>
            <a:spLocks noGrp="1"/>
          </p:cNvSpPr>
          <p:nvPr>
            <p:ph type="title"/>
          </p:nvPr>
        </p:nvSpPr>
        <p:spPr/>
        <p:txBody>
          <a:bodyPr/>
          <a:lstStyle/>
          <a:p>
            <a:r>
              <a:rPr lang="en-US" altLang="en-US" dirty="0">
                <a:sym typeface="Arial"/>
              </a:rPr>
              <a:t>Putting U</a:t>
            </a:r>
            <a:r>
              <a:rPr lang="en-US" altLang="en-US" sz="100" dirty="0">
                <a:sym typeface="Arial"/>
              </a:rPr>
              <a:t> </a:t>
            </a:r>
            <a:r>
              <a:rPr lang="en-US" altLang="en-US" dirty="0">
                <a:sym typeface="Arial"/>
              </a:rPr>
              <a:t>M</a:t>
            </a:r>
            <a:r>
              <a:rPr lang="en-US" altLang="en-US" sz="100" dirty="0">
                <a:sym typeface="Arial"/>
              </a:rPr>
              <a:t> </a:t>
            </a:r>
            <a:r>
              <a:rPr lang="en-US" altLang="en-US" dirty="0">
                <a:sym typeface="Arial"/>
              </a:rPr>
              <a:t>L to Work</a:t>
            </a:r>
            <a:endParaRPr lang="en-US" dirty="0"/>
          </a:p>
        </p:txBody>
      </p:sp>
      <p:sp>
        <p:nvSpPr>
          <p:cNvPr id="3" name="Content Placeholder 2">
            <a:extLst>
              <a:ext uri="{FF2B5EF4-FFF2-40B4-BE49-F238E27FC236}">
                <a16:creationId xmlns:a16="http://schemas.microsoft.com/office/drawing/2014/main" id="{38F3C0AA-495C-4FDF-A5EF-119A77472402}"/>
              </a:ext>
            </a:extLst>
          </p:cNvPr>
          <p:cNvSpPr>
            <a:spLocks noGrp="1"/>
          </p:cNvSpPr>
          <p:nvPr>
            <p:ph sz="quarter" idx="13"/>
          </p:nvPr>
        </p:nvSpPr>
        <p:spPr>
          <a:xfrm>
            <a:off x="457200" y="1556327"/>
            <a:ext cx="8229600" cy="3610033"/>
          </a:xfrm>
        </p:spPr>
        <p:txBody>
          <a:bodyPr/>
          <a:lstStyle/>
          <a:p>
            <a:pPr>
              <a:buSzPts val="2400"/>
              <a:tabLst/>
            </a:pPr>
            <a:r>
              <a:rPr lang="en-US" altLang="en-US" dirty="0">
                <a:solidFill>
                  <a:srgbClr val="000000"/>
                </a:solidFill>
              </a:rPr>
              <a:t>The steps used in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 are:</a:t>
            </a:r>
          </a:p>
          <a:p>
            <a:pPr marL="741600" lvl="1">
              <a:buSzPts val="2400"/>
            </a:pPr>
            <a:r>
              <a:rPr lang="en-US" altLang="en-US" dirty="0">
                <a:solidFill>
                  <a:srgbClr val="000000"/>
                </a:solidFill>
              </a:rPr>
              <a:t>Define the use case model</a:t>
            </a:r>
          </a:p>
          <a:p>
            <a:pPr marL="741600" lvl="1">
              <a:buSzPts val="2400"/>
            </a:pPr>
            <a:r>
              <a:rPr lang="en-US" altLang="en-US" dirty="0">
                <a:solidFill>
                  <a:srgbClr val="000000"/>
                </a:solidFill>
              </a:rPr>
              <a:t>Continue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 diagramming to model the system during the systems analysis phase</a:t>
            </a:r>
          </a:p>
          <a:p>
            <a:pPr marL="741600" lvl="1">
              <a:buSzPts val="2400"/>
            </a:pPr>
            <a:r>
              <a:rPr lang="en-US" altLang="en-US" dirty="0">
                <a:solidFill>
                  <a:srgbClr val="000000"/>
                </a:solidFill>
              </a:rPr>
              <a:t>Develop the class diagrams</a:t>
            </a:r>
          </a:p>
          <a:p>
            <a:pPr marL="741600" lvl="1">
              <a:buSzPts val="2400"/>
            </a:pPr>
            <a:r>
              <a:rPr lang="en-US" altLang="en-US" dirty="0">
                <a:solidFill>
                  <a:srgbClr val="000000"/>
                </a:solidFill>
              </a:rPr>
              <a:t>Draw statechart diagrams</a:t>
            </a:r>
          </a:p>
          <a:p>
            <a:pPr marL="741600" lvl="1">
              <a:buSzPts val="2400"/>
            </a:pPr>
            <a:r>
              <a:rPr lang="en-US" altLang="en-US" dirty="0">
                <a:solidFill>
                  <a:srgbClr val="000000"/>
                </a:solidFill>
              </a:rPr>
              <a:t>Begin systems design by refining the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 diagrams</a:t>
            </a:r>
          </a:p>
          <a:p>
            <a:pPr marL="741600" lvl="1">
              <a:buSzPts val="2400"/>
            </a:pPr>
            <a:r>
              <a:rPr lang="en-US" altLang="en-US" dirty="0">
                <a:solidFill>
                  <a:srgbClr val="000000"/>
                </a:solidFill>
              </a:rPr>
              <a:t>Document your system design in detail</a:t>
            </a:r>
            <a:endParaRPr lang="en-US" dirty="0">
              <a:solidFill>
                <a:srgbClr val="000000"/>
              </a:solidFill>
            </a:endParaRPr>
          </a:p>
        </p:txBody>
      </p:sp>
    </p:spTree>
    <p:extLst>
      <p:ext uri="{BB962C8B-B14F-4D97-AF65-F5344CB8AC3E}">
        <p14:creationId xmlns:p14="http://schemas.microsoft.com/office/powerpoint/2010/main" val="9014710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14A13-36EF-4DE3-A3F2-25D6BC40D662}"/>
              </a:ext>
            </a:extLst>
          </p:cNvPr>
          <p:cNvSpPr>
            <a:spLocks noGrp="1"/>
          </p:cNvSpPr>
          <p:nvPr>
            <p:ph type="title"/>
          </p:nvPr>
        </p:nvSpPr>
        <p:spPr/>
        <p:txBody>
          <a:bodyPr/>
          <a:lstStyle/>
          <a:p>
            <a:r>
              <a:rPr lang="en-US" altLang="en-US" dirty="0">
                <a:sym typeface="Arial"/>
              </a:rPr>
              <a:t>Summary </a:t>
            </a:r>
            <a:r>
              <a:rPr lang="en-US" altLang="en-US" sz="2000" b="0" dirty="0">
                <a:sym typeface="Arial"/>
              </a:rPr>
              <a:t>(1 of 2)</a:t>
            </a:r>
            <a:endParaRPr lang="en-US" sz="2000" b="0" dirty="0"/>
          </a:p>
        </p:txBody>
      </p:sp>
      <p:sp>
        <p:nvSpPr>
          <p:cNvPr id="3" name="Content Placeholder 2">
            <a:extLst>
              <a:ext uri="{FF2B5EF4-FFF2-40B4-BE49-F238E27FC236}">
                <a16:creationId xmlns:a16="http://schemas.microsoft.com/office/drawing/2014/main" id="{59301E73-2758-49CC-BDA7-949F764EBB7C}"/>
              </a:ext>
            </a:extLst>
          </p:cNvPr>
          <p:cNvSpPr>
            <a:spLocks noGrp="1"/>
          </p:cNvSpPr>
          <p:nvPr>
            <p:ph sz="quarter" idx="13"/>
          </p:nvPr>
        </p:nvSpPr>
        <p:spPr/>
        <p:txBody>
          <a:bodyPr/>
          <a:lstStyle/>
          <a:p>
            <a:pPr marL="255588" lvl="0" indent="-255588"/>
            <a:r>
              <a:rPr lang="en-US" altLang="en-US" sz="2200" dirty="0">
                <a:solidFill>
                  <a:srgbClr val="000000"/>
                </a:solidFill>
              </a:rPr>
              <a:t>Object-oriented systems</a:t>
            </a:r>
          </a:p>
          <a:p>
            <a:pPr marL="741600" lvl="1"/>
            <a:r>
              <a:rPr lang="en-US" altLang="en-US" sz="2200" dirty="0">
                <a:solidFill>
                  <a:srgbClr val="000000"/>
                </a:solidFill>
              </a:rPr>
              <a:t>Objects</a:t>
            </a:r>
          </a:p>
          <a:p>
            <a:pPr marL="741600" lvl="1"/>
            <a:r>
              <a:rPr lang="en-US" altLang="en-US" sz="2200" dirty="0">
                <a:solidFill>
                  <a:srgbClr val="000000"/>
                </a:solidFill>
              </a:rPr>
              <a:t>Classes</a:t>
            </a:r>
          </a:p>
          <a:p>
            <a:pPr marL="741600" lvl="1"/>
            <a:r>
              <a:rPr lang="en-US" altLang="en-US" sz="2200" dirty="0">
                <a:solidFill>
                  <a:srgbClr val="000000"/>
                </a:solidFill>
              </a:rPr>
              <a:t>Inheritance</a:t>
            </a:r>
          </a:p>
          <a:p>
            <a:pPr marL="255588" lvl="0" indent="-255588"/>
            <a:r>
              <a:rPr lang="en-US" altLang="en-US" sz="2200" dirty="0">
                <a:solidFill>
                  <a:srgbClr val="000000"/>
                </a:solidFill>
              </a:rPr>
              <a:t>C</a:t>
            </a:r>
            <a:r>
              <a:rPr lang="en-US" altLang="en-US" sz="100" dirty="0">
                <a:solidFill>
                  <a:srgbClr val="000000"/>
                </a:solidFill>
              </a:rPr>
              <a:t> </a:t>
            </a:r>
            <a:r>
              <a:rPr lang="en-US" altLang="en-US" sz="2200" dirty="0">
                <a:solidFill>
                  <a:srgbClr val="000000"/>
                </a:solidFill>
              </a:rPr>
              <a:t>R</a:t>
            </a:r>
            <a:r>
              <a:rPr lang="en-US" altLang="en-US" sz="100" dirty="0">
                <a:solidFill>
                  <a:srgbClr val="000000"/>
                </a:solidFill>
              </a:rPr>
              <a:t> </a:t>
            </a:r>
            <a:r>
              <a:rPr lang="en-US" altLang="en-US" sz="2200" dirty="0">
                <a:solidFill>
                  <a:srgbClr val="000000"/>
                </a:solidFill>
              </a:rPr>
              <a:t>C cards</a:t>
            </a:r>
          </a:p>
          <a:p>
            <a:pPr marL="255588" lvl="0" indent="-255588"/>
            <a:r>
              <a:rPr lang="en-US" altLang="en-US" sz="2200" dirty="0">
                <a:solidFill>
                  <a:srgbClr val="000000"/>
                </a:solidFill>
              </a:rPr>
              <a:t>U</a:t>
            </a:r>
            <a:r>
              <a:rPr lang="en-US" altLang="en-US" sz="100" dirty="0">
                <a:solidFill>
                  <a:srgbClr val="000000"/>
                </a:solidFill>
              </a:rPr>
              <a:t> </a:t>
            </a:r>
            <a:r>
              <a:rPr lang="en-US" altLang="en-US" sz="2200" dirty="0">
                <a:solidFill>
                  <a:srgbClr val="000000"/>
                </a:solidFill>
              </a:rPr>
              <a:t>M</a:t>
            </a:r>
            <a:r>
              <a:rPr lang="en-US" altLang="en-US" sz="100" dirty="0">
                <a:solidFill>
                  <a:srgbClr val="000000"/>
                </a:solidFill>
              </a:rPr>
              <a:t> </a:t>
            </a:r>
            <a:r>
              <a:rPr lang="en-US" altLang="en-US" sz="2200" dirty="0">
                <a:solidFill>
                  <a:srgbClr val="000000"/>
                </a:solidFill>
              </a:rPr>
              <a:t>L and use case modeling</a:t>
            </a:r>
          </a:p>
          <a:p>
            <a:pPr marL="255588" lvl="0" indent="-255588"/>
            <a:r>
              <a:rPr lang="en-US" altLang="en-US" sz="2200" dirty="0">
                <a:solidFill>
                  <a:srgbClr val="000000"/>
                </a:solidFill>
              </a:rPr>
              <a:t>Components of U</a:t>
            </a:r>
            <a:r>
              <a:rPr lang="en-US" altLang="en-US" sz="100" dirty="0">
                <a:solidFill>
                  <a:srgbClr val="000000"/>
                </a:solidFill>
              </a:rPr>
              <a:t> </a:t>
            </a:r>
            <a:r>
              <a:rPr lang="en-US" altLang="en-US" sz="2200" dirty="0">
                <a:solidFill>
                  <a:srgbClr val="000000"/>
                </a:solidFill>
              </a:rPr>
              <a:t>M</a:t>
            </a:r>
            <a:r>
              <a:rPr lang="en-US" altLang="en-US" sz="100" dirty="0">
                <a:solidFill>
                  <a:srgbClr val="000000"/>
                </a:solidFill>
              </a:rPr>
              <a:t> </a:t>
            </a:r>
            <a:r>
              <a:rPr lang="en-US" altLang="en-US" sz="2200" dirty="0">
                <a:solidFill>
                  <a:srgbClr val="000000"/>
                </a:solidFill>
              </a:rPr>
              <a:t>L</a:t>
            </a:r>
          </a:p>
          <a:p>
            <a:pPr marL="741600" lvl="1"/>
            <a:r>
              <a:rPr lang="en-US" altLang="en-US" sz="2200" dirty="0">
                <a:solidFill>
                  <a:srgbClr val="000000"/>
                </a:solidFill>
              </a:rPr>
              <a:t>Things</a:t>
            </a:r>
          </a:p>
          <a:p>
            <a:pPr marL="741600" lvl="1"/>
            <a:r>
              <a:rPr lang="en-US" altLang="en-US" sz="2200" dirty="0">
                <a:solidFill>
                  <a:srgbClr val="000000"/>
                </a:solidFill>
              </a:rPr>
              <a:t>Relationships</a:t>
            </a:r>
          </a:p>
          <a:p>
            <a:pPr marL="741600" lvl="1"/>
            <a:r>
              <a:rPr lang="en-US" altLang="en-US" sz="2200" dirty="0">
                <a:solidFill>
                  <a:srgbClr val="000000"/>
                </a:solidFill>
              </a:rPr>
              <a:t>Diagrams</a:t>
            </a:r>
          </a:p>
        </p:txBody>
      </p:sp>
    </p:spTree>
    <p:extLst>
      <p:ext uri="{BB962C8B-B14F-4D97-AF65-F5344CB8AC3E}">
        <p14:creationId xmlns:p14="http://schemas.microsoft.com/office/powerpoint/2010/main" val="15605683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04B1A-1B15-4E0B-880C-2908419A20D4}"/>
              </a:ext>
            </a:extLst>
          </p:cNvPr>
          <p:cNvSpPr>
            <a:spLocks noGrp="1"/>
          </p:cNvSpPr>
          <p:nvPr>
            <p:ph type="title"/>
          </p:nvPr>
        </p:nvSpPr>
        <p:spPr/>
        <p:txBody>
          <a:bodyPr/>
          <a:lstStyle/>
          <a:p>
            <a:r>
              <a:rPr lang="en-US" altLang="en-US" dirty="0">
                <a:sym typeface="Arial"/>
              </a:rPr>
              <a:t>Summary </a:t>
            </a:r>
            <a:r>
              <a:rPr lang="en-US" altLang="en-US" sz="2000" b="0" dirty="0">
                <a:sym typeface="Arial"/>
              </a:rPr>
              <a:t>(2 of 2)</a:t>
            </a:r>
            <a:endParaRPr lang="en-US" sz="2000" b="0" dirty="0"/>
          </a:p>
        </p:txBody>
      </p:sp>
      <p:sp>
        <p:nvSpPr>
          <p:cNvPr id="3" name="Content Placeholder 2">
            <a:extLst>
              <a:ext uri="{FF2B5EF4-FFF2-40B4-BE49-F238E27FC236}">
                <a16:creationId xmlns:a16="http://schemas.microsoft.com/office/drawing/2014/main" id="{48AB723C-A742-4C5E-B64F-9DEDA8D671F8}"/>
              </a:ext>
            </a:extLst>
          </p:cNvPr>
          <p:cNvSpPr>
            <a:spLocks noGrp="1"/>
          </p:cNvSpPr>
          <p:nvPr>
            <p:ph sz="quarter" idx="13"/>
          </p:nvPr>
        </p:nvSpPr>
        <p:spPr>
          <a:xfrm>
            <a:off x="457200" y="1556327"/>
            <a:ext cx="8229600" cy="3747193"/>
          </a:xfrm>
        </p:spPr>
        <p:txBody>
          <a:bodyPr/>
          <a:lstStyle/>
          <a:p>
            <a:pPr marL="255588" lvl="0" indent="-255588">
              <a:buSzPts val="2400"/>
            </a:pPr>
            <a:r>
              <a:rPr lang="en-US" altLang="en-US" dirty="0">
                <a:solidFill>
                  <a:srgbClr val="000000"/>
                </a:solidFill>
              </a:rPr>
              <a:t>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 diagrams</a:t>
            </a:r>
          </a:p>
          <a:p>
            <a:pPr marL="741600" lvl="1">
              <a:buSzPts val="2400"/>
            </a:pPr>
            <a:r>
              <a:rPr lang="en-US" altLang="en-US" dirty="0">
                <a:solidFill>
                  <a:srgbClr val="000000"/>
                </a:solidFill>
              </a:rPr>
              <a:t>Use case diagrams</a:t>
            </a:r>
          </a:p>
          <a:p>
            <a:pPr marL="741600" lvl="1">
              <a:buSzPts val="2400"/>
            </a:pPr>
            <a:r>
              <a:rPr lang="en-US" altLang="en-US" dirty="0">
                <a:solidFill>
                  <a:srgbClr val="000000"/>
                </a:solidFill>
              </a:rPr>
              <a:t>Activity diagrams</a:t>
            </a:r>
          </a:p>
          <a:p>
            <a:pPr marL="741600" lvl="1">
              <a:buSzPts val="2400"/>
            </a:pPr>
            <a:r>
              <a:rPr lang="en-US" altLang="en-US" dirty="0">
                <a:solidFill>
                  <a:srgbClr val="000000"/>
                </a:solidFill>
              </a:rPr>
              <a:t>Sequence diagrams</a:t>
            </a:r>
          </a:p>
          <a:p>
            <a:pPr marL="741600" lvl="1">
              <a:buSzPts val="2400"/>
            </a:pPr>
            <a:r>
              <a:rPr lang="en-US" altLang="en-US" dirty="0">
                <a:solidFill>
                  <a:srgbClr val="000000"/>
                </a:solidFill>
              </a:rPr>
              <a:t>Communication diagrams</a:t>
            </a:r>
          </a:p>
          <a:p>
            <a:pPr marL="741600" lvl="1">
              <a:buSzPts val="2400"/>
            </a:pPr>
            <a:r>
              <a:rPr lang="en-US" altLang="en-US" dirty="0">
                <a:solidFill>
                  <a:srgbClr val="000000"/>
                </a:solidFill>
              </a:rPr>
              <a:t>Class diagrams</a:t>
            </a:r>
          </a:p>
          <a:p>
            <a:pPr marL="741600" lvl="1">
              <a:buSzPts val="2400"/>
            </a:pPr>
            <a:r>
              <a:rPr lang="en-US" altLang="en-US" dirty="0">
                <a:solidFill>
                  <a:srgbClr val="000000"/>
                </a:solidFill>
              </a:rPr>
              <a:t>Statechart diagrams</a:t>
            </a:r>
          </a:p>
          <a:p>
            <a:pPr marL="255588" lvl="0" indent="-255588">
              <a:buSzPts val="2400"/>
            </a:pPr>
            <a:r>
              <a:rPr lang="en-US" altLang="en-US" dirty="0">
                <a:solidFill>
                  <a:srgbClr val="000000"/>
                </a:solidFill>
              </a:rPr>
              <a:t>Using U</a:t>
            </a:r>
            <a:r>
              <a:rPr lang="en-US" altLang="en-US" sz="100" dirty="0">
                <a:solidFill>
                  <a:srgbClr val="000000"/>
                </a:solidFill>
              </a:rPr>
              <a:t> </a:t>
            </a:r>
            <a:r>
              <a:rPr lang="en-US" altLang="en-US" dirty="0">
                <a:solidFill>
                  <a:srgbClr val="000000"/>
                </a:solidFill>
              </a:rPr>
              <a:t>M</a:t>
            </a:r>
            <a:r>
              <a:rPr lang="en-US" altLang="en-US" sz="100" dirty="0">
                <a:solidFill>
                  <a:srgbClr val="000000"/>
                </a:solidFill>
              </a:rPr>
              <a:t> </a:t>
            </a:r>
            <a:r>
              <a:rPr lang="en-US" altLang="en-US" dirty="0">
                <a:solidFill>
                  <a:srgbClr val="000000"/>
                </a:solidFill>
              </a:rPr>
              <a:t>L</a:t>
            </a:r>
          </a:p>
        </p:txBody>
      </p:sp>
    </p:spTree>
    <p:extLst>
      <p:ext uri="{BB962C8B-B14F-4D97-AF65-F5344CB8AC3E}">
        <p14:creationId xmlns:p14="http://schemas.microsoft.com/office/powerpoint/2010/main" val="4077515381"/>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150474</TotalTime>
  <Words>10633</Words>
  <Application>Microsoft Office PowerPoint</Application>
  <PresentationFormat>On-screen Show (4:3)</PresentationFormat>
  <Paragraphs>893</Paragraphs>
  <Slides>102</Slides>
  <Notes>91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102</vt:i4>
      </vt:variant>
    </vt:vector>
  </HeadingPairs>
  <TitlesOfParts>
    <vt:vector size="111" baseType="lpstr">
      <vt:lpstr>Arial (Body)</vt:lpstr>
      <vt:lpstr>Symbol</vt:lpstr>
      <vt:lpstr>Times New Roman</vt:lpstr>
      <vt:lpstr>Arial</vt:lpstr>
      <vt:lpstr>Noto Sans Symbols</vt:lpstr>
      <vt:lpstr>Calibri</vt:lpstr>
      <vt:lpstr>Verdana</vt:lpstr>
      <vt:lpstr>USHE</vt:lpstr>
      <vt:lpstr>USHE_slide options</vt:lpstr>
      <vt:lpstr>Systems Analysis &amp; Design</vt:lpstr>
      <vt:lpstr>Learning Objectives (1 of 2)</vt:lpstr>
      <vt:lpstr>Learning Objectives (2 of 2)</vt:lpstr>
      <vt:lpstr>Object-Oriented Analysis and Design (1 of 2)</vt:lpstr>
      <vt:lpstr>Object-Oriented Analysis and Design (2 of 2)</vt:lpstr>
      <vt:lpstr>Major Topics</vt:lpstr>
      <vt:lpstr>Object-Oriented Concepts</vt:lpstr>
      <vt:lpstr>Objects</vt:lpstr>
      <vt:lpstr>Classes</vt:lpstr>
      <vt:lpstr>Figure 10.1 An Example of a U M L Class</vt:lpstr>
      <vt:lpstr>Inheritance (1 of 2)</vt:lpstr>
      <vt:lpstr>Figure 10.2 A Class Diagram Showing Inheritance</vt:lpstr>
      <vt:lpstr>C R C Cards and Object Think</vt:lpstr>
      <vt:lpstr>Figure 10.3 Four C R C Cards</vt:lpstr>
      <vt:lpstr>Interacting During a C R C Session</vt:lpstr>
      <vt:lpstr>The Unified Modeling Language (U M L) Concepts and Diagrams</vt:lpstr>
      <vt:lpstr>Things</vt:lpstr>
      <vt:lpstr>Relationships (1 of 2)</vt:lpstr>
      <vt:lpstr>Structural Relationships</vt:lpstr>
      <vt:lpstr>Behavioral Relationships</vt:lpstr>
      <vt:lpstr>Diagrams</vt:lpstr>
      <vt:lpstr>Structural Diagrams</vt:lpstr>
      <vt:lpstr>Behavioral Diagrams</vt:lpstr>
      <vt:lpstr>Use Case Modeling</vt:lpstr>
      <vt:lpstr>Use Case Diagram</vt:lpstr>
      <vt:lpstr>Actor</vt:lpstr>
      <vt:lpstr>A Use Case Always Provides Three Things</vt:lpstr>
      <vt:lpstr>Use Case Relations (1 of 2)</vt:lpstr>
      <vt:lpstr>Use Case Relations (2 of 2)</vt:lpstr>
      <vt:lpstr>Figure 2.13 Four Types of U M L Behavioral Relationships and the Arrows and Lines Used to Represent the Relationships</vt:lpstr>
      <vt:lpstr>Figure 2.14 Examples of Use Cases and Behavioral Relationships for Student Enrollment</vt:lpstr>
      <vt:lpstr>Scope</vt:lpstr>
      <vt:lpstr>Developing Use Case Diagrams</vt:lpstr>
      <vt:lpstr>Figure 2.15 A Use Case Diagram Representing a System Used to Plan a Conference</vt:lpstr>
      <vt:lpstr>Developing the Use Case Scenarios</vt:lpstr>
      <vt:lpstr>Figure 2.16 A Use Case Scenario is Divided into Three Sections</vt:lpstr>
      <vt:lpstr>Use Case Header Area</vt:lpstr>
      <vt:lpstr>Use Case Levels</vt:lpstr>
      <vt:lpstr>Alternative Scenarios</vt:lpstr>
      <vt:lpstr>Use Case Footer Area</vt:lpstr>
      <vt:lpstr>Four Steps Used to Create Use Cases</vt:lpstr>
      <vt:lpstr>Why Use Case Diagrams Are Helpful</vt:lpstr>
      <vt:lpstr>Reasons for Writing Use Cases</vt:lpstr>
      <vt:lpstr>Figure 10.4 An Overall View of U M L and Its Components: Things, Relationships, and Diagrams (1 of 2)</vt:lpstr>
      <vt:lpstr>Figure 10.4 An Overall View of U M L and Its Components: Things, Relationships, and Diagrams (2 of 2)</vt:lpstr>
      <vt:lpstr>Commonly Used U M L Diagrams (1 of 2)</vt:lpstr>
      <vt:lpstr>Commonly Used U M L Diagrams (2 of 2)</vt:lpstr>
      <vt:lpstr>Figure 10.5 An Overview of U M L Diagrams Showing How Each Diagram Leads to the Development of Other U M L Diagrams</vt:lpstr>
      <vt:lpstr>Use Case Modeling</vt:lpstr>
      <vt:lpstr>Figure 10.6 A Use Case Example of Student Enrollment</vt:lpstr>
      <vt:lpstr>Figure 10.7 A Use Case Scenario is Divided into Three Sections: Identification and Initiation, Steps Performed, and Conditions, Assumptions, and Questions</vt:lpstr>
      <vt:lpstr>Activity Diagrams</vt:lpstr>
      <vt:lpstr>Figure 10.8 Specialized Symbols are Used to Draw an Activity Diagram</vt:lpstr>
      <vt:lpstr>Creating Activity Diagrams</vt:lpstr>
      <vt:lpstr>Swimlanes</vt:lpstr>
      <vt:lpstr>Figure 10.9 This Activity Diagram Shows Three Swimlanes: Client Web Page, Web Server, and Mainframe</vt:lpstr>
      <vt:lpstr>Activity Diagrams and Test Plans</vt:lpstr>
      <vt:lpstr>Activity Diagrams Not Created for All Use Cases</vt:lpstr>
      <vt:lpstr>Sequence Diagrams</vt:lpstr>
      <vt:lpstr>Figure 10.10 Specialized Symbols Used to Draw a Sequence Diagram</vt:lpstr>
      <vt:lpstr>Figure 10.11 A Sequence Diagram for Student Admission: Sequence Diagrams Emphasize the Time Ordering of Messages</vt:lpstr>
      <vt:lpstr>Communication Diagrams</vt:lpstr>
      <vt:lpstr>Figure 10.12 A Communication Diagram for Student Admission</vt:lpstr>
      <vt:lpstr>Class Diagrams (1 of 2)</vt:lpstr>
      <vt:lpstr>Class Diagrams (2 of 2)</vt:lpstr>
      <vt:lpstr>Figure 10.13 A Class Diagram for Course Offerings: the Filled-In Diamonds Show Aggregation and the Empty Diamond Shows a Whole-Part Relationship</vt:lpstr>
      <vt:lpstr>Method Overloading</vt:lpstr>
      <vt:lpstr>Types of Classes</vt:lpstr>
      <vt:lpstr>Entity Classes</vt:lpstr>
      <vt:lpstr>Interface or Boundary Classes</vt:lpstr>
      <vt:lpstr>Abstract Classes (1 of 2)</vt:lpstr>
      <vt:lpstr>Control Classes</vt:lpstr>
      <vt:lpstr>Presentation, Business, and Persistence Layers</vt:lpstr>
      <vt:lpstr>Defining Messages and Methods</vt:lpstr>
      <vt:lpstr>Figure 10.15 A Sequence Diagram for Using Two Web Pages: One for Student Information, One for Course Information</vt:lpstr>
      <vt:lpstr>Create Sequence Diagrams</vt:lpstr>
      <vt:lpstr>Creating a Test Plan from a Sequence Diagram</vt:lpstr>
      <vt:lpstr>Relationships (2 of 2)</vt:lpstr>
      <vt:lpstr>Figure 10.18 An Example of an Associative Class in Which a Particular Section Defines the Relationship between a Student and a Course</vt:lpstr>
      <vt:lpstr>Associations</vt:lpstr>
      <vt:lpstr>Whole/Part Relationships</vt:lpstr>
      <vt:lpstr>Aggregation</vt:lpstr>
      <vt:lpstr>Collection</vt:lpstr>
      <vt:lpstr>Composition</vt:lpstr>
      <vt:lpstr>Figure 10.19 An Example of Whole-Part and Aggregation Relationships</vt:lpstr>
      <vt:lpstr>Generalization/Specialization Diagrams</vt:lpstr>
      <vt:lpstr>Generalization</vt:lpstr>
      <vt:lpstr>Inheritance (2 of 2)</vt:lpstr>
      <vt:lpstr>Polymorphism</vt:lpstr>
      <vt:lpstr>Abstract Classes (2 of 2)</vt:lpstr>
      <vt:lpstr>Figure 10.20 A Generalization/Specification Diagram is a Refined Form of a Class Diagram</vt:lpstr>
      <vt:lpstr>Finding Classes</vt:lpstr>
      <vt:lpstr>Determining Class Methods</vt:lpstr>
      <vt:lpstr>Messages</vt:lpstr>
      <vt:lpstr>Statechart Diagrams (1 of 2)</vt:lpstr>
      <vt:lpstr>Statechart Diagrams (2 of 2)</vt:lpstr>
      <vt:lpstr>Figure 10.22 A Statechart Diagram Showing How a Student Progresses from a Potential Student to a Graduated Student</vt:lpstr>
      <vt:lpstr>Packages</vt:lpstr>
      <vt:lpstr>Figure 10.23 Use Cases Can Be Grouped into Packages</vt:lpstr>
      <vt:lpstr>Putting U M L to Work</vt:lpstr>
      <vt:lpstr>Summary (1 of 2)</vt:lpstr>
      <vt:lpstr>Summary (2 of 2)</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&amp; Design, Eleventh Edition, Chapter 10, Object-Oriented Systems Analysis and Design Using UML*</dc:title>
  <dc:subject>IT/MIS</dc:subject>
  <dc:creator>Kendall/Kendall</dc:creator>
  <cp:keywords>Systems Analysis &amp; Design</cp:keywords>
  <dc:description>Long description alt-text is inserted in the notes pane; Additional learning content may be available in the Notes Pane.</dc:description>
  <cp:lastModifiedBy>Aryati Bakri</cp:lastModifiedBy>
  <cp:revision>2187</cp:revision>
  <dcterms:modified xsi:type="dcterms:W3CDTF">2024-05-29T12:49:47Z</dcterms:modified>
</cp:coreProperties>
</file>