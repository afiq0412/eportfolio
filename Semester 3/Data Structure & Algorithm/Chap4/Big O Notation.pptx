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E7C2-4025-C6A9-F05C-BD8DD0A60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0DDE2-8B8E-C3CA-713F-419955726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15461-3B5A-5266-9FB3-F937BC61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8C39E-B2D3-7393-7124-00766E6D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453D7-FD97-5779-08C5-C8AC8F8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394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7989-1CBD-79A8-AD03-D2337210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C4182-9BEC-C3FE-944F-85114DF57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16987-FDA4-7E15-60F9-8F17BBD8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1AB6E-4366-618D-E040-91144157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7ACCE-B786-33E4-A924-AF2AA45A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3441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1521-8CA3-1176-D089-7516F87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4D4C2-A5B1-9B79-7A5E-0584DCD81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217D7-3F1A-4D63-D50D-CF6B949A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F09DB-E8A4-F76F-01A6-73E4A7DE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0557E-8A2E-C264-9D5C-C89EEB0D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053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0A81-345A-D1CF-F3B9-7226242E0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9901-49A6-B18B-A247-A4799AD76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33E8A-23FF-EDB4-3D20-1F52A2F89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25D45-004B-D735-25FF-1056D7424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CBB55-F6F8-23E7-3D31-F17E066F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AB454-F25A-BE5D-5512-237E4FA7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68601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3A36-4B74-8F6B-5907-13B66DA02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83F97-EE80-DF63-28CC-BFE0ABCFF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E8092-874F-C647-53BD-88B5804C5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9E198-8072-8F86-87B9-87BA71E7F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45DA6-4550-6FDD-FCE5-923B03431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6F5BFB-01E2-2E3A-F775-99CDB3E2B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34C46-2579-8B2D-E13E-2B3B2BDF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DEBC8-EE36-A2C6-A6CA-AC829219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0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323A-45B5-202B-04F4-C3470F65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636F4-5A8B-9E06-ADC7-95F32FCF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C0762-3BEC-BB5F-80F7-EFB4694D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5405C-6BC9-3375-CEF5-B2727D56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926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338FC8-EC57-109F-FB8C-8D0EC1BD6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637F52-54BF-154C-F18C-9CCFC239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5A03F-EAEF-E86C-DE97-17437A75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59265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C2FE5-185A-2C21-A768-E307F035F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4B173-9617-340E-3730-71D3E3803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47BD5-4CD0-EFDB-C0DF-9E64A17D9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80646-3754-062A-1F2E-FC5960D1C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391D0-C5F0-6704-84DA-E08C42C5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67286-CB85-0965-AA05-624DC8EE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460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A593A-2DF1-1025-2E77-C2A6C0FEC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EAD17-2D2A-77AE-9030-0824FAFA7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62850-C7D3-3632-FF30-5A3366E5F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8E1DA-B750-A2E1-ADFF-3E82AA809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FD824-8966-3031-655E-C46D37B5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8ED1E-038B-C4AC-7BAF-879AE9D4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858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F929-3CD4-58F4-AEEC-E5E7F312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A9157-3E9E-D2E7-4106-95CDC261C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A1B54-B48B-118D-E11A-9A582D80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F51CC-ACA8-92BB-A43D-E17B9404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6F3C4-621E-38AA-DE12-58CB4580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5725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2E096D-391B-03AE-62F5-0F436CB61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E80DD-C733-BD7A-8E51-46A0CEB9B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B234C-844F-D6EC-A727-74B489DD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EFE4F-0B39-4361-3B94-E2B8878D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82853-1F10-81A7-8ADC-8026E4A5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83755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D9170D-EC95-C193-83B6-2FF2CFA0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EF137-B842-69AC-3F32-4B139753D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3A79B-8DE9-1DEB-617B-2B4A9A7AC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19AC6-A451-407A-82DB-C103B4E61CD5}" type="datetimeFigureOut">
              <a:rPr lang="en-MY" smtClean="0"/>
              <a:t>18/11/2024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D793D-51A8-38EA-CE06-3422C8040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13CAE-1EF5-1026-4F59-D4FD9C6FE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62253-66D6-4FA1-8A07-BD1795B24ED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9839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10FC-460E-3116-638A-932A022522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Big O Notation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44179-794A-FDAE-C823-1A486EF49D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33535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2AE05D-972B-6B6F-BCF5-0253820F9F28}"/>
                  </a:ext>
                </a:extLst>
              </p:cNvPr>
              <p:cNvSpPr txBox="1"/>
              <p:nvPr/>
            </p:nvSpPr>
            <p:spPr>
              <a:xfrm>
                <a:off x="1013013" y="1612757"/>
                <a:ext cx="37113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𝐿𝑜𝑔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dirty="0">
                    <a:solidFill>
                      <a:srgbClr val="FF0000"/>
                    </a:solidFill>
                  </a:rPr>
                  <a:t>32 </a:t>
                </a:r>
                <a:r>
                  <a:rPr lang="en-MY" dirty="0"/>
                  <a:t>=&gt; </a:t>
                </a:r>
                <a:r>
                  <a:rPr lang="en-MY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(2 x 2 x 2 x 2 x 2 = 32) </a:t>
                </a:r>
                <a:r>
                  <a:rPr lang="en-MY" dirty="0"/>
                  <a:t>=&gt; </a:t>
                </a:r>
                <a:r>
                  <a:rPr lang="en-MY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5</a:t>
                </a:r>
                <a:r>
                  <a:rPr lang="en-MY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2AE05D-972B-6B6F-BCF5-0253820F9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013" y="1612757"/>
                <a:ext cx="3711387" cy="369332"/>
              </a:xfrm>
              <a:prstGeom prst="rect">
                <a:avLst/>
              </a:prstGeom>
              <a:blipFill>
                <a:blip r:embed="rId2"/>
                <a:stretch>
                  <a:fillRect l="-328" t="-10000" r="-164" b="-2666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B94368-1655-6DDB-3118-7564140B2788}"/>
                  </a:ext>
                </a:extLst>
              </p:cNvPr>
              <p:cNvSpPr txBox="1"/>
              <p:nvPr/>
            </p:nvSpPr>
            <p:spPr>
              <a:xfrm>
                <a:off x="1013013" y="305966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>
                    <a:solidFill>
                      <a:srgbClr val="00B050"/>
                    </a:solidFill>
                  </a:rPr>
                  <a:t>32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𝐿𝑜𝑔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dirty="0">
                    <a:solidFill>
                      <a:srgbClr val="FF0000"/>
                    </a:solidFill>
                  </a:rPr>
                  <a:t>32 </a:t>
                </a:r>
                <a:r>
                  <a:rPr lang="en-MY" dirty="0"/>
                  <a:t>=&gt; </a:t>
                </a:r>
                <a:r>
                  <a:rPr lang="en-MY" dirty="0">
                    <a:solidFill>
                      <a:srgbClr val="00B050"/>
                    </a:solidFill>
                  </a:rPr>
                  <a:t>32</a:t>
                </a:r>
                <a:r>
                  <a:rPr lang="en-MY" dirty="0"/>
                  <a:t> * </a:t>
                </a:r>
                <a:r>
                  <a:rPr lang="en-MY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(2 x 2 x 2 x 2 x 2 = 32) </a:t>
                </a:r>
                <a:r>
                  <a:rPr lang="en-MY" dirty="0"/>
                  <a:t>=&gt; </a:t>
                </a:r>
                <a:r>
                  <a:rPr lang="en-MY" dirty="0">
                    <a:solidFill>
                      <a:srgbClr val="00B050"/>
                    </a:solidFill>
                  </a:rPr>
                  <a:t>32</a:t>
                </a:r>
                <a:r>
                  <a:rPr lang="en-MY" dirty="0"/>
                  <a:t> *  </a:t>
                </a:r>
                <a:r>
                  <a:rPr lang="en-MY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5 </a:t>
                </a:r>
                <a:r>
                  <a:rPr lang="en-MY" dirty="0"/>
                  <a:t>= 160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B94368-1655-6DDB-3118-7564140B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013" y="3059668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l="-800" t="-9836" b="-2459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99B38-5C15-5F14-FD48-815314FB1B24}"/>
                  </a:ext>
                </a:extLst>
              </p:cNvPr>
              <p:cNvSpPr txBox="1"/>
              <p:nvPr/>
            </p:nvSpPr>
            <p:spPr>
              <a:xfrm>
                <a:off x="1013013" y="734215"/>
                <a:ext cx="11682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𝐿𝑜𝑔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dirty="0">
                    <a:solidFill>
                      <a:srgbClr val="FF0000"/>
                    </a:solidFill>
                  </a:rPr>
                  <a:t>n</a:t>
                </a:r>
                <a:endParaRPr lang="en-MY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99B38-5C15-5F14-FD48-815314FB1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013" y="734215"/>
                <a:ext cx="1168212" cy="369332"/>
              </a:xfrm>
              <a:prstGeom prst="rect">
                <a:avLst/>
              </a:prstGeom>
              <a:blipFill>
                <a:blip r:embed="rId4"/>
                <a:stretch>
                  <a:fillRect l="-1042" t="-8197" b="-2459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A9979F0-BFA4-B99F-6479-31B9ABE1B11B}"/>
              </a:ext>
            </a:extLst>
          </p:cNvPr>
          <p:cNvSpPr txBox="1"/>
          <p:nvPr/>
        </p:nvSpPr>
        <p:spPr>
          <a:xfrm>
            <a:off x="1013013" y="1173486"/>
            <a:ext cx="107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n = 32?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96C417-C611-E50E-4607-055FEF500247}"/>
                  </a:ext>
                </a:extLst>
              </p:cNvPr>
              <p:cNvSpPr txBox="1"/>
              <p:nvPr/>
            </p:nvSpPr>
            <p:spPr>
              <a:xfrm>
                <a:off x="1013013" y="2276145"/>
                <a:ext cx="10757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>
                    <a:solidFill>
                      <a:srgbClr val="00B050"/>
                    </a:solidFill>
                  </a:rPr>
                  <a:t>n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𝐿𝑜𝑔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dirty="0">
                    <a:solidFill>
                      <a:srgbClr val="FF0000"/>
                    </a:solidFill>
                  </a:rPr>
                  <a:t>n </a:t>
                </a:r>
                <a:endParaRPr lang="en-MY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96C417-C611-E50E-4607-055FEF500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013" y="2276145"/>
                <a:ext cx="1075765" cy="369332"/>
              </a:xfrm>
              <a:prstGeom prst="rect">
                <a:avLst/>
              </a:prstGeom>
              <a:blipFill>
                <a:blip r:embed="rId5"/>
                <a:stretch>
                  <a:fillRect l="-4520" t="-8197" b="-2459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9671662-F0F8-3C3E-B06D-313D164F5330}"/>
              </a:ext>
            </a:extLst>
          </p:cNvPr>
          <p:cNvSpPr txBox="1"/>
          <p:nvPr/>
        </p:nvSpPr>
        <p:spPr>
          <a:xfrm>
            <a:off x="1004050" y="2690336"/>
            <a:ext cx="107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n = 32?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FAC6DD8-434D-0717-FE87-1D60BB431F59}"/>
              </a:ext>
            </a:extLst>
          </p:cNvPr>
          <p:cNvSpPr/>
          <p:nvPr/>
        </p:nvSpPr>
        <p:spPr>
          <a:xfrm>
            <a:off x="2792227" y="576144"/>
            <a:ext cx="2537572" cy="685473"/>
          </a:xfrm>
          <a:prstGeom prst="wedgeRoundRectCallout">
            <a:avLst>
              <a:gd name="adj1" fmla="val -40221"/>
              <a:gd name="adj2" fmla="val 99104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i="1" dirty="0">
                <a:solidFill>
                  <a:schemeClr val="tx1"/>
                </a:solidFill>
              </a:rPr>
              <a:t>Number of multiplication of 2 to get 32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06FAC-3C59-4F70-7B9D-F78132AFFB97}"/>
              </a:ext>
            </a:extLst>
          </p:cNvPr>
          <p:cNvSpPr txBox="1"/>
          <p:nvPr/>
        </p:nvSpPr>
        <p:spPr>
          <a:xfrm>
            <a:off x="4831976" y="450657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Log 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22951-5D6D-3EEA-D060-5230169C5D63}"/>
              </a:ext>
            </a:extLst>
          </p:cNvPr>
          <p:cNvSpPr txBox="1"/>
          <p:nvPr/>
        </p:nvSpPr>
        <p:spPr>
          <a:xfrm>
            <a:off x="5108137" y="4691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C557D-D0F4-4411-68F7-02C7A52CC4AF}"/>
              </a:ext>
            </a:extLst>
          </p:cNvPr>
          <p:cNvSpPr txBox="1"/>
          <p:nvPr/>
        </p:nvSpPr>
        <p:spPr>
          <a:xfrm>
            <a:off x="5685984" y="45926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F2F27-5D59-483D-B6EB-C859DCDEEBC8}"/>
              </a:ext>
            </a:extLst>
          </p:cNvPr>
          <p:cNvSpPr txBox="1"/>
          <p:nvPr/>
        </p:nvSpPr>
        <p:spPr>
          <a:xfrm>
            <a:off x="5908356" y="440796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Log 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2D0B5-313D-EE79-70A2-04991EABDE6E}"/>
              </a:ext>
            </a:extLst>
          </p:cNvPr>
          <p:cNvSpPr txBox="1"/>
          <p:nvPr/>
        </p:nvSpPr>
        <p:spPr>
          <a:xfrm>
            <a:off x="6214716" y="459263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8A3195-7CE1-B367-193E-D3A316F7C73D}"/>
              </a:ext>
            </a:extLst>
          </p:cNvPr>
          <p:cNvCxnSpPr/>
          <p:nvPr/>
        </p:nvCxnSpPr>
        <p:spPr>
          <a:xfrm>
            <a:off x="5986066" y="4961965"/>
            <a:ext cx="7530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CEFF64-E38D-13A2-8A5D-E73CAE9A3F73}"/>
              </a:ext>
            </a:extLst>
          </p:cNvPr>
          <p:cNvSpPr txBox="1"/>
          <p:nvPr/>
        </p:nvSpPr>
        <p:spPr>
          <a:xfrm>
            <a:off x="5962473" y="4961965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Log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3EE3D6-656A-0330-4113-FBF722AE188F}"/>
              </a:ext>
            </a:extLst>
          </p:cNvPr>
          <p:cNvSpPr txBox="1"/>
          <p:nvPr/>
        </p:nvSpPr>
        <p:spPr>
          <a:xfrm>
            <a:off x="6304073" y="51466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10D334-4C4B-068F-8D62-2EA888641FF2}"/>
              </a:ext>
            </a:extLst>
          </p:cNvPr>
          <p:cNvSpPr txBox="1"/>
          <p:nvPr/>
        </p:nvSpPr>
        <p:spPr>
          <a:xfrm>
            <a:off x="7077896" y="45863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34A5E2-C870-E89E-1EAA-DD188CC68827}"/>
              </a:ext>
            </a:extLst>
          </p:cNvPr>
          <p:cNvSpPr txBox="1"/>
          <p:nvPr/>
        </p:nvSpPr>
        <p:spPr>
          <a:xfrm>
            <a:off x="7702581" y="440796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Log 16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C623FB-A9C8-FCCB-2951-32A6698DE982}"/>
              </a:ext>
            </a:extLst>
          </p:cNvPr>
          <p:cNvSpPr txBox="1"/>
          <p:nvPr/>
        </p:nvSpPr>
        <p:spPr>
          <a:xfrm>
            <a:off x="8008941" y="459263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BC56ADB-22A6-4FA5-260B-D526BAC5970F}"/>
              </a:ext>
            </a:extLst>
          </p:cNvPr>
          <p:cNvCxnSpPr/>
          <p:nvPr/>
        </p:nvCxnSpPr>
        <p:spPr>
          <a:xfrm>
            <a:off x="7780291" y="4961965"/>
            <a:ext cx="7530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DC8C041-20F6-CC23-3BC7-8B61F0B6F786}"/>
              </a:ext>
            </a:extLst>
          </p:cNvPr>
          <p:cNvSpPr txBox="1"/>
          <p:nvPr/>
        </p:nvSpPr>
        <p:spPr>
          <a:xfrm>
            <a:off x="8005965" y="49619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0418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D58CAA2-AE03-BD3A-FB11-6F9271677737}"/>
              </a:ext>
            </a:extLst>
          </p:cNvPr>
          <p:cNvSpPr txBox="1"/>
          <p:nvPr/>
        </p:nvSpPr>
        <p:spPr>
          <a:xfrm>
            <a:off x="558613" y="608479"/>
            <a:ext cx="735329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ways to control the loop (for):</a:t>
            </a:r>
          </a:p>
          <a:p>
            <a:endParaRPr lang="en-MY" dirty="0"/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1; i &lt;= n; i++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steps (the most natural one)</a:t>
            </a:r>
          </a:p>
          <a:p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2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 &lt;= n; i++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- 1 steps</a:t>
            </a:r>
          </a:p>
          <a:p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3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 &lt;= n; i++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- 2 steps</a:t>
            </a:r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1; </a:t>
            </a:r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&lt; n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i++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- 1 steps</a:t>
            </a:r>
          </a:p>
          <a:p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2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&lt; n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i++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- 2 steps</a:t>
            </a:r>
          </a:p>
          <a:p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4FF126-A817-4C8E-85F7-A5C2577562AA}"/>
              </a:ext>
            </a:extLst>
          </p:cNvPr>
          <p:cNvSpPr txBox="1"/>
          <p:nvPr/>
        </p:nvSpPr>
        <p:spPr>
          <a:xfrm>
            <a:off x="558613" y="3329180"/>
            <a:ext cx="955902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ways to control the loop (while):</a:t>
            </a:r>
          </a:p>
          <a:p>
            <a:endParaRPr lang="en-MY" dirty="0"/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 = 1; while (i &lt;= n) { i++; }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steps (the most natural one)</a:t>
            </a:r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2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while (i &lt;= n) { i++; }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- 1 steps</a:t>
            </a:r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3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while (i &lt;= n) { i++; }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- 2 steps</a:t>
            </a:r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 = 1; while (</a:t>
            </a:r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&lt; n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i++; }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- 1 steps</a:t>
            </a:r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2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while (</a:t>
            </a:r>
            <a:r>
              <a:rPr lang="en-MY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&lt; n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i++; }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n - 2 steps</a:t>
            </a:r>
          </a:p>
          <a:p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67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122FE-88B6-844B-54A2-594CB549CD9C}"/>
              </a:ext>
            </a:extLst>
          </p:cNvPr>
          <p:cNvSpPr txBox="1"/>
          <p:nvPr/>
        </p:nvSpPr>
        <p:spPr>
          <a:xfrm>
            <a:off x="1781175" y="885825"/>
            <a:ext cx="156324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Example 5:</a:t>
            </a:r>
          </a:p>
          <a:p>
            <a:endParaRPr lang="en-MY" dirty="0"/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n(n+1)/2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n(n+1)/2</a:t>
            </a:r>
          </a:p>
          <a:p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7676C-5564-C7D5-3006-001726620623}"/>
              </a:ext>
            </a:extLst>
          </p:cNvPr>
          <p:cNvSpPr txBox="1"/>
          <p:nvPr/>
        </p:nvSpPr>
        <p:spPr>
          <a:xfrm>
            <a:off x="4006215" y="885825"/>
            <a:ext cx="18389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Example 5:</a:t>
            </a:r>
          </a:p>
          <a:p>
            <a:endParaRPr lang="en-MY" dirty="0"/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MY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(n(n+1)/2)</a:t>
            </a:r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87793-8B72-2842-EDF1-A2A58984DEB0}"/>
              </a:ext>
            </a:extLst>
          </p:cNvPr>
          <p:cNvSpPr txBox="1"/>
          <p:nvPr/>
        </p:nvSpPr>
        <p:spPr>
          <a:xfrm>
            <a:off x="6258562" y="885825"/>
            <a:ext cx="120962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Example 5:</a:t>
            </a:r>
          </a:p>
          <a:p>
            <a:endParaRPr lang="en-MY" dirty="0"/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MY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MY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n(n+1)</a:t>
            </a:r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76BB0E-13F6-8F3B-CD30-4E732634D901}"/>
              </a:ext>
            </a:extLst>
          </p:cNvPr>
          <p:cNvSpPr txBox="1"/>
          <p:nvPr/>
        </p:nvSpPr>
        <p:spPr>
          <a:xfrm>
            <a:off x="1781175" y="2917150"/>
            <a:ext cx="51475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Example 5:</a:t>
            </a:r>
          </a:p>
          <a:p>
            <a:endParaRPr lang="en-MY" dirty="0"/>
          </a:p>
          <a:p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n(n+1)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MY" b="1" baseline="300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n </a:t>
            </a:r>
            <a:r>
              <a:rPr lang="en-MY" b="1" dirty="0">
                <a:latin typeface="Courier New" panose="02070309020205020404" pitchFamily="49" charset="0"/>
                <a:cs typeface="Courier New" panose="02070309020205020404" pitchFamily="49" charset="0"/>
              </a:rPr>
              <a:t>=&gt; 2n + n</a:t>
            </a:r>
            <a:r>
              <a:rPr lang="en-MY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935FD1-2343-1D8B-0D81-12C5C627C5D4}"/>
              </a:ext>
            </a:extLst>
          </p:cNvPr>
          <p:cNvSpPr txBox="1"/>
          <p:nvPr/>
        </p:nvSpPr>
        <p:spPr>
          <a:xfrm>
            <a:off x="1731791" y="55225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for (int i=1; i&lt;=n; i++)</a:t>
            </a:r>
          </a:p>
          <a:p>
            <a:r>
              <a:rPr lang="en-US" dirty="0"/>
              <a:t>   for (int j=1; j &lt; = </a:t>
            </a:r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/>
              <a:t>; j++)</a:t>
            </a:r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5BB612-C0D7-5148-6C2F-6708EB7B0F61}"/>
              </a:ext>
            </a:extLst>
          </p:cNvPr>
          <p:cNvSpPr txBox="1"/>
          <p:nvPr/>
        </p:nvSpPr>
        <p:spPr>
          <a:xfrm>
            <a:off x="1709261" y="4751723"/>
            <a:ext cx="37662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for (i = 1; i &lt;= n; i++) </a:t>
            </a:r>
          </a:p>
          <a:p>
            <a:r>
              <a:rPr lang="en-MY" dirty="0"/>
              <a:t>   for (j = 1; j &lt;= </a:t>
            </a:r>
            <a:r>
              <a:rPr lang="en-MY" dirty="0">
                <a:solidFill>
                  <a:srgbClr val="FF0000"/>
                </a:solidFill>
              </a:rPr>
              <a:t>n</a:t>
            </a:r>
            <a:r>
              <a:rPr lang="en-MY" dirty="0"/>
              <a:t>; j++)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1DA33-43B5-AB79-8C69-04EDA1A73A73}"/>
              </a:ext>
            </a:extLst>
          </p:cNvPr>
          <p:cNvSpPr txBox="1"/>
          <p:nvPr/>
        </p:nvSpPr>
        <p:spPr>
          <a:xfrm>
            <a:off x="1684258" y="4322267"/>
            <a:ext cx="251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Example 4 vs Example 5:</a:t>
            </a:r>
          </a:p>
        </p:txBody>
      </p:sp>
    </p:spTree>
    <p:extLst>
      <p:ext uri="{BB962C8B-B14F-4D97-AF65-F5344CB8AC3E}">
        <p14:creationId xmlns:p14="http://schemas.microsoft.com/office/powerpoint/2010/main" val="41559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92E1-0142-E77F-C75F-99AA30694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7EA9474-F13D-2ADE-7F3D-AF163A6B0741}"/>
              </a:ext>
            </a:extLst>
          </p:cNvPr>
          <p:cNvSpPr txBox="1"/>
          <p:nvPr/>
        </p:nvSpPr>
        <p:spPr>
          <a:xfrm>
            <a:off x="590564" y="504407"/>
            <a:ext cx="118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Exercise 1: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ACB18E-7336-F17E-DF42-45D53C1E0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974396"/>
              </p:ext>
            </p:extLst>
          </p:nvPr>
        </p:nvGraphicFramePr>
        <p:xfrm>
          <a:off x="645459" y="943283"/>
          <a:ext cx="11386120" cy="3708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915762">
                  <a:extLst>
                    <a:ext uri="{9D8B030D-6E8A-4147-A177-3AD203B41FA5}">
                      <a16:colId xmlns:a16="http://schemas.microsoft.com/office/drawing/2014/main" val="1325863014"/>
                    </a:ext>
                  </a:extLst>
                </a:gridCol>
                <a:gridCol w="5470358">
                  <a:extLst>
                    <a:ext uri="{9D8B030D-6E8A-4147-A177-3AD203B41FA5}">
                      <a16:colId xmlns:a16="http://schemas.microsoft.com/office/drawing/2014/main" val="2394367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Statements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Number of 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35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pass, listSize = 4;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MY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57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(pass = 1; pass &lt; listSize; pass++){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MY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620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cout &lt;&lt; "pass = " &lt;&lt; pass &lt;&lt; "\n";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MY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55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for (int x = 0; x &lt; listSize - 1; x++){</a:t>
                      </a:r>
                      <a:endParaRPr lang="en-MY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MY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(n-1)(n-1) = n^2–2n+1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303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cout &lt;&lt; "compare " &lt;&lt; x &lt;&lt; and &lt;&lt; x + 1 &lt;&lt; "\n";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MY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n^2–2n+1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845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35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433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MY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2n^2+2n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48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MY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Complexity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MY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O(2n^2)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448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217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59B1E-7CE9-604A-9EDE-15CE83A0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3B7F8D8-75E9-D6BB-6C92-CACAD2FA459D}"/>
              </a:ext>
            </a:extLst>
          </p:cNvPr>
          <p:cNvSpPr txBox="1"/>
          <p:nvPr/>
        </p:nvSpPr>
        <p:spPr>
          <a:xfrm>
            <a:off x="590564" y="504407"/>
            <a:ext cx="118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Exercise 2: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F1AF98-216B-175E-A471-E0D2D9331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983358"/>
              </p:ext>
            </p:extLst>
          </p:nvPr>
        </p:nvGraphicFramePr>
        <p:xfrm>
          <a:off x="645459" y="943283"/>
          <a:ext cx="8731623" cy="3708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73270">
                  <a:extLst>
                    <a:ext uri="{9D8B030D-6E8A-4147-A177-3AD203B41FA5}">
                      <a16:colId xmlns:a16="http://schemas.microsoft.com/office/drawing/2014/main" val="1325863014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394367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Statements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Number of 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35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pass, listSize = 4;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MY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57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(pass = 1; pass &lt; listSize; pass++){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620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cout &lt;&lt; "pass = " &lt;&lt; pass &lt;&lt; "\n";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55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for (int x = 0; x &lt; listSize - pass; x++){</a:t>
                      </a:r>
                      <a:endParaRPr lang="en-MY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303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cout &lt;&lt; "compare " &lt;&lt; x &lt;&lt; and &lt;&lt; x + 1 &lt;&lt; "\n";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845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35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433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48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MY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Complexity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448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97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D9648-DBC5-4033-45CC-62C7C263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21AAD5-799B-BD20-8D4A-1610FCA5E353}"/>
              </a:ext>
            </a:extLst>
          </p:cNvPr>
          <p:cNvSpPr txBox="1"/>
          <p:nvPr/>
        </p:nvSpPr>
        <p:spPr>
          <a:xfrm>
            <a:off x="590564" y="504407"/>
            <a:ext cx="118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Exercise 2: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E7A1E7-49D1-F9B4-00E6-0F4CD634F833}"/>
              </a:ext>
            </a:extLst>
          </p:cNvPr>
          <p:cNvGraphicFramePr>
            <a:graphicFrameLocks noGrp="1"/>
          </p:cNvGraphicFramePr>
          <p:nvPr/>
        </p:nvGraphicFramePr>
        <p:xfrm>
          <a:off x="645459" y="943283"/>
          <a:ext cx="8731623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80447">
                  <a:extLst>
                    <a:ext uri="{9D8B030D-6E8A-4147-A177-3AD203B41FA5}">
                      <a16:colId xmlns:a16="http://schemas.microsoft.com/office/drawing/2014/main" val="1325863014"/>
                    </a:ext>
                  </a:extLst>
                </a:gridCol>
                <a:gridCol w="6051176">
                  <a:extLst>
                    <a:ext uri="{9D8B030D-6E8A-4147-A177-3AD203B41FA5}">
                      <a16:colId xmlns:a16="http://schemas.microsoft.com/office/drawing/2014/main" val="2394367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pass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Inner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35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(int x = 0; x &lt; 3; x++){</a:t>
                      </a:r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57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(int x = 0; x &lt; 2; x++){</a:t>
                      </a:r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620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(int x = 0; x &lt; 1; x++){</a:t>
                      </a:r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55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303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MY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845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050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</TotalTime>
  <Words>649</Words>
  <Application>Microsoft Office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Courier New</vt:lpstr>
      <vt:lpstr>Office Theme</vt:lpstr>
      <vt:lpstr>Big O Notation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O Notation</dc:title>
  <dc:creator>MOHD RAZAK SAMINGAN</dc:creator>
  <cp:lastModifiedBy>Afiq Danial</cp:lastModifiedBy>
  <cp:revision>16</cp:revision>
  <dcterms:created xsi:type="dcterms:W3CDTF">2023-10-30T01:14:05Z</dcterms:created>
  <dcterms:modified xsi:type="dcterms:W3CDTF">2024-11-18T08:11:52Z</dcterms:modified>
</cp:coreProperties>
</file>