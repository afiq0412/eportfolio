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47" d="100"/>
          <a:sy n="47" d="100"/>
        </p:scale>
        <p:origin x="53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EBF8-0344-9743-47CD-F0409D53C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E1B72-24DC-A7A6-D082-F67DCCAB0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5AAB6-C810-34A9-0466-2386FFFD9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ED1E-5F4A-4B86-BD11-6107BE5C4C05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A2CA4-08C9-D4CD-40E1-CECFD0AEE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A3FC6-DD06-4D6C-8C85-51A5A06B2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4913-C7FE-4EFC-8F07-146494CB22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95802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FDC5F-7330-8EC3-F360-F94D3C11B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B6B5E-D0B1-890E-28EC-A2058BE13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ADCE2-CFCF-7778-5EA8-2BBF02D3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ED1E-5F4A-4B86-BD11-6107BE5C4C05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555D1-B75D-07D3-9878-E475030D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684A9-3453-F416-2F2B-F394A374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4913-C7FE-4EFC-8F07-146494CB22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10788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CA577-56C9-316E-7250-990B20257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0BC8B-EC34-47BB-EA9C-C4DC8CBC4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059CB-F7DE-9D7D-62AC-D76954B1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ED1E-5F4A-4B86-BD11-6107BE5C4C05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46EC2-2F90-9642-855C-361B3D496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4FF0A-D4A0-B9B2-1529-75E9AD7F5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4913-C7FE-4EFC-8F07-146494CB22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38490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68664-5F53-62B7-DFB9-41397A99C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6CB51-F708-F280-ECB3-EB63CBFE0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88F0C-9532-B352-4CA1-954773705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F9B92-06B7-B72A-410B-FB1B545E7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ED1E-5F4A-4B86-BD11-6107BE5C4C05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DCC23-1BE9-E632-8A20-BECBE9069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0E2D6-B8C0-6DB9-F785-1C699B6FB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4913-C7FE-4EFC-8F07-146494CB22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4656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A605-3F00-75E9-B918-E7AFEC869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06C8C-FD92-FAF4-731A-61F2D87B8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70225-6348-4529-56A0-963C1EC36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F6667D-ED94-C50F-5EA9-DCF5CC1DB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BA842-DA68-BED2-0F26-306CA51E2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697C1-F09E-507A-4BF6-C3332D14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ED1E-5F4A-4B86-BD11-6107BE5C4C05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9F702-99DE-C979-5503-E2E487AF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0F3AF4-F1C0-A187-9754-C64C2BDD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4913-C7FE-4EFC-8F07-146494CB22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2430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9623F-0CD0-387F-A0C2-7BB1F895C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09287-5504-64A5-D4E1-59EB78048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ED1E-5F4A-4B86-BD11-6107BE5C4C05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E4E084-87CD-6364-60C2-D33C40FB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66AB06-4E09-C045-98B1-BEFC7F88E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4913-C7FE-4EFC-8F07-146494CB22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5289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5800E3-3EEE-4E57-CB58-2B47AAA88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ED1E-5F4A-4B86-BD11-6107BE5C4C05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A55E59-C6A2-2D3F-FAEE-898AB3DE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BC72C-C932-7BEE-1CD2-654B3A6F8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4913-C7FE-4EFC-8F07-146494CB22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660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5EF0-008D-3100-D957-1109F240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3E546-EB9B-1D06-12E6-1300EADD1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7A8DA-7502-2D66-3645-5B83DB1D2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DC42E-BE04-026C-FEF0-E01C5ADC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ED1E-5F4A-4B86-BD11-6107BE5C4C05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B50C7-BE95-CC45-1472-5E1E9821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FF23A-D144-B8A1-9566-11429C077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4913-C7FE-4EFC-8F07-146494CB22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48352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228A-783A-3522-0561-E32B75F11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8838C1-B43C-43F6-19CD-5EC3F3373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33442-1E4A-BEFB-FB82-1652BF1CF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0502C-6CB3-1AD2-BCED-557984465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ED1E-5F4A-4B86-BD11-6107BE5C4C05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42BBE-14C9-203B-C260-F1131A01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17894-788A-662D-4E1B-C1BFFBF4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4913-C7FE-4EFC-8F07-146494CB22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94135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5EC3-8872-A276-D62C-79F7227FF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33ADB-3C9C-76D9-B24B-92C13987F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85C8D-57C9-CC0E-FF18-12F107F46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ED1E-5F4A-4B86-BD11-6107BE5C4C05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26E63-3B57-4254-C85D-6D9C4BDD4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51B87-22BB-F50F-579B-283B763F8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4913-C7FE-4EFC-8F07-146494CB22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7517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B1CF22-4CAF-CF66-6B25-7F253A6C4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F9860-9739-2FF4-89B0-F3984B0D0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DF403-F8E6-8F03-7D77-B222B177A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ED1E-5F4A-4B86-BD11-6107BE5C4C05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540FD-6AB8-D4CF-E46A-50DD7B7E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3B056-3050-F457-89B1-731DEE03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4913-C7FE-4EFC-8F07-146494CB22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30817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F5135-6FDE-1EA0-ECB7-865337AE5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DB264-33AF-1FD5-EE43-260F0E517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839E2-BCFD-EE72-F92B-EE44BC41E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BED1E-5F4A-4B86-BD11-6107BE5C4C05}" type="datetimeFigureOut">
              <a:rPr lang="en-MY" smtClean="0"/>
              <a:t>18/12/2024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885C8-B709-A703-932C-9ADE6062D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8D1FC-CF77-C681-438F-61CE18C8A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F4913-C7FE-4EFC-8F07-146494CB22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23084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36851F-37F6-F70D-B4F9-2900DF0EC2DA}"/>
              </a:ext>
            </a:extLst>
          </p:cNvPr>
          <p:cNvSpPr txBox="1"/>
          <p:nvPr/>
        </p:nvSpPr>
        <p:spPr>
          <a:xfrm>
            <a:off x="633845" y="332509"/>
            <a:ext cx="250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b + </a:t>
            </a:r>
            <a:r>
              <a:rPr lang="en-MY" sz="2800" u="sng" dirty="0"/>
              <a:t>c * 3 / 2 </a:t>
            </a:r>
            <a:r>
              <a:rPr lang="en-MY" sz="2800" dirty="0"/>
              <a:t>- 4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1E043-F726-A645-4BD4-27D9F3CA1450}"/>
              </a:ext>
            </a:extLst>
          </p:cNvPr>
          <p:cNvSpPr txBox="1"/>
          <p:nvPr/>
        </p:nvSpPr>
        <p:spPr>
          <a:xfrm>
            <a:off x="633845" y="967875"/>
            <a:ext cx="250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b + </a:t>
            </a:r>
            <a:r>
              <a:rPr lang="en-MY" sz="2800" u="sng" dirty="0">
                <a:solidFill>
                  <a:srgbClr val="FF0000"/>
                </a:solidFill>
              </a:rPr>
              <a:t>c * 3 </a:t>
            </a:r>
            <a:r>
              <a:rPr lang="en-MY" sz="2800" u="sng" dirty="0"/>
              <a:t>/ 2 </a:t>
            </a:r>
            <a:r>
              <a:rPr lang="en-MY" sz="2800" dirty="0"/>
              <a:t>- 4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073EF0-AD6B-7EA9-18DD-5678AE172C02}"/>
              </a:ext>
            </a:extLst>
          </p:cNvPr>
          <p:cNvSpPr txBox="1"/>
          <p:nvPr/>
        </p:nvSpPr>
        <p:spPr>
          <a:xfrm>
            <a:off x="633845" y="1752390"/>
            <a:ext cx="250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b + </a:t>
            </a:r>
            <a:r>
              <a:rPr lang="en-MY" sz="2800" u="sng" dirty="0">
                <a:solidFill>
                  <a:srgbClr val="FF0000"/>
                </a:solidFill>
              </a:rPr>
              <a:t>* c 3 </a:t>
            </a:r>
            <a:r>
              <a:rPr lang="en-MY" sz="2800" u="sng" dirty="0"/>
              <a:t>/ 2 </a:t>
            </a:r>
            <a:r>
              <a:rPr lang="en-MY" sz="2800" dirty="0"/>
              <a:t>- 4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2A9DEE-A34D-03DF-C31E-F6EAC61EC6BA}"/>
              </a:ext>
            </a:extLst>
          </p:cNvPr>
          <p:cNvSpPr txBox="1"/>
          <p:nvPr/>
        </p:nvSpPr>
        <p:spPr>
          <a:xfrm>
            <a:off x="633845" y="2536905"/>
            <a:ext cx="1963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b + </a:t>
            </a:r>
            <a:r>
              <a:rPr lang="en-MY" sz="2800" u="sng" dirty="0">
                <a:solidFill>
                  <a:srgbClr val="FF0000"/>
                </a:solidFill>
              </a:rPr>
              <a:t>z </a:t>
            </a:r>
            <a:r>
              <a:rPr lang="en-MY" sz="2800" u="sng" dirty="0"/>
              <a:t>/ 2 </a:t>
            </a:r>
            <a:r>
              <a:rPr lang="en-MY" sz="2800" dirty="0"/>
              <a:t>- 4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6E6867-326B-5B26-8827-EE7F11DC6FC0}"/>
              </a:ext>
            </a:extLst>
          </p:cNvPr>
          <p:cNvSpPr txBox="1"/>
          <p:nvPr/>
        </p:nvSpPr>
        <p:spPr>
          <a:xfrm>
            <a:off x="633845" y="3321420"/>
            <a:ext cx="1963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b + </a:t>
            </a:r>
            <a:r>
              <a:rPr lang="en-MY" sz="2800" u="sng" dirty="0">
                <a:solidFill>
                  <a:srgbClr val="00B050"/>
                </a:solidFill>
              </a:rPr>
              <a:t>/ z 2 </a:t>
            </a:r>
            <a:r>
              <a:rPr lang="en-MY" sz="2800" dirty="0"/>
              <a:t>- 4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7BBA04-E13C-6F3E-050F-F527D39A86DA}"/>
              </a:ext>
            </a:extLst>
          </p:cNvPr>
          <p:cNvSpPr txBox="1"/>
          <p:nvPr/>
        </p:nvSpPr>
        <p:spPr>
          <a:xfrm>
            <a:off x="633845" y="4105935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b + </a:t>
            </a:r>
            <a:r>
              <a:rPr lang="en-MY" sz="2800" dirty="0">
                <a:solidFill>
                  <a:srgbClr val="00B050"/>
                </a:solidFill>
              </a:rPr>
              <a:t>y </a:t>
            </a:r>
            <a:r>
              <a:rPr lang="en-MY" sz="2800" dirty="0"/>
              <a:t>- 4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19C270-9553-F044-D949-7DE558695DAC}"/>
              </a:ext>
            </a:extLst>
          </p:cNvPr>
          <p:cNvSpPr txBox="1"/>
          <p:nvPr/>
        </p:nvSpPr>
        <p:spPr>
          <a:xfrm>
            <a:off x="633845" y="4629155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u="sng" dirty="0">
                <a:solidFill>
                  <a:srgbClr val="0070C0"/>
                </a:solidFill>
              </a:rPr>
              <a:t>+ b y </a:t>
            </a:r>
            <a:r>
              <a:rPr lang="en-MY" sz="2800" dirty="0"/>
              <a:t>- 4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024ECD-71DF-7EB8-9CD1-04E586CE8943}"/>
              </a:ext>
            </a:extLst>
          </p:cNvPr>
          <p:cNvSpPr txBox="1"/>
          <p:nvPr/>
        </p:nvSpPr>
        <p:spPr>
          <a:xfrm>
            <a:off x="682079" y="5259640"/>
            <a:ext cx="960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70C0"/>
                </a:solidFill>
              </a:rPr>
              <a:t>x </a:t>
            </a:r>
            <a:r>
              <a:rPr lang="en-MY" sz="2800" dirty="0"/>
              <a:t>- 4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0928FD-3856-5589-3205-BC3588D096F4}"/>
              </a:ext>
            </a:extLst>
          </p:cNvPr>
          <p:cNvSpPr txBox="1"/>
          <p:nvPr/>
        </p:nvSpPr>
        <p:spPr>
          <a:xfrm>
            <a:off x="4007170" y="332509"/>
            <a:ext cx="960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70C0"/>
                </a:solidFill>
              </a:rPr>
              <a:t>- x </a:t>
            </a:r>
            <a:r>
              <a:rPr lang="en-MY" sz="2800" dirty="0"/>
              <a:t>4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44BA5A-5839-5B46-BF5C-444A148C5B17}"/>
              </a:ext>
            </a:extLst>
          </p:cNvPr>
          <p:cNvSpPr txBox="1"/>
          <p:nvPr/>
        </p:nvSpPr>
        <p:spPr>
          <a:xfrm>
            <a:off x="834479" y="6042525"/>
            <a:ext cx="960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70C0"/>
                </a:solidFill>
              </a:rPr>
              <a:t>- x </a:t>
            </a:r>
            <a:r>
              <a:rPr lang="en-MY" sz="2800" dirty="0"/>
              <a:t>4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0C412D-3CB9-3558-2D69-F2DDB397B689}"/>
              </a:ext>
            </a:extLst>
          </p:cNvPr>
          <p:cNvSpPr txBox="1"/>
          <p:nvPr/>
        </p:nvSpPr>
        <p:spPr>
          <a:xfrm>
            <a:off x="4007169" y="967875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70C0"/>
                </a:solidFill>
              </a:rPr>
              <a:t>- + b </a:t>
            </a:r>
            <a:r>
              <a:rPr lang="en-MY" sz="2800" dirty="0">
                <a:solidFill>
                  <a:srgbClr val="00B050"/>
                </a:solidFill>
              </a:rPr>
              <a:t>y</a:t>
            </a:r>
            <a:r>
              <a:rPr lang="en-MY" sz="2800" dirty="0">
                <a:solidFill>
                  <a:srgbClr val="0070C0"/>
                </a:solidFill>
              </a:rPr>
              <a:t> </a:t>
            </a:r>
            <a:r>
              <a:rPr lang="en-MY" sz="2800" dirty="0"/>
              <a:t>4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BED435-CD98-1597-311A-9589EC4DD434}"/>
              </a:ext>
            </a:extLst>
          </p:cNvPr>
          <p:cNvSpPr txBox="1"/>
          <p:nvPr/>
        </p:nvSpPr>
        <p:spPr>
          <a:xfrm>
            <a:off x="4007169" y="1651522"/>
            <a:ext cx="1963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70C0"/>
                </a:solidFill>
              </a:rPr>
              <a:t>- + b </a:t>
            </a:r>
            <a:r>
              <a:rPr lang="en-MY" sz="2800" dirty="0">
                <a:solidFill>
                  <a:srgbClr val="00B050"/>
                </a:solidFill>
              </a:rPr>
              <a:t>/ </a:t>
            </a:r>
            <a:r>
              <a:rPr lang="en-MY" sz="2800" dirty="0">
                <a:solidFill>
                  <a:srgbClr val="FF0000"/>
                </a:solidFill>
              </a:rPr>
              <a:t>z</a:t>
            </a:r>
            <a:r>
              <a:rPr lang="en-MY" sz="2800" dirty="0">
                <a:solidFill>
                  <a:srgbClr val="00B050"/>
                </a:solidFill>
              </a:rPr>
              <a:t> 2</a:t>
            </a:r>
            <a:r>
              <a:rPr lang="en-MY" sz="2800" dirty="0">
                <a:solidFill>
                  <a:srgbClr val="0070C0"/>
                </a:solidFill>
              </a:rPr>
              <a:t> </a:t>
            </a:r>
            <a:r>
              <a:rPr lang="en-MY" sz="2800" dirty="0"/>
              <a:t>4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C01A64-4EAD-334D-3638-888815A791EF}"/>
              </a:ext>
            </a:extLst>
          </p:cNvPr>
          <p:cNvSpPr txBox="1"/>
          <p:nvPr/>
        </p:nvSpPr>
        <p:spPr>
          <a:xfrm>
            <a:off x="4007169" y="2335169"/>
            <a:ext cx="250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70C0"/>
                </a:solidFill>
              </a:rPr>
              <a:t>- + b </a:t>
            </a:r>
            <a:r>
              <a:rPr lang="en-MY" sz="2800" dirty="0">
                <a:solidFill>
                  <a:srgbClr val="00B050"/>
                </a:solidFill>
              </a:rPr>
              <a:t>/ </a:t>
            </a:r>
            <a:r>
              <a:rPr lang="en-MY" sz="2800" dirty="0">
                <a:solidFill>
                  <a:srgbClr val="FF0000"/>
                </a:solidFill>
              </a:rPr>
              <a:t>* c 3</a:t>
            </a:r>
            <a:r>
              <a:rPr lang="en-MY" sz="2800" dirty="0">
                <a:solidFill>
                  <a:srgbClr val="00B050"/>
                </a:solidFill>
              </a:rPr>
              <a:t> 2</a:t>
            </a:r>
            <a:r>
              <a:rPr lang="en-MY" sz="2800" dirty="0">
                <a:solidFill>
                  <a:srgbClr val="0070C0"/>
                </a:solidFill>
              </a:rPr>
              <a:t> </a:t>
            </a:r>
            <a:r>
              <a:rPr lang="en-MY" sz="2800" dirty="0"/>
              <a:t>4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2B5DB4-45EC-299C-309B-4F427256D6DF}"/>
              </a:ext>
            </a:extLst>
          </p:cNvPr>
          <p:cNvSpPr txBox="1"/>
          <p:nvPr/>
        </p:nvSpPr>
        <p:spPr>
          <a:xfrm>
            <a:off x="3985689" y="4944868"/>
            <a:ext cx="2263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infix to prefix  </a:t>
            </a:r>
          </a:p>
        </p:txBody>
      </p:sp>
    </p:spTree>
    <p:extLst>
      <p:ext uri="{BB962C8B-B14F-4D97-AF65-F5344CB8AC3E}">
        <p14:creationId xmlns:p14="http://schemas.microsoft.com/office/powerpoint/2010/main" val="210388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36851F-37F6-F70D-B4F9-2900DF0EC2DA}"/>
              </a:ext>
            </a:extLst>
          </p:cNvPr>
          <p:cNvSpPr txBox="1"/>
          <p:nvPr/>
        </p:nvSpPr>
        <p:spPr>
          <a:xfrm>
            <a:off x="633845" y="332509"/>
            <a:ext cx="250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b + </a:t>
            </a:r>
            <a:r>
              <a:rPr lang="en-MY" sz="2800" u="sng" dirty="0"/>
              <a:t>c * 3 / 2 </a:t>
            </a:r>
            <a:r>
              <a:rPr lang="en-MY" sz="2800" dirty="0"/>
              <a:t>- 4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1E043-F726-A645-4BD4-27D9F3CA1450}"/>
              </a:ext>
            </a:extLst>
          </p:cNvPr>
          <p:cNvSpPr txBox="1"/>
          <p:nvPr/>
        </p:nvSpPr>
        <p:spPr>
          <a:xfrm>
            <a:off x="633845" y="967875"/>
            <a:ext cx="2582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b + </a:t>
            </a:r>
            <a:r>
              <a:rPr lang="en-MY" sz="2800" u="sng" dirty="0">
                <a:solidFill>
                  <a:srgbClr val="FF0000"/>
                </a:solidFill>
              </a:rPr>
              <a:t>c 3 * </a:t>
            </a:r>
            <a:r>
              <a:rPr lang="en-MY" sz="2800" u="sng" dirty="0"/>
              <a:t>/ 2 </a:t>
            </a:r>
            <a:r>
              <a:rPr lang="en-MY" sz="2800" dirty="0"/>
              <a:t>- 4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073EF0-AD6B-7EA9-18DD-5678AE172C02}"/>
              </a:ext>
            </a:extLst>
          </p:cNvPr>
          <p:cNvSpPr txBox="1"/>
          <p:nvPr/>
        </p:nvSpPr>
        <p:spPr>
          <a:xfrm>
            <a:off x="633845" y="1752390"/>
            <a:ext cx="250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b + </a:t>
            </a:r>
            <a:r>
              <a:rPr lang="en-MY" sz="2800" u="sng" dirty="0">
                <a:solidFill>
                  <a:srgbClr val="FF0000"/>
                </a:solidFill>
              </a:rPr>
              <a:t>c 3 * </a:t>
            </a:r>
            <a:r>
              <a:rPr lang="en-MY" sz="2800" u="sng" dirty="0"/>
              <a:t>/ 2 </a:t>
            </a:r>
            <a:r>
              <a:rPr lang="en-MY" sz="2800" dirty="0"/>
              <a:t>- 4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2A9DEE-A34D-03DF-C31E-F6EAC61EC6BA}"/>
              </a:ext>
            </a:extLst>
          </p:cNvPr>
          <p:cNvSpPr txBox="1"/>
          <p:nvPr/>
        </p:nvSpPr>
        <p:spPr>
          <a:xfrm>
            <a:off x="633845" y="2536905"/>
            <a:ext cx="1963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b + </a:t>
            </a:r>
            <a:r>
              <a:rPr lang="en-MY" sz="2800" u="sng" dirty="0">
                <a:solidFill>
                  <a:srgbClr val="FF0000"/>
                </a:solidFill>
              </a:rPr>
              <a:t>z </a:t>
            </a:r>
            <a:r>
              <a:rPr lang="en-MY" sz="2800" u="sng" dirty="0"/>
              <a:t>/ 2 </a:t>
            </a:r>
            <a:r>
              <a:rPr lang="en-MY" sz="2800" dirty="0"/>
              <a:t>- 4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6E6867-326B-5B26-8827-EE7F11DC6FC0}"/>
              </a:ext>
            </a:extLst>
          </p:cNvPr>
          <p:cNvSpPr txBox="1"/>
          <p:nvPr/>
        </p:nvSpPr>
        <p:spPr>
          <a:xfrm>
            <a:off x="633845" y="3321420"/>
            <a:ext cx="1963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b + </a:t>
            </a:r>
            <a:r>
              <a:rPr lang="en-MY" sz="2800" u="sng" dirty="0">
                <a:solidFill>
                  <a:srgbClr val="00B050"/>
                </a:solidFill>
              </a:rPr>
              <a:t>z 2 / </a:t>
            </a:r>
            <a:r>
              <a:rPr lang="en-MY" sz="2800" dirty="0"/>
              <a:t>- 4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7BBA04-E13C-6F3E-050F-F527D39A86DA}"/>
              </a:ext>
            </a:extLst>
          </p:cNvPr>
          <p:cNvSpPr txBox="1"/>
          <p:nvPr/>
        </p:nvSpPr>
        <p:spPr>
          <a:xfrm>
            <a:off x="633845" y="4105935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b + </a:t>
            </a:r>
            <a:r>
              <a:rPr lang="en-MY" sz="2800" dirty="0">
                <a:solidFill>
                  <a:srgbClr val="00B050"/>
                </a:solidFill>
              </a:rPr>
              <a:t>y </a:t>
            </a:r>
            <a:r>
              <a:rPr lang="en-MY" sz="2800" dirty="0"/>
              <a:t>- 4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19C270-9553-F044-D949-7DE558695DAC}"/>
              </a:ext>
            </a:extLst>
          </p:cNvPr>
          <p:cNvSpPr txBox="1"/>
          <p:nvPr/>
        </p:nvSpPr>
        <p:spPr>
          <a:xfrm>
            <a:off x="633845" y="4629155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u="sng" dirty="0">
                <a:solidFill>
                  <a:srgbClr val="0070C0"/>
                </a:solidFill>
              </a:rPr>
              <a:t>b y + </a:t>
            </a:r>
            <a:r>
              <a:rPr lang="en-MY" sz="2800" dirty="0"/>
              <a:t>- 4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024ECD-71DF-7EB8-9CD1-04E586CE8943}"/>
              </a:ext>
            </a:extLst>
          </p:cNvPr>
          <p:cNvSpPr txBox="1"/>
          <p:nvPr/>
        </p:nvSpPr>
        <p:spPr>
          <a:xfrm>
            <a:off x="682079" y="5259640"/>
            <a:ext cx="960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70C0"/>
                </a:solidFill>
              </a:rPr>
              <a:t>x </a:t>
            </a:r>
            <a:r>
              <a:rPr lang="en-MY" sz="2800" dirty="0"/>
              <a:t>- 4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0928FD-3856-5589-3205-BC3588D096F4}"/>
              </a:ext>
            </a:extLst>
          </p:cNvPr>
          <p:cNvSpPr txBox="1"/>
          <p:nvPr/>
        </p:nvSpPr>
        <p:spPr>
          <a:xfrm>
            <a:off x="4007170" y="332509"/>
            <a:ext cx="878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70C0"/>
                </a:solidFill>
              </a:rPr>
              <a:t>x </a:t>
            </a:r>
            <a:r>
              <a:rPr lang="en-MY" sz="2800" dirty="0"/>
              <a:t>4 -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44BA5A-5839-5B46-BF5C-444A148C5B17}"/>
              </a:ext>
            </a:extLst>
          </p:cNvPr>
          <p:cNvSpPr txBox="1"/>
          <p:nvPr/>
        </p:nvSpPr>
        <p:spPr>
          <a:xfrm>
            <a:off x="834479" y="6042525"/>
            <a:ext cx="878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70C0"/>
                </a:solidFill>
              </a:rPr>
              <a:t>x </a:t>
            </a:r>
            <a:r>
              <a:rPr lang="en-MY" sz="2800" dirty="0"/>
              <a:t>4 -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2B5DB4-45EC-299C-309B-4F427256D6DF}"/>
              </a:ext>
            </a:extLst>
          </p:cNvPr>
          <p:cNvSpPr txBox="1"/>
          <p:nvPr/>
        </p:nvSpPr>
        <p:spPr>
          <a:xfrm>
            <a:off x="3985689" y="4944868"/>
            <a:ext cx="2414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infix to postfix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FCF2EC-0934-4D05-15AD-6F1379AF4FD6}"/>
              </a:ext>
            </a:extLst>
          </p:cNvPr>
          <p:cNvSpPr txBox="1"/>
          <p:nvPr/>
        </p:nvSpPr>
        <p:spPr>
          <a:xfrm>
            <a:off x="3983112" y="966037"/>
            <a:ext cx="1417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70C0"/>
                </a:solidFill>
              </a:rPr>
              <a:t>b y + </a:t>
            </a:r>
            <a:r>
              <a:rPr lang="en-MY" sz="2800" dirty="0"/>
              <a:t>4 -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B287FA-8AC3-9F3F-55CD-BB6DC908827E}"/>
              </a:ext>
            </a:extLst>
          </p:cNvPr>
          <p:cNvSpPr txBox="1"/>
          <p:nvPr/>
        </p:nvSpPr>
        <p:spPr>
          <a:xfrm>
            <a:off x="4007170" y="1693086"/>
            <a:ext cx="1909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70C0"/>
                </a:solidFill>
              </a:rPr>
              <a:t>b </a:t>
            </a:r>
            <a:r>
              <a:rPr lang="en-MY" sz="2800" dirty="0">
                <a:solidFill>
                  <a:srgbClr val="00B050"/>
                </a:solidFill>
              </a:rPr>
              <a:t>Z 2 / </a:t>
            </a:r>
            <a:r>
              <a:rPr lang="en-MY" sz="2800" dirty="0">
                <a:solidFill>
                  <a:srgbClr val="0070C0"/>
                </a:solidFill>
              </a:rPr>
              <a:t>+ </a:t>
            </a:r>
            <a:r>
              <a:rPr lang="en-MY" sz="2800" dirty="0"/>
              <a:t>4 -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BE0DC-92D1-F65F-3A2D-7248B4F8DC73}"/>
              </a:ext>
            </a:extLst>
          </p:cNvPr>
          <p:cNvSpPr txBox="1"/>
          <p:nvPr/>
        </p:nvSpPr>
        <p:spPr>
          <a:xfrm>
            <a:off x="4007170" y="2420135"/>
            <a:ext cx="2419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>
                <a:solidFill>
                  <a:srgbClr val="0070C0"/>
                </a:solidFill>
              </a:rPr>
              <a:t>b </a:t>
            </a:r>
            <a:r>
              <a:rPr lang="en-MY" sz="2800" dirty="0">
                <a:solidFill>
                  <a:srgbClr val="FF0000"/>
                </a:solidFill>
              </a:rPr>
              <a:t>c 3 * </a:t>
            </a:r>
            <a:r>
              <a:rPr lang="en-MY" sz="2800" dirty="0">
                <a:solidFill>
                  <a:srgbClr val="00B050"/>
                </a:solidFill>
              </a:rPr>
              <a:t>2 / </a:t>
            </a:r>
            <a:r>
              <a:rPr lang="en-MY" sz="2800" dirty="0">
                <a:solidFill>
                  <a:srgbClr val="0070C0"/>
                </a:solidFill>
              </a:rPr>
              <a:t>+ </a:t>
            </a:r>
            <a:r>
              <a:rPr lang="en-MY" sz="2800" dirty="0"/>
              <a:t>4 - </a:t>
            </a:r>
          </a:p>
        </p:txBody>
      </p:sp>
    </p:spTree>
    <p:extLst>
      <p:ext uri="{BB962C8B-B14F-4D97-AF65-F5344CB8AC3E}">
        <p14:creationId xmlns:p14="http://schemas.microsoft.com/office/powerpoint/2010/main" val="722639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36851F-37F6-F70D-B4F9-2900DF0EC2DA}"/>
              </a:ext>
            </a:extLst>
          </p:cNvPr>
          <p:cNvSpPr txBox="1"/>
          <p:nvPr/>
        </p:nvSpPr>
        <p:spPr>
          <a:xfrm>
            <a:off x="633845" y="332509"/>
            <a:ext cx="2419252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b + c * 3 / 2 - 4 </a:t>
            </a:r>
          </a:p>
          <a:p>
            <a:r>
              <a:rPr lang="en-MY" sz="2800" dirty="0"/>
              <a:t>b + </a:t>
            </a:r>
            <a:r>
              <a:rPr lang="en-MY" sz="2800" u="sng" dirty="0"/>
              <a:t>c 3 *</a:t>
            </a:r>
            <a:r>
              <a:rPr lang="en-MY" sz="2800" dirty="0"/>
              <a:t> / 2 - 4</a:t>
            </a:r>
          </a:p>
          <a:p>
            <a:r>
              <a:rPr lang="en-MY" sz="2800" dirty="0"/>
              <a:t>b + </a:t>
            </a:r>
            <a:r>
              <a:rPr lang="en-MY" sz="2800" u="sng" dirty="0"/>
              <a:t>c 3 * 2 /</a:t>
            </a:r>
            <a:r>
              <a:rPr lang="en-MY" sz="2800" dirty="0"/>
              <a:t> - 4</a:t>
            </a:r>
          </a:p>
          <a:p>
            <a:r>
              <a:rPr lang="en-MY" sz="2800" u="sng" dirty="0"/>
              <a:t>b c 3 * 2 / +</a:t>
            </a:r>
            <a:r>
              <a:rPr lang="en-MY" sz="2800" dirty="0"/>
              <a:t> - 4</a:t>
            </a:r>
          </a:p>
          <a:p>
            <a:r>
              <a:rPr lang="en-MY" sz="2800" u="sng" dirty="0"/>
              <a:t>b c 3 * 2 / + 4 -</a:t>
            </a:r>
          </a:p>
          <a:p>
            <a:endParaRPr lang="en-MY" sz="2800" dirty="0"/>
          </a:p>
          <a:p>
            <a:endParaRPr lang="en-MY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2B5DB4-45EC-299C-309B-4F427256D6DF}"/>
              </a:ext>
            </a:extLst>
          </p:cNvPr>
          <p:cNvSpPr txBox="1"/>
          <p:nvPr/>
        </p:nvSpPr>
        <p:spPr>
          <a:xfrm>
            <a:off x="3310985" y="5886162"/>
            <a:ext cx="2414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infix to postfix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5D1E60-A43A-7215-0F81-4573027EE493}"/>
              </a:ext>
            </a:extLst>
          </p:cNvPr>
          <p:cNvSpPr txBox="1"/>
          <p:nvPr/>
        </p:nvSpPr>
        <p:spPr>
          <a:xfrm>
            <a:off x="4623139" y="266527"/>
            <a:ext cx="243848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A + B * C - D / E</a:t>
            </a:r>
          </a:p>
          <a:p>
            <a:r>
              <a:rPr lang="en-MY" sz="2800" dirty="0"/>
              <a:t>A + </a:t>
            </a:r>
            <a:r>
              <a:rPr lang="en-MY" sz="2800" u="sng" dirty="0"/>
              <a:t>B C *</a:t>
            </a:r>
            <a:r>
              <a:rPr lang="en-MY" sz="2800" dirty="0"/>
              <a:t> - D / E</a:t>
            </a:r>
          </a:p>
          <a:p>
            <a:r>
              <a:rPr lang="en-MY" sz="2800" dirty="0"/>
              <a:t>A + </a:t>
            </a:r>
            <a:r>
              <a:rPr lang="en-MY" sz="2800" u="sng" dirty="0"/>
              <a:t>B C *</a:t>
            </a:r>
            <a:r>
              <a:rPr lang="en-MY" sz="2800" dirty="0"/>
              <a:t> - </a:t>
            </a:r>
            <a:r>
              <a:rPr lang="en-MY" sz="2800" u="sng" dirty="0"/>
              <a:t>D E /</a:t>
            </a:r>
          </a:p>
          <a:p>
            <a:r>
              <a:rPr lang="en-MY" sz="2800" u="sng" dirty="0"/>
              <a:t>A B C * +</a:t>
            </a:r>
            <a:r>
              <a:rPr lang="en-MY" sz="2800" dirty="0"/>
              <a:t> - </a:t>
            </a:r>
            <a:r>
              <a:rPr lang="en-MY" sz="2800" u="sng" dirty="0"/>
              <a:t>D E /</a:t>
            </a:r>
          </a:p>
          <a:p>
            <a:r>
              <a:rPr lang="en-MY" sz="2800" u="sng" dirty="0"/>
              <a:t>A B C * + D E / -</a:t>
            </a:r>
          </a:p>
          <a:p>
            <a:endParaRPr lang="en-MY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7F17E0-62A9-6E33-E133-C5ABB663636F}"/>
              </a:ext>
            </a:extLst>
          </p:cNvPr>
          <p:cNvSpPr txBox="1"/>
          <p:nvPr/>
        </p:nvSpPr>
        <p:spPr>
          <a:xfrm>
            <a:off x="633845" y="3080513"/>
            <a:ext cx="201529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-6 / 2 + 3 * 4</a:t>
            </a:r>
          </a:p>
          <a:p>
            <a:r>
              <a:rPr lang="en-MY" sz="2800" u="sng" dirty="0">
                <a:solidFill>
                  <a:srgbClr val="FF0000"/>
                </a:solidFill>
              </a:rPr>
              <a:t>-6 2 / </a:t>
            </a:r>
            <a:r>
              <a:rPr lang="en-MY" sz="2800" dirty="0">
                <a:solidFill>
                  <a:srgbClr val="FF0000"/>
                </a:solidFill>
              </a:rPr>
              <a:t>+ </a:t>
            </a:r>
            <a:r>
              <a:rPr lang="en-MY" sz="2800" u="sng" dirty="0">
                <a:solidFill>
                  <a:srgbClr val="FF0000"/>
                </a:solidFill>
              </a:rPr>
              <a:t>3 4 *</a:t>
            </a:r>
          </a:p>
          <a:p>
            <a:r>
              <a:rPr lang="en-MY" sz="2800" u="sng" dirty="0">
                <a:solidFill>
                  <a:srgbClr val="FF0000"/>
                </a:solidFill>
              </a:rPr>
              <a:t>-6 2/ 3 4 * +</a:t>
            </a:r>
          </a:p>
          <a:p>
            <a:endParaRPr lang="en-MY" sz="2800" dirty="0"/>
          </a:p>
          <a:p>
            <a:endParaRPr lang="en-MY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517DD-3837-1A69-9ADC-907A55263C76}"/>
              </a:ext>
            </a:extLst>
          </p:cNvPr>
          <p:cNvSpPr txBox="1"/>
          <p:nvPr/>
        </p:nvSpPr>
        <p:spPr>
          <a:xfrm>
            <a:off x="4623139" y="3005877"/>
            <a:ext cx="220445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(2 + 2 * 3) / 2 </a:t>
            </a:r>
          </a:p>
          <a:p>
            <a:r>
              <a:rPr lang="en-MY" sz="2800" dirty="0">
                <a:solidFill>
                  <a:srgbClr val="FF0000"/>
                </a:solidFill>
              </a:rPr>
              <a:t>(2 + </a:t>
            </a:r>
            <a:r>
              <a:rPr lang="en-MY" sz="2800" u="sng" dirty="0">
                <a:solidFill>
                  <a:srgbClr val="FF0000"/>
                </a:solidFill>
              </a:rPr>
              <a:t>2 3 *</a:t>
            </a:r>
            <a:r>
              <a:rPr lang="en-MY" sz="2800" dirty="0">
                <a:solidFill>
                  <a:srgbClr val="FF0000"/>
                </a:solidFill>
              </a:rPr>
              <a:t>) / 2</a:t>
            </a:r>
          </a:p>
          <a:p>
            <a:r>
              <a:rPr lang="en-MY" sz="2800" u="sng" dirty="0">
                <a:solidFill>
                  <a:srgbClr val="FF0000"/>
                </a:solidFill>
              </a:rPr>
              <a:t>2 2 3 * + 2 /</a:t>
            </a:r>
          </a:p>
          <a:p>
            <a:endParaRPr lang="en-MY" sz="2800" dirty="0"/>
          </a:p>
          <a:p>
            <a:endParaRPr lang="en-MY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7979A0-61B2-54F4-3FF5-F22271EB93DB}"/>
              </a:ext>
            </a:extLst>
          </p:cNvPr>
          <p:cNvSpPr txBox="1"/>
          <p:nvPr/>
        </p:nvSpPr>
        <p:spPr>
          <a:xfrm>
            <a:off x="8110410" y="2944183"/>
            <a:ext cx="193193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800" dirty="0"/>
              <a:t>2 + 2 * 3 / 2</a:t>
            </a:r>
          </a:p>
          <a:p>
            <a:r>
              <a:rPr lang="en-MY" sz="2800" dirty="0">
                <a:solidFill>
                  <a:srgbClr val="FF0000"/>
                </a:solidFill>
              </a:rPr>
              <a:t>2 + 2 3 * / 2</a:t>
            </a:r>
          </a:p>
          <a:p>
            <a:r>
              <a:rPr lang="en-MY" sz="2800" dirty="0">
                <a:solidFill>
                  <a:srgbClr val="FF0000"/>
                </a:solidFill>
              </a:rPr>
              <a:t>2 + 2 3 * 2 /</a:t>
            </a:r>
          </a:p>
          <a:p>
            <a:r>
              <a:rPr lang="en-MY" sz="2800" dirty="0">
                <a:solidFill>
                  <a:srgbClr val="FF0000"/>
                </a:solidFill>
              </a:rPr>
              <a:t>2 2 3 * 2 / +</a:t>
            </a:r>
          </a:p>
          <a:p>
            <a:endParaRPr lang="en-MY" sz="2800" dirty="0"/>
          </a:p>
          <a:p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1522779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200AFE-AD6D-74B6-0892-0B421EABA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353875"/>
              </p:ext>
            </p:extLst>
          </p:nvPr>
        </p:nvGraphicFramePr>
        <p:xfrm>
          <a:off x="963386" y="719665"/>
          <a:ext cx="9046029" cy="4374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5343">
                  <a:extLst>
                    <a:ext uri="{9D8B030D-6E8A-4147-A177-3AD203B41FA5}">
                      <a16:colId xmlns:a16="http://schemas.microsoft.com/office/drawing/2014/main" val="2659457155"/>
                    </a:ext>
                  </a:extLst>
                </a:gridCol>
                <a:gridCol w="3015343">
                  <a:extLst>
                    <a:ext uri="{9D8B030D-6E8A-4147-A177-3AD203B41FA5}">
                      <a16:colId xmlns:a16="http://schemas.microsoft.com/office/drawing/2014/main" val="2707265024"/>
                    </a:ext>
                  </a:extLst>
                </a:gridCol>
                <a:gridCol w="3015343">
                  <a:extLst>
                    <a:ext uri="{9D8B030D-6E8A-4147-A177-3AD203B41FA5}">
                      <a16:colId xmlns:a16="http://schemas.microsoft.com/office/drawing/2014/main" val="1997198047"/>
                    </a:ext>
                  </a:extLst>
                </a:gridCol>
              </a:tblGrid>
              <a:tr h="437485">
                <a:tc>
                  <a:txBody>
                    <a:bodyPr/>
                    <a:lstStyle/>
                    <a:p>
                      <a:r>
                        <a:rPr lang="en-MY" dirty="0"/>
                        <a:t>INFIX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POSTFIX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772184"/>
                  </a:ext>
                </a:extLst>
              </a:tr>
              <a:tr h="43748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800" dirty="0"/>
                        <a:t>2 + 2 * 3 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42868"/>
                  </a:ext>
                </a:extLst>
              </a:tr>
              <a:tr h="437485">
                <a:tc>
                  <a:txBody>
                    <a:bodyPr/>
                    <a:lstStyle/>
                    <a:p>
                      <a:pPr algn="r"/>
                      <a:r>
                        <a:rPr lang="en-MY" sz="1800" dirty="0"/>
                        <a:t>+ 2 * 3 / 2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001717"/>
                  </a:ext>
                </a:extLst>
              </a:tr>
              <a:tr h="437485">
                <a:tc>
                  <a:txBody>
                    <a:bodyPr/>
                    <a:lstStyle/>
                    <a:p>
                      <a:pPr algn="r"/>
                      <a:r>
                        <a:rPr lang="en-MY" sz="1800" dirty="0"/>
                        <a:t>2 * 3 / 2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#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391494"/>
                  </a:ext>
                </a:extLst>
              </a:tr>
              <a:tr h="437485">
                <a:tc>
                  <a:txBody>
                    <a:bodyPr/>
                    <a:lstStyle/>
                    <a:p>
                      <a:pPr algn="r"/>
                      <a:r>
                        <a:rPr lang="en-MY" sz="1800" dirty="0"/>
                        <a:t>* 3 / 2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#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2 2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168392"/>
                  </a:ext>
                </a:extLst>
              </a:tr>
              <a:tr h="437485">
                <a:tc>
                  <a:txBody>
                    <a:bodyPr/>
                    <a:lstStyle/>
                    <a:p>
                      <a:pPr algn="r"/>
                      <a:r>
                        <a:rPr lang="en-MY" sz="1800" dirty="0">
                          <a:solidFill>
                            <a:srgbClr val="FF0000"/>
                          </a:solidFill>
                        </a:rPr>
                        <a:t>3 / 2</a:t>
                      </a:r>
                      <a:endParaRPr lang="en-MY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rgbClr val="FF0000"/>
                          </a:solidFill>
                        </a:rPr>
                        <a:t># +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rgbClr val="FF0000"/>
                          </a:solidFill>
                        </a:rPr>
                        <a:t>2 2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621036"/>
                  </a:ext>
                </a:extLst>
              </a:tr>
              <a:tr h="437485">
                <a:tc>
                  <a:txBody>
                    <a:bodyPr/>
                    <a:lstStyle/>
                    <a:p>
                      <a:pPr algn="r"/>
                      <a:r>
                        <a:rPr lang="en-MY" dirty="0"/>
                        <a:t>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# +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2 2 3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964991"/>
                  </a:ext>
                </a:extLst>
              </a:tr>
              <a:tr h="437485">
                <a:tc>
                  <a:txBody>
                    <a:bodyPr/>
                    <a:lstStyle/>
                    <a:p>
                      <a:pPr algn="r"/>
                      <a:r>
                        <a:rPr lang="en-MY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rgbClr val="FF0000"/>
                          </a:solidFill>
                        </a:rPr>
                        <a:t># + 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>
                          <a:solidFill>
                            <a:srgbClr val="FF0000"/>
                          </a:solidFill>
                        </a:rPr>
                        <a:t>2 2 3 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015591"/>
                  </a:ext>
                </a:extLst>
              </a:tr>
              <a:tr h="437485">
                <a:tc>
                  <a:txBody>
                    <a:bodyPr/>
                    <a:lstStyle/>
                    <a:p>
                      <a:pPr algn="r"/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# + 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2 2 3 *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555703"/>
                  </a:ext>
                </a:extLst>
              </a:tr>
              <a:tr h="437485">
                <a:tc>
                  <a:txBody>
                    <a:bodyPr/>
                    <a:lstStyle/>
                    <a:p>
                      <a:pPr algn="r"/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#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/>
                        <a:t>2 2 3 * 2 / +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075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632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412</Words>
  <Application>Microsoft Office PowerPoint</Application>
  <PresentationFormat>Widescreen</PresentationFormat>
  <Paragraphs>76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RAZAK SAMINGAN</dc:creator>
  <cp:lastModifiedBy>Afiq Danial</cp:lastModifiedBy>
  <cp:revision>15</cp:revision>
  <dcterms:created xsi:type="dcterms:W3CDTF">2023-12-20T06:32:54Z</dcterms:created>
  <dcterms:modified xsi:type="dcterms:W3CDTF">2024-12-18T08:20:32Z</dcterms:modified>
</cp:coreProperties>
</file>