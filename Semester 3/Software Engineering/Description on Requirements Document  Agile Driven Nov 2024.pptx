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0" r:id="rId2"/>
  </p:sldMasterIdLst>
  <p:notesMasterIdLst>
    <p:notesMasterId r:id="rId22"/>
  </p:notesMasterIdLst>
  <p:sldIdLst>
    <p:sldId id="256" r:id="rId3"/>
    <p:sldId id="339" r:id="rId4"/>
    <p:sldId id="365" r:id="rId5"/>
    <p:sldId id="371" r:id="rId6"/>
    <p:sldId id="364" r:id="rId7"/>
    <p:sldId id="340" r:id="rId8"/>
    <p:sldId id="368" r:id="rId9"/>
    <p:sldId id="369" r:id="rId10"/>
    <p:sldId id="338" r:id="rId11"/>
    <p:sldId id="341" r:id="rId12"/>
    <p:sldId id="366" r:id="rId13"/>
    <p:sldId id="367" r:id="rId14"/>
    <p:sldId id="372" r:id="rId15"/>
    <p:sldId id="370" r:id="rId16"/>
    <p:sldId id="348" r:id="rId17"/>
    <p:sldId id="375" r:id="rId18"/>
    <p:sldId id="374" r:id="rId19"/>
    <p:sldId id="376" r:id="rId20"/>
    <p:sldId id="373" r:id="rId21"/>
  </p:sldIdLst>
  <p:sldSz cx="9144000" cy="6858000" type="screen4x3"/>
  <p:notesSz cx="6858000" cy="9144000"/>
  <p:embeddedFontLst>
    <p:embeddedFont>
      <p:font typeface="Calibri" panose="020F0502020204030204" pitchFamily="34" charset="0"/>
      <p:regular r:id="rId23"/>
      <p:bold r:id="rId24"/>
      <p:italic r:id="rId25"/>
      <p:boldItalic r:id="rId26"/>
    </p:embeddedFont>
    <p:embeddedFont>
      <p:font typeface="Libre Baskerville" panose="020B0604020202020204" charset="0"/>
      <p:regular r:id="rId27"/>
      <p:bold r:id="rId28"/>
      <p: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0" roundtripDataSignature="AMtx7mgs006MynwlIHxD0t2aNc79ttsem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3AFB0C6-D97E-4F6C-AB00-326282AFECEF}">
  <a:tblStyle styleId="{73AFB0C6-D97E-4F6C-AB00-326282AFECEF}"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4485" autoAdjust="0"/>
    <p:restoredTop sz="94660"/>
  </p:normalViewPr>
  <p:slideViewPr>
    <p:cSldViewPr snapToGrid="0">
      <p:cViewPr>
        <p:scale>
          <a:sx n="90" d="100"/>
          <a:sy n="90" d="100"/>
        </p:scale>
        <p:origin x="66" y="-366"/>
      </p:cViewPr>
      <p:guideLst>
        <p:guide orient="horz" pos="2160"/>
        <p:guide pos="2880"/>
      </p:guideLst>
    </p:cSldViewPr>
  </p:slideViewPr>
  <p:notesTextViewPr>
    <p:cViewPr>
      <p:scale>
        <a:sx n="1" d="1"/>
        <a:sy n="1" d="1"/>
      </p:scale>
      <p:origin x="0" y="0"/>
    </p:cViewPr>
  </p:notesTextViewPr>
  <p:notesViewPr>
    <p:cSldViewPr snapToGrid="0">
      <p:cViewPr varScale="1">
        <p:scale>
          <a:sx n="56" d="100"/>
          <a:sy n="56" d="100"/>
        </p:scale>
        <p:origin x="2586" y="51"/>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4.fntdata"/><Relationship Id="rId3" Type="http://schemas.openxmlformats.org/officeDocument/2006/relationships/slide" Target="slides/slide1.xml"/><Relationship Id="rId21" Type="http://schemas.openxmlformats.org/officeDocument/2006/relationships/slide" Target="slides/slide19.xml"/><Relationship Id="rId112"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3.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7.fntdata"/><Relationship Id="rId11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2.fntdata"/><Relationship Id="rId110" Type="http://customschemas.google.com/relationships/presentationmetadata" Target="meta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1.fntdata"/><Relationship Id="rId28" Type="http://schemas.openxmlformats.org/officeDocument/2006/relationships/font" Target="fonts/font6.fntdata"/><Relationship Id="rId114"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font" Target="fonts/font5.fntdata"/><Relationship Id="rId113"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p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1" name="Google Shape;961;p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81326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a:extLst>
            <a:ext uri="{FF2B5EF4-FFF2-40B4-BE49-F238E27FC236}">
              <a16:creationId xmlns:a16="http://schemas.microsoft.com/office/drawing/2014/main" id="{94F599C8-07CF-9A77-87A1-E9B59E9252A1}"/>
            </a:ext>
          </a:extLst>
        </p:cNvPr>
        <p:cNvGrpSpPr/>
        <p:nvPr/>
      </p:nvGrpSpPr>
      <p:grpSpPr>
        <a:xfrm>
          <a:off x="0" y="0"/>
          <a:ext cx="0" cy="0"/>
          <a:chOff x="0" y="0"/>
          <a:chExt cx="0" cy="0"/>
        </a:xfrm>
      </p:grpSpPr>
      <p:sp>
        <p:nvSpPr>
          <p:cNvPr id="951" name="Google Shape;951;p83:notes">
            <a:extLst>
              <a:ext uri="{FF2B5EF4-FFF2-40B4-BE49-F238E27FC236}">
                <a16:creationId xmlns:a16="http://schemas.microsoft.com/office/drawing/2014/main" id="{32C4EBF5-B060-4805-99FA-D83267C63B98}"/>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2" name="Google Shape;952;p83:notes">
            <a:extLst>
              <a:ext uri="{FF2B5EF4-FFF2-40B4-BE49-F238E27FC236}">
                <a16:creationId xmlns:a16="http://schemas.microsoft.com/office/drawing/2014/main" id="{34E11180-122E-E68A-9EAA-D806FF6B983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6069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p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p8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971" name="Google Shape;971;p8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652936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p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2" name="Google Shape;952;p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2603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p8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0" name="Google Shape;980;p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59585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758957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a:extLst>
            <a:ext uri="{FF2B5EF4-FFF2-40B4-BE49-F238E27FC236}">
              <a16:creationId xmlns:a16="http://schemas.microsoft.com/office/drawing/2014/main" id="{2B4ED1B5-85D3-EF3D-0D6C-AB8579FF35D0}"/>
            </a:ext>
          </a:extLst>
        </p:cNvPr>
        <p:cNvGrpSpPr/>
        <p:nvPr/>
      </p:nvGrpSpPr>
      <p:grpSpPr>
        <a:xfrm>
          <a:off x="0" y="0"/>
          <a:ext cx="0" cy="0"/>
          <a:chOff x="0" y="0"/>
          <a:chExt cx="0" cy="0"/>
        </a:xfrm>
      </p:grpSpPr>
      <p:sp>
        <p:nvSpPr>
          <p:cNvPr id="951" name="Google Shape;951;p83:notes">
            <a:extLst>
              <a:ext uri="{FF2B5EF4-FFF2-40B4-BE49-F238E27FC236}">
                <a16:creationId xmlns:a16="http://schemas.microsoft.com/office/drawing/2014/main" id="{1E8B20D1-A547-FC20-5DBE-6D91A36F4154}"/>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2" name="Google Shape;952;p83:notes">
            <a:extLst>
              <a:ext uri="{FF2B5EF4-FFF2-40B4-BE49-F238E27FC236}">
                <a16:creationId xmlns:a16="http://schemas.microsoft.com/office/drawing/2014/main" id="{C3BA1BEC-0594-B242-5B26-382C1550E66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3618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3"/>
        <p:cNvGrpSpPr/>
        <p:nvPr/>
      </p:nvGrpSpPr>
      <p:grpSpPr>
        <a:xfrm>
          <a:off x="0" y="0"/>
          <a:ext cx="0" cy="0"/>
          <a:chOff x="0" y="0"/>
          <a:chExt cx="0" cy="0"/>
        </a:xfrm>
      </p:grpSpPr>
      <p:sp>
        <p:nvSpPr>
          <p:cNvPr id="1044" name="Google Shape;1044;p9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5" name="Google Shape;1045;p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9193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0B89C-B732-EC9E-7C05-FF424F5CA1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E4729-FF71-D37A-EFB3-FB26F4417E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D42F39-FCF7-D964-00CE-EAE6D93960C1}"/>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C6D5E49A-3439-9FD5-FC35-66C9221CFC85}"/>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93470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10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0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10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0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0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0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0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dirty="0"/>
          </a:p>
        </p:txBody>
      </p:sp>
      <p:sp>
        <p:nvSpPr>
          <p:cNvPr id="28" name="Google Shape;28;p10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0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Prepared by </a:t>
            </a:r>
            <a:r>
              <a:rPr lang="en-US" dirty="0" err="1"/>
              <a:t>Shahliza</a:t>
            </a:r>
            <a:r>
              <a:rPr lang="en-US" dirty="0"/>
              <a:t> Abd Halim</a:t>
            </a:r>
          </a:p>
        </p:txBody>
      </p:sp>
      <p:sp>
        <p:nvSpPr>
          <p:cNvPr id="30" name="Google Shape;30;p10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10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0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10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0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0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10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0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10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10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10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10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0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0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10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0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0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0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0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0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10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0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5" name="Google Shape;65;p10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6" name="Google Shape;66;p10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0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10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09"/>
          <p:cNvSpPr>
            <a:spLocks noGrp="1"/>
          </p:cNvSpPr>
          <p:nvPr>
            <p:ph type="pic" idx="2"/>
          </p:nvPr>
        </p:nvSpPr>
        <p:spPr>
          <a:xfrm>
            <a:off x="1792288" y="612775"/>
            <a:ext cx="5486400" cy="4114800"/>
          </a:xfrm>
          <a:prstGeom prst="rect">
            <a:avLst/>
          </a:prstGeom>
          <a:noFill/>
          <a:ln>
            <a:noFill/>
          </a:ln>
        </p:spPr>
      </p:sp>
      <p:sp>
        <p:nvSpPr>
          <p:cNvPr id="72" name="Google Shape;72;p10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3" name="Google Shape;73;p10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0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1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1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9" name="Google Shape;79;p11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1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1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11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11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5" name="Google Shape;85;p11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1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1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00"/>
          <p:cNvPicPr preferRelativeResize="0"/>
          <p:nvPr/>
        </p:nvPicPr>
        <p:blipFill rotWithShape="1">
          <a:blip r:embed="rId12">
            <a:alphaModFix/>
          </a:blip>
          <a:srcRect/>
          <a:stretch/>
        </p:blipFill>
        <p:spPr>
          <a:xfrm>
            <a:off x="-747" y="6487366"/>
            <a:ext cx="9131300" cy="357187"/>
          </a:xfrm>
          <a:prstGeom prst="rect">
            <a:avLst/>
          </a:prstGeom>
          <a:noFill/>
          <a:ln>
            <a:noFill/>
          </a:ln>
        </p:spPr>
      </p:pic>
      <p:sp>
        <p:nvSpPr>
          <p:cNvPr id="11" name="Google Shape;11;p100"/>
          <p:cNvSpPr/>
          <p:nvPr/>
        </p:nvSpPr>
        <p:spPr>
          <a:xfrm>
            <a:off x="0" y="0"/>
            <a:ext cx="9144000" cy="1417638"/>
          </a:xfrm>
          <a:prstGeom prst="rect">
            <a:avLst/>
          </a:prstGeom>
          <a:solidFill>
            <a:srgbClr val="FFE1A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 name="Google Shape;12;p10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3" name="Google Shape;13;p100" descr="header_UTM"/>
          <p:cNvPicPr preferRelativeResize="0"/>
          <p:nvPr/>
        </p:nvPicPr>
        <p:blipFill rotWithShape="1">
          <a:blip r:embed="rId13">
            <a:alphaModFix/>
          </a:blip>
          <a:srcRect/>
          <a:stretch/>
        </p:blipFill>
        <p:spPr>
          <a:xfrm>
            <a:off x="63500" y="106363"/>
            <a:ext cx="1195388" cy="395287"/>
          </a:xfrm>
          <a:prstGeom prst="rect">
            <a:avLst/>
          </a:prstGeom>
          <a:noFill/>
          <a:ln>
            <a:noFill/>
          </a:ln>
        </p:spPr>
      </p:pic>
      <p:pic>
        <p:nvPicPr>
          <p:cNvPr id="14" name="Google Shape;14;p100" descr="header_url"/>
          <p:cNvPicPr preferRelativeResize="0"/>
          <p:nvPr/>
        </p:nvPicPr>
        <p:blipFill rotWithShape="1">
          <a:blip r:embed="rId14">
            <a:alphaModFix/>
          </a:blip>
          <a:srcRect/>
          <a:stretch/>
        </p:blipFill>
        <p:spPr>
          <a:xfrm>
            <a:off x="0" y="1169894"/>
            <a:ext cx="2376488" cy="255588"/>
          </a:xfrm>
          <a:prstGeom prst="rect">
            <a:avLst/>
          </a:prstGeom>
          <a:noFill/>
          <a:ln>
            <a:noFill/>
          </a:ln>
        </p:spPr>
      </p:pic>
      <p:sp>
        <p:nvSpPr>
          <p:cNvPr id="15" name="Google Shape;15;p10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 name="Google Shape;16;p10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10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10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000000"/>
                </a:solidFill>
                <a:latin typeface="Calibri"/>
                <a:ea typeface="Calibri"/>
                <a:cs typeface="Calibri"/>
                <a:sym typeface="Calibri"/>
              </a:defRPr>
            </a:lvl1pPr>
            <a:lvl2pPr marL="0" marR="0" lvl="1" indent="0" algn="r" rtl="0">
              <a:spcBef>
                <a:spcPts val="0"/>
              </a:spcBef>
              <a:buNone/>
              <a:defRPr sz="1200" b="0" i="0" u="none" strike="noStrike" cap="none">
                <a:solidFill>
                  <a:srgbClr val="000000"/>
                </a:solidFill>
                <a:latin typeface="Calibri"/>
                <a:ea typeface="Calibri"/>
                <a:cs typeface="Calibri"/>
                <a:sym typeface="Calibri"/>
              </a:defRPr>
            </a:lvl2pPr>
            <a:lvl3pPr marL="0" marR="0" lvl="2" indent="0" algn="r" rtl="0">
              <a:spcBef>
                <a:spcPts val="0"/>
              </a:spcBef>
              <a:buNone/>
              <a:defRPr sz="1200" b="0" i="0" u="none" strike="noStrike" cap="none">
                <a:solidFill>
                  <a:srgbClr val="000000"/>
                </a:solidFill>
                <a:latin typeface="Calibri"/>
                <a:ea typeface="Calibri"/>
                <a:cs typeface="Calibri"/>
                <a:sym typeface="Calibri"/>
              </a:defRPr>
            </a:lvl3pPr>
            <a:lvl4pPr marL="0" marR="0" lvl="3" indent="0" algn="r" rtl="0">
              <a:spcBef>
                <a:spcPts val="0"/>
              </a:spcBef>
              <a:buNone/>
              <a:defRPr sz="1200" b="0" i="0" u="none" strike="noStrike" cap="none">
                <a:solidFill>
                  <a:srgbClr val="000000"/>
                </a:solidFill>
                <a:latin typeface="Calibri"/>
                <a:ea typeface="Calibri"/>
                <a:cs typeface="Calibri"/>
                <a:sym typeface="Calibri"/>
              </a:defRPr>
            </a:lvl4pPr>
            <a:lvl5pPr marL="0" marR="0" lvl="4" indent="0" algn="r" rtl="0">
              <a:spcBef>
                <a:spcPts val="0"/>
              </a:spcBef>
              <a:buNone/>
              <a:defRPr sz="1200" b="0" i="0" u="none" strike="noStrike" cap="none">
                <a:solidFill>
                  <a:srgbClr val="000000"/>
                </a:solidFill>
                <a:latin typeface="Calibri"/>
                <a:ea typeface="Calibri"/>
                <a:cs typeface="Calibri"/>
                <a:sym typeface="Calibri"/>
              </a:defRPr>
            </a:lvl5pPr>
            <a:lvl6pPr marL="0" marR="0" lvl="5" indent="0" algn="r" rtl="0">
              <a:spcBef>
                <a:spcPts val="0"/>
              </a:spcBef>
              <a:buNone/>
              <a:defRPr sz="1200" b="0" i="0" u="none" strike="noStrike" cap="none">
                <a:solidFill>
                  <a:srgbClr val="000000"/>
                </a:solidFill>
                <a:latin typeface="Calibri"/>
                <a:ea typeface="Calibri"/>
                <a:cs typeface="Calibri"/>
                <a:sym typeface="Calibri"/>
              </a:defRPr>
            </a:lvl6pPr>
            <a:lvl7pPr marL="0" marR="0" lvl="6" indent="0" algn="r" rtl="0">
              <a:spcBef>
                <a:spcPts val="0"/>
              </a:spcBef>
              <a:buNone/>
              <a:defRPr sz="1200" b="0" i="0" u="none" strike="noStrike" cap="none">
                <a:solidFill>
                  <a:srgbClr val="000000"/>
                </a:solidFill>
                <a:latin typeface="Calibri"/>
                <a:ea typeface="Calibri"/>
                <a:cs typeface="Calibri"/>
                <a:sym typeface="Calibri"/>
              </a:defRPr>
            </a:lvl7pPr>
            <a:lvl8pPr marL="0" marR="0" lvl="7" indent="0" algn="r" rtl="0">
              <a:spcBef>
                <a:spcPts val="0"/>
              </a:spcBef>
              <a:buNone/>
              <a:defRPr sz="1200" b="0" i="0" u="none" strike="noStrike" cap="none">
                <a:solidFill>
                  <a:srgbClr val="000000"/>
                </a:solidFill>
                <a:latin typeface="Calibri"/>
                <a:ea typeface="Calibri"/>
                <a:cs typeface="Calibri"/>
                <a:sym typeface="Calibri"/>
              </a:defRPr>
            </a:lvl8pPr>
            <a:lvl9pPr marL="0" marR="0" lvl="8" indent="0" algn="r" rtl="0">
              <a:spcBef>
                <a:spcPts val="0"/>
              </a:spcBef>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112"/>
          <p:cNvSpPr txBo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marR="0" lvl="0" indent="-342900" algn="ctr" rtl="0">
              <a:lnSpc>
                <a:spcPct val="100000"/>
              </a:lnSpc>
              <a:spcBef>
                <a:spcPts val="0"/>
              </a:spcBef>
              <a:spcAft>
                <a:spcPts val="0"/>
              </a:spcAft>
              <a:buClr>
                <a:schemeClr val="dk1"/>
              </a:buClr>
              <a:buSzPts val="5400"/>
              <a:buFont typeface="Arial"/>
              <a:buNone/>
            </a:pPr>
            <a:endParaRPr sz="5400" b="0" i="0" u="none" strike="noStrike" cap="none">
              <a:solidFill>
                <a:schemeClr val="dk1"/>
              </a:solidFill>
              <a:latin typeface="Calibri"/>
              <a:ea typeface="Calibri"/>
              <a:cs typeface="Calibri"/>
              <a:sym typeface="Calibri"/>
            </a:endParaRPr>
          </a:p>
          <a:p>
            <a:pPr marL="342900" marR="0" lvl="0" indent="-342900" algn="ctr" rtl="0">
              <a:lnSpc>
                <a:spcPct val="100000"/>
              </a:lnSpc>
              <a:spcBef>
                <a:spcPts val="1080"/>
              </a:spcBef>
              <a:spcAft>
                <a:spcPts val="0"/>
              </a:spcAft>
              <a:buClr>
                <a:schemeClr val="dk1"/>
              </a:buClr>
              <a:buSzPts val="5400"/>
              <a:buFont typeface="Arial"/>
              <a:buNone/>
            </a:pPr>
            <a:r>
              <a:rPr lang="en-US" sz="5400" b="1" i="0" u="none" strike="noStrike" cap="none">
                <a:solidFill>
                  <a:schemeClr val="dk1"/>
                </a:solidFill>
                <a:latin typeface="Calibri"/>
                <a:ea typeface="Calibri"/>
                <a:cs typeface="Calibri"/>
                <a:sym typeface="Calibri"/>
              </a:rPr>
              <a:t>Terima Kasih</a:t>
            </a:r>
            <a:endParaRPr/>
          </a:p>
          <a:p>
            <a:pPr marL="342900" marR="0" lvl="0" indent="-342900" algn="ctr" rtl="0">
              <a:lnSpc>
                <a:spcPct val="100000"/>
              </a:lnSpc>
              <a:spcBef>
                <a:spcPts val="560"/>
              </a:spcBef>
              <a:spcAft>
                <a:spcPts val="0"/>
              </a:spcAft>
              <a:buClr>
                <a:srgbClr val="C00000"/>
              </a:buClr>
              <a:buSzPts val="2800"/>
              <a:buFont typeface="Arial"/>
              <a:buNone/>
            </a:pPr>
            <a:r>
              <a:rPr lang="en-US" sz="2800" b="0" i="0" u="none" strike="noStrike" cap="none">
                <a:solidFill>
                  <a:srgbClr val="C00000"/>
                </a:solidFill>
                <a:latin typeface="Calibri"/>
                <a:ea typeface="Calibri"/>
                <a:cs typeface="Calibri"/>
                <a:sym typeface="Calibri"/>
              </a:rPr>
              <a:t>atas keprihatinan anda</a:t>
            </a:r>
            <a:endParaRPr/>
          </a:p>
          <a:p>
            <a:pPr marL="342900" marR="0" lvl="0" indent="-342900" algn="ctr" rtl="0">
              <a:lnSpc>
                <a:spcPct val="100000"/>
              </a:lnSpc>
              <a:spcBef>
                <a:spcPts val="560"/>
              </a:spcBef>
              <a:spcAft>
                <a:spcPts val="0"/>
              </a:spcAft>
              <a:buClr>
                <a:schemeClr val="dk1"/>
              </a:buClr>
              <a:buSzPts val="2800"/>
              <a:buFont typeface="Arial"/>
              <a:buNone/>
            </a:pPr>
            <a:endParaRPr sz="2800" b="0" i="0" u="none" strike="noStrike" cap="none">
              <a:solidFill>
                <a:srgbClr val="C00000"/>
              </a:solidFill>
              <a:latin typeface="Calibri"/>
              <a:ea typeface="Calibri"/>
              <a:cs typeface="Calibri"/>
              <a:sym typeface="Calibri"/>
            </a:endParaRPr>
          </a:p>
          <a:p>
            <a:pPr marL="342900" marR="0" lvl="0" indent="-342900" algn="ctr" rtl="0">
              <a:lnSpc>
                <a:spcPct val="100000"/>
              </a:lnSpc>
              <a:spcBef>
                <a:spcPts val="720"/>
              </a:spcBef>
              <a:spcAft>
                <a:spcPts val="0"/>
              </a:spcAft>
              <a:buClr>
                <a:srgbClr val="002060"/>
              </a:buClr>
              <a:buSzPts val="3600"/>
              <a:buFont typeface="Arial"/>
              <a:buNone/>
            </a:pPr>
            <a:r>
              <a:rPr lang="en-US" sz="3600" b="1" i="0" u="none" strike="noStrike" cap="none">
                <a:solidFill>
                  <a:srgbClr val="002060"/>
                </a:solidFill>
                <a:latin typeface="Libre Baskerville"/>
                <a:ea typeface="Libre Baskerville"/>
                <a:cs typeface="Libre Baskerville"/>
                <a:sym typeface="Libre Baskerville"/>
              </a:rPr>
              <a:t>“I Care, You Care, We Care”</a:t>
            </a:r>
            <a:endParaRPr sz="3600" b="1" i="0" u="none" strike="noStrike" cap="none">
              <a:solidFill>
                <a:srgbClr val="002060"/>
              </a:solidFill>
              <a:latin typeface="Libre Baskerville"/>
              <a:ea typeface="Libre Baskerville"/>
              <a:cs typeface="Libre Baskerville"/>
              <a:sym typeface="Libre Baskerville"/>
            </a:endParaRPr>
          </a:p>
        </p:txBody>
      </p:sp>
      <p:pic>
        <p:nvPicPr>
          <p:cNvPr id="90" name="Google Shape;90;p112"/>
          <p:cNvPicPr preferRelativeResize="0"/>
          <p:nvPr/>
        </p:nvPicPr>
        <p:blipFill rotWithShape="1">
          <a:blip r:embed="rId2">
            <a:alphaModFix/>
          </a:blip>
          <a:srcRect/>
          <a:stretch/>
        </p:blipFill>
        <p:spPr>
          <a:xfrm>
            <a:off x="-747" y="6487366"/>
            <a:ext cx="9131300" cy="357187"/>
          </a:xfrm>
          <a:prstGeom prst="rect">
            <a:avLst/>
          </a:prstGeom>
          <a:noFill/>
          <a:ln>
            <a:noFill/>
          </a:ln>
        </p:spPr>
      </p:pic>
      <p:sp>
        <p:nvSpPr>
          <p:cNvPr id="91" name="Google Shape;91;p112"/>
          <p:cNvSpPr txBox="1">
            <a:spLocks noGrp="1"/>
          </p:cNvSpPr>
          <p:nvPr>
            <p:ph type="dt" idx="10"/>
          </p:nvPr>
        </p:nvSpPr>
        <p:spPr>
          <a:xfrm>
            <a:off x="0" y="6600451"/>
            <a:ext cx="1547664"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 name="Google Shape;92;p112"/>
          <p:cNvSpPr txBox="1">
            <a:spLocks noGrp="1"/>
          </p:cNvSpPr>
          <p:nvPr>
            <p:ph type="sldNum" idx="12"/>
          </p:nvPr>
        </p:nvSpPr>
        <p:spPr>
          <a:xfrm>
            <a:off x="8316416" y="6600451"/>
            <a:ext cx="457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a:solidFill>
                  <a:schemeClr val="dk1"/>
                </a:solidFill>
                <a:latin typeface="Calibri"/>
                <a:ea typeface="Calibri"/>
                <a:cs typeface="Calibri"/>
                <a:sym typeface="Calibri"/>
              </a:defRPr>
            </a:lvl1pPr>
            <a:lvl2pPr marL="0" marR="0" lvl="1" indent="0" algn="r" rtl="0">
              <a:spcBef>
                <a:spcPts val="0"/>
              </a:spcBef>
              <a:spcAft>
                <a:spcPts val="0"/>
              </a:spcAft>
              <a:buNone/>
              <a:defRPr sz="1200">
                <a:solidFill>
                  <a:schemeClr val="dk1"/>
                </a:solidFill>
                <a:latin typeface="Calibri"/>
                <a:ea typeface="Calibri"/>
                <a:cs typeface="Calibri"/>
                <a:sym typeface="Calibri"/>
              </a:defRPr>
            </a:lvl2pPr>
            <a:lvl3pPr marL="0" marR="0" lvl="2" indent="0" algn="r" rtl="0">
              <a:spcBef>
                <a:spcPts val="0"/>
              </a:spcBef>
              <a:spcAft>
                <a:spcPts val="0"/>
              </a:spcAft>
              <a:buNone/>
              <a:defRPr sz="1200">
                <a:solidFill>
                  <a:schemeClr val="dk1"/>
                </a:solidFill>
                <a:latin typeface="Calibri"/>
                <a:ea typeface="Calibri"/>
                <a:cs typeface="Calibri"/>
                <a:sym typeface="Calibri"/>
              </a:defRPr>
            </a:lvl3pPr>
            <a:lvl4pPr marL="0" marR="0" lvl="3" indent="0" algn="r" rtl="0">
              <a:spcBef>
                <a:spcPts val="0"/>
              </a:spcBef>
              <a:spcAft>
                <a:spcPts val="0"/>
              </a:spcAft>
              <a:buNone/>
              <a:defRPr sz="1200">
                <a:solidFill>
                  <a:schemeClr val="dk1"/>
                </a:solidFill>
                <a:latin typeface="Calibri"/>
                <a:ea typeface="Calibri"/>
                <a:cs typeface="Calibri"/>
                <a:sym typeface="Calibri"/>
              </a:defRPr>
            </a:lvl4pPr>
            <a:lvl5pPr marL="0" marR="0" lvl="4" indent="0" algn="r" rtl="0">
              <a:spcBef>
                <a:spcPts val="0"/>
              </a:spcBef>
              <a:spcAft>
                <a:spcPts val="0"/>
              </a:spcAft>
              <a:buNone/>
              <a:defRPr sz="1200">
                <a:solidFill>
                  <a:schemeClr val="dk1"/>
                </a:solidFill>
                <a:latin typeface="Calibri"/>
                <a:ea typeface="Calibri"/>
                <a:cs typeface="Calibri"/>
                <a:sym typeface="Calibri"/>
              </a:defRPr>
            </a:lvl5pPr>
            <a:lvl6pPr marL="0" marR="0" lvl="5" indent="0" algn="r" rtl="0">
              <a:spcBef>
                <a:spcPts val="0"/>
              </a:spcBef>
              <a:spcAft>
                <a:spcPts val="0"/>
              </a:spcAft>
              <a:buNone/>
              <a:defRPr sz="1200">
                <a:solidFill>
                  <a:schemeClr val="dk1"/>
                </a:solidFill>
                <a:latin typeface="Calibri"/>
                <a:ea typeface="Calibri"/>
                <a:cs typeface="Calibri"/>
                <a:sym typeface="Calibri"/>
              </a:defRPr>
            </a:lvl6pPr>
            <a:lvl7pPr marL="0" marR="0" lvl="6" indent="0" algn="r" rtl="0">
              <a:spcBef>
                <a:spcPts val="0"/>
              </a:spcBef>
              <a:spcAft>
                <a:spcPts val="0"/>
              </a:spcAft>
              <a:buNone/>
              <a:defRPr sz="1200">
                <a:solidFill>
                  <a:schemeClr val="dk1"/>
                </a:solidFill>
                <a:latin typeface="Calibri"/>
                <a:ea typeface="Calibri"/>
                <a:cs typeface="Calibri"/>
                <a:sym typeface="Calibri"/>
              </a:defRPr>
            </a:lvl7pPr>
            <a:lvl8pPr marL="0" marR="0" lvl="7" indent="0" algn="r" rtl="0">
              <a:spcBef>
                <a:spcPts val="0"/>
              </a:spcBef>
              <a:spcAft>
                <a:spcPts val="0"/>
              </a:spcAft>
              <a:buNone/>
              <a:defRPr sz="1200">
                <a:solidFill>
                  <a:schemeClr val="dk1"/>
                </a:solidFill>
                <a:latin typeface="Calibri"/>
                <a:ea typeface="Calibri"/>
                <a:cs typeface="Calibri"/>
                <a:sym typeface="Calibri"/>
              </a:defRPr>
            </a:lvl8pPr>
            <a:lvl9pPr marL="0" marR="0" lvl="8" indent="0" algn="r" rtl="0">
              <a:spcBef>
                <a:spcPts val="0"/>
              </a:spcBef>
              <a:spcAft>
                <a:spcPts val="0"/>
              </a:spcAft>
              <a:buNone/>
              <a:defRPr sz="1200">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112"/>
          <p:cNvSpPr/>
          <p:nvPr/>
        </p:nvSpPr>
        <p:spPr>
          <a:xfrm>
            <a:off x="0" y="0"/>
            <a:ext cx="9144000" cy="1417638"/>
          </a:xfrm>
          <a:prstGeom prst="rect">
            <a:avLst/>
          </a:prstGeom>
          <a:solidFill>
            <a:srgbClr val="FFE1A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94" name="Google Shape;94;p112" descr="header_UTM"/>
          <p:cNvPicPr preferRelativeResize="0"/>
          <p:nvPr/>
        </p:nvPicPr>
        <p:blipFill rotWithShape="1">
          <a:blip r:embed="rId3">
            <a:alphaModFix/>
          </a:blip>
          <a:srcRect/>
          <a:stretch/>
        </p:blipFill>
        <p:spPr>
          <a:xfrm>
            <a:off x="63500" y="106363"/>
            <a:ext cx="1195388" cy="395287"/>
          </a:xfrm>
          <a:prstGeom prst="rect">
            <a:avLst/>
          </a:prstGeom>
          <a:noFill/>
          <a:ln>
            <a:noFill/>
          </a:ln>
        </p:spPr>
      </p:pic>
      <p:pic>
        <p:nvPicPr>
          <p:cNvPr id="95" name="Google Shape;95;p112" descr="header_url"/>
          <p:cNvPicPr preferRelativeResize="0"/>
          <p:nvPr/>
        </p:nvPicPr>
        <p:blipFill rotWithShape="1">
          <a:blip r:embed="rId4">
            <a:alphaModFix/>
          </a:blip>
          <a:srcRect/>
          <a:stretch/>
        </p:blipFill>
        <p:spPr>
          <a:xfrm>
            <a:off x="0" y="1009650"/>
            <a:ext cx="2376488" cy="388938"/>
          </a:xfrm>
          <a:prstGeom prst="rect">
            <a:avLst/>
          </a:prstGeom>
          <a:noFill/>
          <a:ln>
            <a:noFill/>
          </a:ln>
        </p:spPr>
      </p:pic>
      <p:pic>
        <p:nvPicPr>
          <p:cNvPr id="96" name="Google Shape;96;p112"/>
          <p:cNvPicPr preferRelativeResize="0"/>
          <p:nvPr/>
        </p:nvPicPr>
        <p:blipFill rotWithShape="1">
          <a:blip r:embed="rId5">
            <a:alphaModFix/>
          </a:blip>
          <a:srcRect/>
          <a:stretch/>
        </p:blipFill>
        <p:spPr>
          <a:xfrm>
            <a:off x="1873008" y="53788"/>
            <a:ext cx="580837" cy="438130"/>
          </a:xfrm>
          <a:prstGeom prst="rect">
            <a:avLst/>
          </a:prstGeom>
          <a:noFill/>
          <a:ln>
            <a:noFill/>
          </a:ln>
        </p:spPr>
      </p:pic>
      <p:pic>
        <p:nvPicPr>
          <p:cNvPr id="97" name="Google Shape;97;p112" descr="PNG_newlogo"/>
          <p:cNvPicPr preferRelativeResize="0"/>
          <p:nvPr/>
        </p:nvPicPr>
        <p:blipFill rotWithShape="1">
          <a:blip r:embed="rId6">
            <a:alphaModFix/>
          </a:blip>
          <a:srcRect/>
          <a:stretch/>
        </p:blipFill>
        <p:spPr>
          <a:xfrm>
            <a:off x="1354633" y="26894"/>
            <a:ext cx="504056" cy="477366"/>
          </a:xfrm>
          <a:prstGeom prst="rect">
            <a:avLst/>
          </a:prstGeom>
          <a:noFill/>
          <a:ln>
            <a:noFill/>
          </a:ln>
        </p:spPr>
      </p:pic>
      <p:sp>
        <p:nvSpPr>
          <p:cNvPr id="98" name="Google Shape;98;p112"/>
          <p:cNvSpPr txBox="1">
            <a:spLocks noGrp="1"/>
          </p:cNvSpPr>
          <p:nvPr>
            <p:ph type="ftr" idx="11"/>
          </p:nvPr>
        </p:nvSpPr>
        <p:spPr>
          <a:xfrm>
            <a:off x="2281520" y="6647328"/>
            <a:ext cx="4704928"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1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REQUIREMENTS DOCUMENT</a:t>
            </a:r>
            <a:endParaRPr dirty="0"/>
          </a:p>
        </p:txBody>
      </p:sp>
      <p:sp>
        <p:nvSpPr>
          <p:cNvPr id="104" name="Google Shape;104;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fontScale="62500" lnSpcReduction="20000"/>
          </a:bodyPr>
          <a:lstStyle/>
          <a:p>
            <a:pPr marL="0" lvl="0" indent="0" algn="ctr" rtl="0">
              <a:spcBef>
                <a:spcPts val="0"/>
              </a:spcBef>
              <a:spcAft>
                <a:spcPts val="0"/>
              </a:spcAft>
              <a:buClr>
                <a:schemeClr val="dk2"/>
              </a:buClr>
              <a:buSzPct val="100000"/>
              <a:buNone/>
            </a:pPr>
            <a:r>
              <a:rPr lang="en-US" sz="4000" dirty="0">
                <a:solidFill>
                  <a:schemeClr val="dk2"/>
                </a:solidFill>
              </a:rPr>
              <a:t>This slide is to describe System Documentation  (SD) Template and also Software Requirements Specification (SRS) for Plan-driven and Agile based system development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p8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dirty="0"/>
              <a:t>System Documentation SD Template Document Content </a:t>
            </a:r>
            <a:endParaRPr dirty="0"/>
          </a:p>
        </p:txBody>
      </p:sp>
      <p:sp>
        <p:nvSpPr>
          <p:cNvPr id="964" name="Google Shape;964;p8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3200"/>
              <a:buChar char="•"/>
            </a:pPr>
            <a:r>
              <a:rPr lang="en-US" sz="2800" dirty="0"/>
              <a:t>You are given a SD Template which contains</a:t>
            </a:r>
          </a:p>
          <a:p>
            <a:pPr marL="0" lvl="0" indent="0" algn="l" rtl="0">
              <a:spcBef>
                <a:spcPts val="0"/>
              </a:spcBef>
              <a:spcAft>
                <a:spcPts val="0"/>
              </a:spcAft>
              <a:buClr>
                <a:schemeClr val="dk1"/>
              </a:buClr>
              <a:buSzPts val="3200"/>
              <a:buNone/>
            </a:pPr>
            <a:r>
              <a:rPr lang="en-US" sz="2800" dirty="0"/>
              <a:t>	Revision page </a:t>
            </a:r>
          </a:p>
          <a:p>
            <a:pPr marL="0" lvl="0" indent="0" algn="l" rtl="0">
              <a:spcBef>
                <a:spcPts val="0"/>
              </a:spcBef>
              <a:spcAft>
                <a:spcPts val="0"/>
              </a:spcAft>
              <a:buClr>
                <a:schemeClr val="dk1"/>
              </a:buClr>
              <a:buSzPts val="3200"/>
              <a:buNone/>
            </a:pPr>
            <a:r>
              <a:rPr lang="en-US" sz="2800" dirty="0"/>
              <a:t>	Table of contents which have section 1-8. The 	description for the sections: </a:t>
            </a:r>
          </a:p>
          <a:p>
            <a:pPr marL="1257300" lvl="2">
              <a:spcBef>
                <a:spcPts val="640"/>
              </a:spcBef>
              <a:buSzPts val="3200"/>
            </a:pPr>
            <a:r>
              <a:rPr lang="en-US" sz="2000" dirty="0"/>
              <a:t>Section 1 – 2 : Introduction and Specific Requirements</a:t>
            </a:r>
          </a:p>
          <a:p>
            <a:pPr marL="1371600" lvl="3" indent="0">
              <a:spcBef>
                <a:spcPts val="640"/>
              </a:spcBef>
              <a:buSzPts val="3200"/>
              <a:buNone/>
            </a:pPr>
            <a:r>
              <a:rPr lang="en-US" sz="1800" dirty="0">
                <a:solidFill>
                  <a:schemeClr val="bg2"/>
                </a:solidFill>
              </a:rPr>
              <a:t>This section represents the SRS for </a:t>
            </a:r>
            <a:r>
              <a:rPr lang="en-US" sz="2800" dirty="0">
                <a:solidFill>
                  <a:schemeClr val="bg2"/>
                </a:solidFill>
              </a:rPr>
              <a:t>A2</a:t>
            </a:r>
            <a:endParaRPr lang="en-US" sz="1800" dirty="0">
              <a:solidFill>
                <a:schemeClr val="bg2"/>
              </a:solidFill>
            </a:endParaRPr>
          </a:p>
          <a:p>
            <a:pPr marL="1257300" lvl="2">
              <a:spcBef>
                <a:spcPts val="640"/>
              </a:spcBef>
              <a:buSzPts val="3200"/>
            </a:pPr>
            <a:r>
              <a:rPr lang="en-US" sz="2000" dirty="0"/>
              <a:t>Section 3-7: System Architectural Design until Requirements Matrix</a:t>
            </a:r>
          </a:p>
          <a:p>
            <a:pPr marL="1371600" lvl="3" indent="0">
              <a:spcBef>
                <a:spcPts val="640"/>
              </a:spcBef>
              <a:buClr>
                <a:srgbClr val="000000"/>
              </a:buClr>
              <a:buSzPts val="3200"/>
              <a:buNone/>
              <a:defRPr/>
            </a:pPr>
            <a:r>
              <a:rPr kumimoji="0" lang="en-US" sz="1800" b="0" i="0" u="none" strike="noStrike" kern="0" cap="none" spc="0" normalizeH="0" baseline="0" noProof="0" dirty="0">
                <a:ln>
                  <a:noFill/>
                </a:ln>
                <a:solidFill>
                  <a:srgbClr val="1F497D"/>
                </a:solidFill>
                <a:effectLst/>
                <a:uLnTx/>
                <a:uFillTx/>
                <a:latin typeface="Calibri"/>
                <a:ea typeface="Calibri"/>
                <a:cs typeface="Calibri"/>
                <a:sym typeface="Calibri"/>
              </a:rPr>
              <a:t>This section represents the SDD for </a:t>
            </a:r>
            <a:r>
              <a:rPr kumimoji="0" lang="en-US" sz="2800" b="0" i="0" u="none" strike="noStrike" kern="0" cap="none" spc="0" normalizeH="0" baseline="0" noProof="0" dirty="0">
                <a:ln>
                  <a:noFill/>
                </a:ln>
                <a:solidFill>
                  <a:srgbClr val="1F497D"/>
                </a:solidFill>
                <a:effectLst/>
                <a:uLnTx/>
                <a:uFillTx/>
                <a:latin typeface="Calibri"/>
                <a:ea typeface="Calibri"/>
                <a:cs typeface="Calibri"/>
                <a:sym typeface="Calibri"/>
              </a:rPr>
              <a:t>A3</a:t>
            </a:r>
            <a:endParaRPr kumimoji="0" lang="en-US" sz="1800" b="0" i="0" u="none" strike="noStrike" kern="0" cap="none" spc="0" normalizeH="0" baseline="0" noProof="0" dirty="0">
              <a:ln>
                <a:noFill/>
              </a:ln>
              <a:solidFill>
                <a:srgbClr val="1F497D"/>
              </a:solidFill>
              <a:effectLst/>
              <a:uLnTx/>
              <a:uFillTx/>
              <a:latin typeface="Calibri"/>
              <a:ea typeface="Calibri"/>
              <a:cs typeface="Calibri"/>
              <a:sym typeface="Calibri"/>
            </a:endParaRPr>
          </a:p>
          <a:p>
            <a:pPr marL="1257300" lvl="2">
              <a:spcBef>
                <a:spcPts val="640"/>
              </a:spcBef>
              <a:buSzPts val="3200"/>
            </a:pPr>
            <a:r>
              <a:rPr lang="en-US" sz="2000" dirty="0"/>
              <a:t>Section 8: Test Cases</a:t>
            </a:r>
          </a:p>
          <a:p>
            <a:pPr marL="1371600" lvl="3" indent="0">
              <a:spcBef>
                <a:spcPts val="640"/>
              </a:spcBef>
              <a:buClr>
                <a:srgbClr val="000000"/>
              </a:buClr>
              <a:buSzPts val="3200"/>
              <a:buNone/>
              <a:defRPr/>
            </a:pPr>
            <a:r>
              <a:rPr kumimoji="0" lang="en-US" sz="1600" b="0" i="0" u="none" strike="noStrike" kern="0" cap="none" spc="0" normalizeH="0" baseline="0" noProof="0" dirty="0">
                <a:ln>
                  <a:noFill/>
                </a:ln>
                <a:solidFill>
                  <a:srgbClr val="1F497D"/>
                </a:solidFill>
                <a:effectLst/>
                <a:uLnTx/>
                <a:uFillTx/>
                <a:latin typeface="Calibri"/>
                <a:ea typeface="Calibri"/>
                <a:cs typeface="Calibri"/>
                <a:sym typeface="Calibri"/>
              </a:rPr>
              <a:t>This section represents the STD for </a:t>
            </a:r>
            <a:r>
              <a:rPr kumimoji="0" lang="en-US" sz="3200" b="0" i="0" u="none" strike="noStrike" kern="0" cap="none" spc="0" normalizeH="0" baseline="0" noProof="0" dirty="0">
                <a:ln>
                  <a:noFill/>
                </a:ln>
                <a:solidFill>
                  <a:srgbClr val="1F497D"/>
                </a:solidFill>
                <a:effectLst/>
                <a:uLnTx/>
                <a:uFillTx/>
                <a:latin typeface="Calibri"/>
                <a:ea typeface="Calibri"/>
                <a:cs typeface="Calibri"/>
                <a:sym typeface="Calibri"/>
              </a:rPr>
              <a:t>A4</a:t>
            </a:r>
            <a:endParaRPr kumimoji="0" lang="en-US" sz="1600" b="0" i="0" u="none" strike="noStrike" kern="0" cap="none" spc="0" normalizeH="0" baseline="0" noProof="0" dirty="0">
              <a:ln>
                <a:noFill/>
              </a:ln>
              <a:solidFill>
                <a:srgbClr val="1F497D"/>
              </a:solidFill>
              <a:effectLst/>
              <a:uLnTx/>
              <a:uFillTx/>
              <a:latin typeface="Calibri"/>
              <a:ea typeface="Calibri"/>
              <a:cs typeface="Calibri"/>
              <a:sym typeface="Calibri"/>
            </a:endParaRPr>
          </a:p>
          <a:p>
            <a:pPr marL="457200" marR="0" lvl="1" indent="0" algn="l" defTabSz="914400" rtl="0" eaLnBrk="1" fontAlgn="auto" latinLnBrk="0" hangingPunct="1">
              <a:lnSpc>
                <a:spcPct val="100000"/>
              </a:lnSpc>
              <a:spcBef>
                <a:spcPts val="640"/>
              </a:spcBef>
              <a:spcAft>
                <a:spcPts val="0"/>
              </a:spcAft>
              <a:buClr>
                <a:srgbClr val="000000"/>
              </a:buClr>
              <a:buSzPts val="3200"/>
              <a:buFont typeface="Arial"/>
              <a:buNone/>
              <a:tabLst/>
              <a:defRPr/>
            </a:pPr>
            <a:endParaRPr kumimoji="0" lang="en-US" b="0" i="0" u="none" strike="noStrike" kern="0" cap="none" spc="0" normalizeH="0" baseline="0" noProof="0" dirty="0">
              <a:ln>
                <a:noFill/>
              </a:ln>
              <a:solidFill>
                <a:srgbClr val="1F497D"/>
              </a:solidFill>
              <a:effectLst/>
              <a:uLnTx/>
              <a:uFillTx/>
              <a:latin typeface="Calibri"/>
              <a:ea typeface="Calibri"/>
              <a:cs typeface="Calibri"/>
              <a:sym typeface="Calibri"/>
            </a:endParaRPr>
          </a:p>
          <a:p>
            <a:pPr indent="-457200">
              <a:spcBef>
                <a:spcPts val="640"/>
              </a:spcBef>
              <a:buSzPts val="3200"/>
              <a:buFont typeface="Arial" panose="020B0604020202020204" pitchFamily="34" charset="0"/>
              <a:buChar char="•"/>
            </a:pPr>
            <a:endParaRPr sz="2800" dirty="0"/>
          </a:p>
        </p:txBody>
      </p:sp>
      <p:sp>
        <p:nvSpPr>
          <p:cNvPr id="965" name="Google Shape;965;p8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Prepared by </a:t>
            </a:r>
            <a:r>
              <a:rPr lang="en-US" dirty="0" err="1"/>
              <a:t>Shahliza</a:t>
            </a:r>
            <a:r>
              <a:rPr lang="en-US" dirty="0"/>
              <a:t> Abd Halim</a:t>
            </a:r>
            <a:endParaRPr dirty="0"/>
          </a:p>
        </p:txBody>
      </p:sp>
      <p:sp>
        <p:nvSpPr>
          <p:cNvPr id="966" name="Google Shape;966;p8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967" name="Google Shape;967;p8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2024</a:t>
            </a:r>
            <a:endParaRPr dirty="0"/>
          </a:p>
        </p:txBody>
      </p:sp>
    </p:spTree>
    <p:extLst>
      <p:ext uri="{BB962C8B-B14F-4D97-AF65-F5344CB8AC3E}">
        <p14:creationId xmlns:p14="http://schemas.microsoft.com/office/powerpoint/2010/main" val="423727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1A002-91BD-A942-1D72-088090866778}"/>
              </a:ext>
            </a:extLst>
          </p:cNvPr>
          <p:cNvSpPr>
            <a:spLocks noGrp="1"/>
          </p:cNvSpPr>
          <p:nvPr>
            <p:ph type="title"/>
          </p:nvPr>
        </p:nvSpPr>
        <p:spPr/>
        <p:txBody>
          <a:bodyPr>
            <a:normAutofit fontScale="90000"/>
          </a:bodyPr>
          <a:lstStyle/>
          <a:p>
            <a:r>
              <a:rPr lang="en-US" dirty="0"/>
              <a:t>Process to complete the System Documentation Template </a:t>
            </a:r>
            <a:endParaRPr lang="en-MY" dirty="0"/>
          </a:p>
        </p:txBody>
      </p:sp>
      <p:sp>
        <p:nvSpPr>
          <p:cNvPr id="3" name="Text Placeholder 2">
            <a:extLst>
              <a:ext uri="{FF2B5EF4-FFF2-40B4-BE49-F238E27FC236}">
                <a16:creationId xmlns:a16="http://schemas.microsoft.com/office/drawing/2014/main" id="{28AB2AF0-A6E3-A690-0F58-3BF0DB1CBB8E}"/>
              </a:ext>
            </a:extLst>
          </p:cNvPr>
          <p:cNvSpPr>
            <a:spLocks noGrp="1"/>
          </p:cNvSpPr>
          <p:nvPr>
            <p:ph type="body" idx="1"/>
          </p:nvPr>
        </p:nvSpPr>
        <p:spPr/>
        <p:txBody>
          <a:bodyPr>
            <a:normAutofit fontScale="92500" lnSpcReduction="10000"/>
          </a:bodyPr>
          <a:lstStyle/>
          <a:p>
            <a:r>
              <a:rPr lang="en-US" dirty="0"/>
              <a:t>When you have identified and confirm the features you want to develop from A1, you can start doing A2.</a:t>
            </a:r>
          </a:p>
          <a:p>
            <a:r>
              <a:rPr lang="en-US" dirty="0"/>
              <a:t>When you completed A2, submit A1 (correction) together with A2 (Section 1-2)</a:t>
            </a:r>
          </a:p>
          <a:p>
            <a:r>
              <a:rPr lang="en-US" dirty="0"/>
              <a:t>When you completed A3, submit A2 (1-2 </a:t>
            </a:r>
            <a:r>
              <a:rPr lang="en-US" sz="1900" dirty="0"/>
              <a:t>update with correction</a:t>
            </a:r>
            <a:r>
              <a:rPr lang="en-US" dirty="0"/>
              <a:t>) together with A3 (Section 3- 7)</a:t>
            </a:r>
          </a:p>
          <a:p>
            <a:r>
              <a:rPr lang="en-US" dirty="0"/>
              <a:t>When you completed A4, submit together with A2 (section 1-2),  A3 (Section 3- 7</a:t>
            </a:r>
            <a:r>
              <a:rPr lang="en-US" sz="3200" dirty="0"/>
              <a:t> </a:t>
            </a:r>
            <a:r>
              <a:rPr lang="en-US" sz="1500" dirty="0"/>
              <a:t>update with correction</a:t>
            </a:r>
            <a:r>
              <a:rPr lang="en-US" dirty="0"/>
              <a:t>) together with A4 (Section 8)</a:t>
            </a:r>
          </a:p>
          <a:p>
            <a:endParaRPr lang="en-US" dirty="0"/>
          </a:p>
          <a:p>
            <a:endParaRPr lang="en-MY" dirty="0"/>
          </a:p>
        </p:txBody>
      </p:sp>
      <p:sp>
        <p:nvSpPr>
          <p:cNvPr id="4" name="Slide Number Placeholder 3">
            <a:extLst>
              <a:ext uri="{FF2B5EF4-FFF2-40B4-BE49-F238E27FC236}">
                <a16:creationId xmlns:a16="http://schemas.microsoft.com/office/drawing/2014/main" id="{7A5FBEC9-49F4-E907-B363-DA8CD573B9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2275590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3">
          <a:extLst>
            <a:ext uri="{FF2B5EF4-FFF2-40B4-BE49-F238E27FC236}">
              <a16:creationId xmlns:a16="http://schemas.microsoft.com/office/drawing/2014/main" id="{8255F137-B124-106C-5083-EFA7A8F48A05}"/>
            </a:ext>
          </a:extLst>
        </p:cNvPr>
        <p:cNvGrpSpPr/>
        <p:nvPr/>
      </p:nvGrpSpPr>
      <p:grpSpPr>
        <a:xfrm>
          <a:off x="0" y="0"/>
          <a:ext cx="0" cy="0"/>
          <a:chOff x="0" y="0"/>
          <a:chExt cx="0" cy="0"/>
        </a:xfrm>
      </p:grpSpPr>
      <p:sp>
        <p:nvSpPr>
          <p:cNvPr id="954" name="Google Shape;954;p83">
            <a:extLst>
              <a:ext uri="{FF2B5EF4-FFF2-40B4-BE49-F238E27FC236}">
                <a16:creationId xmlns:a16="http://schemas.microsoft.com/office/drawing/2014/main" id="{3AC0F1F9-D979-8972-F4D6-E2EBD7291D15}"/>
              </a:ext>
            </a:extLst>
          </p:cNvPr>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Calibri"/>
              <a:buNone/>
            </a:pPr>
            <a:r>
              <a:rPr lang="en-US" dirty="0"/>
              <a:t>SRS sections which are </a:t>
            </a:r>
            <a:r>
              <a:rPr lang="en-US" sz="4000" dirty="0"/>
              <a:t>the same in both SRS Plan Driven and SRS Agile </a:t>
            </a:r>
            <a:endParaRPr dirty="0"/>
          </a:p>
        </p:txBody>
      </p:sp>
      <p:sp>
        <p:nvSpPr>
          <p:cNvPr id="955" name="Google Shape;955;p83">
            <a:extLst>
              <a:ext uri="{FF2B5EF4-FFF2-40B4-BE49-F238E27FC236}">
                <a16:creationId xmlns:a16="http://schemas.microsoft.com/office/drawing/2014/main" id="{F72C910B-8A20-6657-ECBB-EA3CF3BB536E}"/>
              </a:ext>
            </a:extLst>
          </p:cNvPr>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rgbClr val="888888"/>
              </a:buClr>
              <a:buSzPts val="2000"/>
              <a:buNone/>
            </a:pPr>
            <a:r>
              <a:rPr lang="en-US" dirty="0"/>
              <a:t>Software Requirements Specification (SRS)</a:t>
            </a:r>
            <a:endParaRPr dirty="0"/>
          </a:p>
        </p:txBody>
      </p:sp>
      <p:sp>
        <p:nvSpPr>
          <p:cNvPr id="956" name="Google Shape;956;p83">
            <a:extLst>
              <a:ext uri="{FF2B5EF4-FFF2-40B4-BE49-F238E27FC236}">
                <a16:creationId xmlns:a16="http://schemas.microsoft.com/office/drawing/2014/main" id="{8A2129DC-F176-19D4-45C5-7270AAEB5E60}"/>
              </a:ext>
            </a:extLst>
          </p:cNvPr>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Prepared by </a:t>
            </a:r>
            <a:r>
              <a:rPr lang="en-US" dirty="0" err="1"/>
              <a:t>Shahliza</a:t>
            </a:r>
            <a:r>
              <a:rPr lang="en-US" dirty="0"/>
              <a:t> Abd Halim</a:t>
            </a:r>
            <a:endParaRPr dirty="0"/>
          </a:p>
        </p:txBody>
      </p:sp>
      <p:sp>
        <p:nvSpPr>
          <p:cNvPr id="957" name="Google Shape;957;p83">
            <a:extLst>
              <a:ext uri="{FF2B5EF4-FFF2-40B4-BE49-F238E27FC236}">
                <a16:creationId xmlns:a16="http://schemas.microsoft.com/office/drawing/2014/main" id="{7AE8C8BC-738A-6227-D534-E30598A885F6}"/>
              </a:ext>
            </a:extLst>
          </p:cNvPr>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958" name="Google Shape;958;p83">
            <a:extLst>
              <a:ext uri="{FF2B5EF4-FFF2-40B4-BE49-F238E27FC236}">
                <a16:creationId xmlns:a16="http://schemas.microsoft.com/office/drawing/2014/main" id="{B3CF5D83-7FE2-ED9C-B6F6-7F2E920175F7}"/>
              </a:ext>
            </a:extLst>
          </p:cNvPr>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2024</a:t>
            </a:r>
            <a:endParaRPr dirty="0"/>
          </a:p>
        </p:txBody>
      </p:sp>
    </p:spTree>
    <p:extLst>
      <p:ext uri="{BB962C8B-B14F-4D97-AF65-F5344CB8AC3E}">
        <p14:creationId xmlns:p14="http://schemas.microsoft.com/office/powerpoint/2010/main" val="3705243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BBE7A-F37C-0362-16A6-527FFB9F00DF}"/>
              </a:ext>
            </a:extLst>
          </p:cNvPr>
          <p:cNvSpPr>
            <a:spLocks noGrp="1"/>
          </p:cNvSpPr>
          <p:nvPr>
            <p:ph type="title"/>
          </p:nvPr>
        </p:nvSpPr>
        <p:spPr>
          <a:xfrm>
            <a:off x="1252025" y="63809"/>
            <a:ext cx="8229600" cy="1143000"/>
          </a:xfrm>
        </p:spPr>
        <p:txBody>
          <a:bodyPr>
            <a:normAutofit fontScale="90000"/>
          </a:bodyPr>
          <a:lstStyle/>
          <a:p>
            <a:r>
              <a:rPr lang="en-US" dirty="0"/>
              <a:t>Revision Page (the same in both SRS Plan Driven and SRS Agile) </a:t>
            </a:r>
            <a:endParaRPr lang="en-MY" dirty="0"/>
          </a:p>
        </p:txBody>
      </p:sp>
      <p:sp>
        <p:nvSpPr>
          <p:cNvPr id="4" name="Slide Number Placeholder 3">
            <a:extLst>
              <a:ext uri="{FF2B5EF4-FFF2-40B4-BE49-F238E27FC236}">
                <a16:creationId xmlns:a16="http://schemas.microsoft.com/office/drawing/2014/main" id="{DADE5FA3-83F2-4297-4B5C-AB53D2D4D4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pic>
        <p:nvPicPr>
          <p:cNvPr id="6" name="Picture 5">
            <a:extLst>
              <a:ext uri="{FF2B5EF4-FFF2-40B4-BE49-F238E27FC236}">
                <a16:creationId xmlns:a16="http://schemas.microsoft.com/office/drawing/2014/main" id="{971EC209-05AB-3D15-6A92-1C4AF5263AFD}"/>
              </a:ext>
            </a:extLst>
          </p:cNvPr>
          <p:cNvPicPr>
            <a:picLocks noChangeAspect="1"/>
          </p:cNvPicPr>
          <p:nvPr/>
        </p:nvPicPr>
        <p:blipFill>
          <a:blip r:embed="rId2"/>
          <a:stretch>
            <a:fillRect/>
          </a:stretch>
        </p:blipFill>
        <p:spPr>
          <a:xfrm>
            <a:off x="50385" y="1530491"/>
            <a:ext cx="6294144" cy="4848260"/>
          </a:xfrm>
          <a:prstGeom prst="rect">
            <a:avLst/>
          </a:prstGeom>
        </p:spPr>
      </p:pic>
      <p:sp>
        <p:nvSpPr>
          <p:cNvPr id="7" name="TextBox 6">
            <a:extLst>
              <a:ext uri="{FF2B5EF4-FFF2-40B4-BE49-F238E27FC236}">
                <a16:creationId xmlns:a16="http://schemas.microsoft.com/office/drawing/2014/main" id="{2F243B69-ED94-4B67-2952-36BB1E82306D}"/>
              </a:ext>
            </a:extLst>
          </p:cNvPr>
          <p:cNvSpPr txBox="1"/>
          <p:nvPr/>
        </p:nvSpPr>
        <p:spPr>
          <a:xfrm>
            <a:off x="6553200" y="2623021"/>
            <a:ext cx="2483372" cy="1384995"/>
          </a:xfrm>
          <a:prstGeom prst="rect">
            <a:avLst/>
          </a:prstGeom>
          <a:noFill/>
        </p:spPr>
        <p:txBody>
          <a:bodyPr wrap="none" rtlCol="0">
            <a:spAutoFit/>
          </a:bodyPr>
          <a:lstStyle/>
          <a:p>
            <a:r>
              <a:rPr lang="en-US" dirty="0">
                <a:solidFill>
                  <a:srgbClr val="0070C0"/>
                </a:solidFill>
              </a:rPr>
              <a:t>As a team you have to show </a:t>
            </a:r>
          </a:p>
          <a:p>
            <a:r>
              <a:rPr lang="en-US" dirty="0">
                <a:solidFill>
                  <a:srgbClr val="0070C0"/>
                </a:solidFill>
              </a:rPr>
              <a:t>how the task are distributed </a:t>
            </a:r>
          </a:p>
          <a:p>
            <a:r>
              <a:rPr lang="en-US" dirty="0">
                <a:solidFill>
                  <a:srgbClr val="0070C0"/>
                </a:solidFill>
              </a:rPr>
              <a:t>and explain truthfully which </a:t>
            </a:r>
          </a:p>
          <a:p>
            <a:r>
              <a:rPr lang="en-US" dirty="0">
                <a:solidFill>
                  <a:srgbClr val="0070C0"/>
                </a:solidFill>
              </a:rPr>
              <a:t>team member who did not </a:t>
            </a:r>
          </a:p>
          <a:p>
            <a:r>
              <a:rPr lang="en-US" dirty="0">
                <a:solidFill>
                  <a:srgbClr val="0070C0"/>
                </a:solidFill>
              </a:rPr>
              <a:t>participate in completing the </a:t>
            </a:r>
          </a:p>
          <a:p>
            <a:r>
              <a:rPr lang="en-US" dirty="0">
                <a:solidFill>
                  <a:srgbClr val="0070C0"/>
                </a:solidFill>
              </a:rPr>
              <a:t>document </a:t>
            </a:r>
            <a:endParaRPr lang="en-MY" dirty="0">
              <a:solidFill>
                <a:srgbClr val="0070C0"/>
              </a:solidFill>
            </a:endParaRPr>
          </a:p>
        </p:txBody>
      </p:sp>
      <p:sp>
        <p:nvSpPr>
          <p:cNvPr id="9" name="Arrow: Down 8">
            <a:extLst>
              <a:ext uri="{FF2B5EF4-FFF2-40B4-BE49-F238E27FC236}">
                <a16:creationId xmlns:a16="http://schemas.microsoft.com/office/drawing/2014/main" id="{3D6E9377-DC2F-D395-603A-6DC9F61ED630}"/>
              </a:ext>
            </a:extLst>
          </p:cNvPr>
          <p:cNvSpPr/>
          <p:nvPr/>
        </p:nvSpPr>
        <p:spPr>
          <a:xfrm rot="3626727">
            <a:off x="5982898" y="3567021"/>
            <a:ext cx="493252" cy="73683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 name="Arrow: Down 9">
            <a:extLst>
              <a:ext uri="{FF2B5EF4-FFF2-40B4-BE49-F238E27FC236}">
                <a16:creationId xmlns:a16="http://schemas.microsoft.com/office/drawing/2014/main" id="{92F33ED5-618A-5A16-7085-E470CCC9F2A8}"/>
              </a:ext>
            </a:extLst>
          </p:cNvPr>
          <p:cNvSpPr/>
          <p:nvPr/>
        </p:nvSpPr>
        <p:spPr>
          <a:xfrm rot="3626727">
            <a:off x="6029791" y="5096630"/>
            <a:ext cx="493252" cy="73683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TextBox 10">
            <a:extLst>
              <a:ext uri="{FF2B5EF4-FFF2-40B4-BE49-F238E27FC236}">
                <a16:creationId xmlns:a16="http://schemas.microsoft.com/office/drawing/2014/main" id="{98B60B48-FC04-CB6B-F207-516C21E1FE39}"/>
              </a:ext>
            </a:extLst>
          </p:cNvPr>
          <p:cNvSpPr txBox="1"/>
          <p:nvPr/>
        </p:nvSpPr>
        <p:spPr>
          <a:xfrm>
            <a:off x="6718547" y="4960005"/>
            <a:ext cx="2263761" cy="1169551"/>
          </a:xfrm>
          <a:prstGeom prst="rect">
            <a:avLst/>
          </a:prstGeom>
          <a:noFill/>
        </p:spPr>
        <p:txBody>
          <a:bodyPr wrap="none" rtlCol="0">
            <a:spAutoFit/>
          </a:bodyPr>
          <a:lstStyle/>
          <a:p>
            <a:r>
              <a:rPr lang="en-US" dirty="0">
                <a:solidFill>
                  <a:srgbClr val="0070C0"/>
                </a:solidFill>
              </a:rPr>
              <a:t>Since you completed the </a:t>
            </a:r>
          </a:p>
          <a:p>
            <a:r>
              <a:rPr lang="en-US" dirty="0">
                <a:solidFill>
                  <a:srgbClr val="0070C0"/>
                </a:solidFill>
              </a:rPr>
              <a:t>system documentation </a:t>
            </a:r>
          </a:p>
          <a:p>
            <a:r>
              <a:rPr lang="en-US" dirty="0">
                <a:solidFill>
                  <a:srgbClr val="0070C0"/>
                </a:solidFill>
              </a:rPr>
              <a:t>incrementally you have to </a:t>
            </a:r>
          </a:p>
          <a:p>
            <a:r>
              <a:rPr lang="en-US" dirty="0">
                <a:solidFill>
                  <a:srgbClr val="0070C0"/>
                </a:solidFill>
              </a:rPr>
              <a:t>show the versions of the</a:t>
            </a:r>
          </a:p>
          <a:p>
            <a:r>
              <a:rPr lang="en-US" dirty="0">
                <a:solidFill>
                  <a:srgbClr val="0070C0"/>
                </a:solidFill>
              </a:rPr>
              <a:t>document</a:t>
            </a:r>
          </a:p>
        </p:txBody>
      </p:sp>
    </p:spTree>
    <p:extLst>
      <p:ext uri="{BB962C8B-B14F-4D97-AF65-F5344CB8AC3E}">
        <p14:creationId xmlns:p14="http://schemas.microsoft.com/office/powerpoint/2010/main" val="1987338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p85"/>
          <p:cNvSpPr txBox="1">
            <a:spLocks noGrp="1"/>
          </p:cNvSpPr>
          <p:nvPr>
            <p:ph type="title"/>
          </p:nvPr>
        </p:nvSpPr>
        <p:spPr>
          <a:xfrm>
            <a:off x="457200" y="274638"/>
            <a:ext cx="8510954"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sz="4000" dirty="0"/>
              <a:t>Section 1</a:t>
            </a:r>
            <a:endParaRPr sz="4000" dirty="0"/>
          </a:p>
        </p:txBody>
      </p:sp>
      <p:sp>
        <p:nvSpPr>
          <p:cNvPr id="975" name="Google Shape;975;p8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Prepared by </a:t>
            </a:r>
            <a:r>
              <a:rPr lang="en-US" dirty="0" err="1"/>
              <a:t>Shahliza</a:t>
            </a:r>
            <a:r>
              <a:rPr lang="en-US" dirty="0"/>
              <a:t> Abd Halim</a:t>
            </a:r>
            <a:endParaRPr dirty="0"/>
          </a:p>
        </p:txBody>
      </p:sp>
      <p:sp>
        <p:nvSpPr>
          <p:cNvPr id="976" name="Google Shape;976;p8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977" name="Google Shape;977;p8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2024</a:t>
            </a:r>
            <a:endParaRPr dirty="0"/>
          </a:p>
        </p:txBody>
      </p:sp>
      <p:pic>
        <p:nvPicPr>
          <p:cNvPr id="5" name="Picture 4">
            <a:extLst>
              <a:ext uri="{FF2B5EF4-FFF2-40B4-BE49-F238E27FC236}">
                <a16:creationId xmlns:a16="http://schemas.microsoft.com/office/drawing/2014/main" id="{AFC193D3-93C7-B3D6-8BCD-D70591305D89}"/>
              </a:ext>
            </a:extLst>
          </p:cNvPr>
          <p:cNvPicPr>
            <a:picLocks noChangeAspect="1"/>
          </p:cNvPicPr>
          <p:nvPr/>
        </p:nvPicPr>
        <p:blipFill>
          <a:blip r:embed="rId3"/>
          <a:stretch>
            <a:fillRect/>
          </a:stretch>
        </p:blipFill>
        <p:spPr>
          <a:xfrm>
            <a:off x="349108" y="1592230"/>
            <a:ext cx="6030590" cy="4533933"/>
          </a:xfrm>
          <a:prstGeom prst="rect">
            <a:avLst/>
          </a:prstGeom>
        </p:spPr>
      </p:pic>
      <p:sp>
        <p:nvSpPr>
          <p:cNvPr id="6" name="TextBox 5">
            <a:extLst>
              <a:ext uri="{FF2B5EF4-FFF2-40B4-BE49-F238E27FC236}">
                <a16:creationId xmlns:a16="http://schemas.microsoft.com/office/drawing/2014/main" id="{DD89324E-C5F0-E647-3A59-BC66BA72AF86}"/>
              </a:ext>
            </a:extLst>
          </p:cNvPr>
          <p:cNvSpPr txBox="1"/>
          <p:nvPr/>
        </p:nvSpPr>
        <p:spPr>
          <a:xfrm>
            <a:off x="6553200" y="2623021"/>
            <a:ext cx="2561920" cy="1384995"/>
          </a:xfrm>
          <a:prstGeom prst="rect">
            <a:avLst/>
          </a:prstGeom>
          <a:noFill/>
        </p:spPr>
        <p:txBody>
          <a:bodyPr wrap="none" rtlCol="0">
            <a:spAutoFit/>
          </a:bodyPr>
          <a:lstStyle/>
          <a:p>
            <a:r>
              <a:rPr lang="en-US" dirty="0">
                <a:solidFill>
                  <a:srgbClr val="0070C0"/>
                </a:solidFill>
              </a:rPr>
              <a:t>Follow the instruction </a:t>
            </a:r>
          </a:p>
          <a:p>
            <a:r>
              <a:rPr lang="en-US" dirty="0">
                <a:solidFill>
                  <a:srgbClr val="0070C0"/>
                </a:solidFill>
              </a:rPr>
              <a:t>in red to complete each </a:t>
            </a:r>
          </a:p>
          <a:p>
            <a:r>
              <a:rPr lang="en-US" dirty="0">
                <a:solidFill>
                  <a:srgbClr val="0070C0"/>
                </a:solidFill>
              </a:rPr>
              <a:t>Subsections. Make sure </a:t>
            </a:r>
          </a:p>
          <a:p>
            <a:r>
              <a:rPr lang="en-US" dirty="0">
                <a:solidFill>
                  <a:srgbClr val="0070C0"/>
                </a:solidFill>
              </a:rPr>
              <a:t>complete all the sections </a:t>
            </a:r>
          </a:p>
          <a:p>
            <a:r>
              <a:rPr lang="en-US" dirty="0">
                <a:solidFill>
                  <a:srgbClr val="0070C0"/>
                </a:solidFill>
              </a:rPr>
              <a:t>clear and precise with a short </a:t>
            </a:r>
          </a:p>
          <a:p>
            <a:r>
              <a:rPr lang="en-US" dirty="0">
                <a:solidFill>
                  <a:srgbClr val="0070C0"/>
                </a:solidFill>
              </a:rPr>
              <a:t>sentence </a:t>
            </a:r>
            <a:endParaRPr lang="en-MY" dirty="0">
              <a:solidFill>
                <a:srgbClr val="0070C0"/>
              </a:solidFill>
            </a:endParaRPr>
          </a:p>
        </p:txBody>
      </p:sp>
      <p:sp>
        <p:nvSpPr>
          <p:cNvPr id="8" name="Right Brace 7">
            <a:extLst>
              <a:ext uri="{FF2B5EF4-FFF2-40B4-BE49-F238E27FC236}">
                <a16:creationId xmlns:a16="http://schemas.microsoft.com/office/drawing/2014/main" id="{F005E155-7EA6-9DE8-D667-7C5422E19D5C}"/>
              </a:ext>
            </a:extLst>
          </p:cNvPr>
          <p:cNvSpPr/>
          <p:nvPr/>
        </p:nvSpPr>
        <p:spPr>
          <a:xfrm>
            <a:off x="6049107" y="1941342"/>
            <a:ext cx="611669" cy="316523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9" name="TextBox 8">
            <a:extLst>
              <a:ext uri="{FF2B5EF4-FFF2-40B4-BE49-F238E27FC236}">
                <a16:creationId xmlns:a16="http://schemas.microsoft.com/office/drawing/2014/main" id="{F78A2F72-9EEC-6D96-08D3-04A840BC5941}"/>
              </a:ext>
            </a:extLst>
          </p:cNvPr>
          <p:cNvSpPr txBox="1"/>
          <p:nvPr/>
        </p:nvSpPr>
        <p:spPr>
          <a:xfrm>
            <a:off x="6359161" y="5090280"/>
            <a:ext cx="2920992" cy="1384995"/>
          </a:xfrm>
          <a:prstGeom prst="rect">
            <a:avLst/>
          </a:prstGeom>
          <a:noFill/>
        </p:spPr>
        <p:txBody>
          <a:bodyPr wrap="none" rtlCol="0">
            <a:spAutoFit/>
          </a:bodyPr>
          <a:lstStyle/>
          <a:p>
            <a:r>
              <a:rPr lang="en-US" dirty="0">
                <a:solidFill>
                  <a:srgbClr val="0070C0"/>
                </a:solidFill>
              </a:rPr>
              <a:t>Make sure you </a:t>
            </a:r>
            <a:r>
              <a:rPr lang="en-US" dirty="0" err="1">
                <a:solidFill>
                  <a:srgbClr val="0070C0"/>
                </a:solidFill>
              </a:rPr>
              <a:t>indentify</a:t>
            </a:r>
            <a:r>
              <a:rPr lang="en-US" dirty="0">
                <a:solidFill>
                  <a:srgbClr val="0070C0"/>
                </a:solidFill>
              </a:rPr>
              <a:t> a </a:t>
            </a:r>
          </a:p>
          <a:p>
            <a:r>
              <a:rPr lang="en-US" dirty="0">
                <a:solidFill>
                  <a:srgbClr val="0070C0"/>
                </a:solidFill>
              </a:rPr>
              <a:t>suitable acronyms from </a:t>
            </a:r>
          </a:p>
          <a:p>
            <a:r>
              <a:rPr lang="en-US" dirty="0">
                <a:solidFill>
                  <a:srgbClr val="0070C0"/>
                </a:solidFill>
              </a:rPr>
              <a:t>our domain area</a:t>
            </a:r>
          </a:p>
          <a:p>
            <a:r>
              <a:rPr lang="en-US" dirty="0">
                <a:solidFill>
                  <a:srgbClr val="0070C0"/>
                </a:solidFill>
              </a:rPr>
              <a:t>For example what is acronym </a:t>
            </a:r>
          </a:p>
          <a:p>
            <a:r>
              <a:rPr lang="en-US" dirty="0">
                <a:solidFill>
                  <a:srgbClr val="0070C0"/>
                </a:solidFill>
              </a:rPr>
              <a:t>DASS represent for the domain of </a:t>
            </a:r>
          </a:p>
          <a:p>
            <a:r>
              <a:rPr lang="en-US" dirty="0">
                <a:solidFill>
                  <a:srgbClr val="0070C0"/>
                </a:solidFill>
              </a:rPr>
              <a:t>mental health</a:t>
            </a:r>
            <a:endParaRPr lang="en-MY" dirty="0">
              <a:solidFill>
                <a:srgbClr val="0070C0"/>
              </a:solidFill>
            </a:endParaRPr>
          </a:p>
        </p:txBody>
      </p:sp>
      <p:sp>
        <p:nvSpPr>
          <p:cNvPr id="10" name="Arrow: Down 9">
            <a:extLst>
              <a:ext uri="{FF2B5EF4-FFF2-40B4-BE49-F238E27FC236}">
                <a16:creationId xmlns:a16="http://schemas.microsoft.com/office/drawing/2014/main" id="{58CA5348-2D1E-F956-52BD-DFCD47F63C26}"/>
              </a:ext>
            </a:extLst>
          </p:cNvPr>
          <p:cNvSpPr/>
          <p:nvPr/>
        </p:nvSpPr>
        <p:spPr>
          <a:xfrm rot="5400000">
            <a:off x="5666185" y="5156455"/>
            <a:ext cx="493252" cy="73683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1519034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60C25-C97C-299D-93CF-06ADC5243A55}"/>
              </a:ext>
            </a:extLst>
          </p:cNvPr>
          <p:cNvSpPr>
            <a:spLocks noGrp="1"/>
          </p:cNvSpPr>
          <p:nvPr>
            <p:ph type="title"/>
          </p:nvPr>
        </p:nvSpPr>
        <p:spPr>
          <a:xfrm>
            <a:off x="668215" y="204299"/>
            <a:ext cx="8229600" cy="1143000"/>
          </a:xfrm>
        </p:spPr>
        <p:txBody>
          <a:bodyPr>
            <a:noAutofit/>
          </a:bodyPr>
          <a:lstStyle/>
          <a:p>
            <a:r>
              <a:rPr lang="en-US" sz="3200" dirty="0"/>
              <a:t>Section 2.4 Performance and Other Requirements</a:t>
            </a:r>
            <a:endParaRPr lang="en-MY" sz="3200" dirty="0"/>
          </a:p>
        </p:txBody>
      </p:sp>
      <p:sp>
        <p:nvSpPr>
          <p:cNvPr id="4" name="Slide Number Placeholder 3">
            <a:extLst>
              <a:ext uri="{FF2B5EF4-FFF2-40B4-BE49-F238E27FC236}">
                <a16:creationId xmlns:a16="http://schemas.microsoft.com/office/drawing/2014/main" id="{533312E9-1B60-5015-D852-5396F542D4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pic>
        <p:nvPicPr>
          <p:cNvPr id="6" name="Picture 5">
            <a:extLst>
              <a:ext uri="{FF2B5EF4-FFF2-40B4-BE49-F238E27FC236}">
                <a16:creationId xmlns:a16="http://schemas.microsoft.com/office/drawing/2014/main" id="{5F7AD25D-9363-C1E6-7ABE-DA28AEC7A226}"/>
              </a:ext>
            </a:extLst>
          </p:cNvPr>
          <p:cNvPicPr>
            <a:picLocks noChangeAspect="1"/>
          </p:cNvPicPr>
          <p:nvPr/>
        </p:nvPicPr>
        <p:blipFill>
          <a:blip r:embed="rId2"/>
          <a:stretch>
            <a:fillRect/>
          </a:stretch>
        </p:blipFill>
        <p:spPr>
          <a:xfrm>
            <a:off x="226601" y="1600200"/>
            <a:ext cx="6005387" cy="4779498"/>
          </a:xfrm>
          <a:prstGeom prst="rect">
            <a:avLst/>
          </a:prstGeom>
        </p:spPr>
      </p:pic>
      <p:sp>
        <p:nvSpPr>
          <p:cNvPr id="7" name="TextBox 6">
            <a:extLst>
              <a:ext uri="{FF2B5EF4-FFF2-40B4-BE49-F238E27FC236}">
                <a16:creationId xmlns:a16="http://schemas.microsoft.com/office/drawing/2014/main" id="{88DFDB7E-E184-8DE1-50EB-A2F302A24647}"/>
              </a:ext>
            </a:extLst>
          </p:cNvPr>
          <p:cNvSpPr txBox="1"/>
          <p:nvPr/>
        </p:nvSpPr>
        <p:spPr>
          <a:xfrm>
            <a:off x="6073929" y="1517087"/>
            <a:ext cx="3119765" cy="2031325"/>
          </a:xfrm>
          <a:prstGeom prst="rect">
            <a:avLst/>
          </a:prstGeom>
          <a:noFill/>
        </p:spPr>
        <p:txBody>
          <a:bodyPr wrap="none" rtlCol="0">
            <a:spAutoFit/>
          </a:bodyPr>
          <a:lstStyle/>
          <a:p>
            <a:r>
              <a:rPr lang="en-US">
                <a:solidFill>
                  <a:srgbClr val="0070C0"/>
                </a:solidFill>
              </a:rPr>
              <a:t>This section is for you to</a:t>
            </a:r>
          </a:p>
          <a:p>
            <a:r>
              <a:rPr lang="en-US">
                <a:solidFill>
                  <a:srgbClr val="0070C0"/>
                </a:solidFill>
              </a:rPr>
              <a:t> describe your PRODUCT</a:t>
            </a:r>
          </a:p>
          <a:p>
            <a:r>
              <a:rPr lang="en-US">
                <a:solidFill>
                  <a:srgbClr val="0070C0"/>
                </a:solidFill>
              </a:rPr>
              <a:t> non functional requirements (NFR)</a:t>
            </a:r>
          </a:p>
          <a:p>
            <a:r>
              <a:rPr lang="en-US">
                <a:solidFill>
                  <a:srgbClr val="0070C0"/>
                </a:solidFill>
              </a:rPr>
              <a:t>Make sure you identify the MOST</a:t>
            </a:r>
          </a:p>
          <a:p>
            <a:r>
              <a:rPr lang="en-US">
                <a:solidFill>
                  <a:srgbClr val="0070C0"/>
                </a:solidFill>
              </a:rPr>
              <a:t>SUITABLE NFR and do not choose </a:t>
            </a:r>
          </a:p>
          <a:p>
            <a:r>
              <a:rPr lang="en-US">
                <a:solidFill>
                  <a:srgbClr val="0070C0"/>
                </a:solidFill>
              </a:rPr>
              <a:t>all the NFR because in real </a:t>
            </a:r>
          </a:p>
          <a:p>
            <a:r>
              <a:rPr lang="en-US">
                <a:solidFill>
                  <a:srgbClr val="0070C0"/>
                </a:solidFill>
              </a:rPr>
              <a:t>implementation NFR is implemented </a:t>
            </a:r>
          </a:p>
          <a:p>
            <a:r>
              <a:rPr lang="en-US">
                <a:solidFill>
                  <a:srgbClr val="0070C0"/>
                </a:solidFill>
              </a:rPr>
              <a:t> for the whole system and </a:t>
            </a:r>
          </a:p>
          <a:p>
            <a:r>
              <a:rPr lang="en-US">
                <a:solidFill>
                  <a:srgbClr val="0070C0"/>
                </a:solidFill>
              </a:rPr>
              <a:t>its costly to develop</a:t>
            </a:r>
            <a:endParaRPr lang="en-MY" dirty="0">
              <a:solidFill>
                <a:srgbClr val="0070C0"/>
              </a:solidFill>
            </a:endParaRPr>
          </a:p>
        </p:txBody>
      </p:sp>
      <p:sp>
        <p:nvSpPr>
          <p:cNvPr id="8" name="Arrow: Down 7">
            <a:extLst>
              <a:ext uri="{FF2B5EF4-FFF2-40B4-BE49-F238E27FC236}">
                <a16:creationId xmlns:a16="http://schemas.microsoft.com/office/drawing/2014/main" id="{43CD7803-5DB6-7A5B-5AA8-929A745B5598}"/>
              </a:ext>
            </a:extLst>
          </p:cNvPr>
          <p:cNvSpPr/>
          <p:nvPr/>
        </p:nvSpPr>
        <p:spPr>
          <a:xfrm rot="5400000">
            <a:off x="5391865" y="1470720"/>
            <a:ext cx="493252" cy="73683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4232970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FD864-B386-D08C-19F7-890E8C9959E7}"/>
              </a:ext>
            </a:extLst>
          </p:cNvPr>
          <p:cNvSpPr>
            <a:spLocks noGrp="1"/>
          </p:cNvSpPr>
          <p:nvPr>
            <p:ph type="title"/>
          </p:nvPr>
        </p:nvSpPr>
        <p:spPr>
          <a:xfrm>
            <a:off x="1033975" y="17585"/>
            <a:ext cx="8229600" cy="1143000"/>
          </a:xfrm>
        </p:spPr>
        <p:txBody>
          <a:bodyPr>
            <a:noAutofit/>
          </a:bodyPr>
          <a:lstStyle/>
          <a:p>
            <a:r>
              <a:rPr lang="en-US" sz="3200" dirty="0"/>
              <a:t>Section 2.5 Design Constraints</a:t>
            </a:r>
            <a:r>
              <a:rPr lang="en-US" sz="2800" dirty="0"/>
              <a:t/>
            </a:r>
            <a:br>
              <a:rPr lang="en-US" sz="2800" dirty="0"/>
            </a:br>
            <a:endParaRPr lang="en-MY" sz="2800" dirty="0"/>
          </a:p>
        </p:txBody>
      </p:sp>
      <p:sp>
        <p:nvSpPr>
          <p:cNvPr id="4" name="Slide Number Placeholder 3">
            <a:extLst>
              <a:ext uri="{FF2B5EF4-FFF2-40B4-BE49-F238E27FC236}">
                <a16:creationId xmlns:a16="http://schemas.microsoft.com/office/drawing/2014/main" id="{1E2EA259-15CF-98EA-FB33-B80692AA408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pic>
        <p:nvPicPr>
          <p:cNvPr id="6" name="Picture 5">
            <a:extLst>
              <a:ext uri="{FF2B5EF4-FFF2-40B4-BE49-F238E27FC236}">
                <a16:creationId xmlns:a16="http://schemas.microsoft.com/office/drawing/2014/main" id="{AAFB670E-B4AA-535D-60B8-BB1140EDC1CE}"/>
              </a:ext>
            </a:extLst>
          </p:cNvPr>
          <p:cNvPicPr>
            <a:picLocks noChangeAspect="1"/>
          </p:cNvPicPr>
          <p:nvPr/>
        </p:nvPicPr>
        <p:blipFill>
          <a:blip r:embed="rId2"/>
          <a:stretch>
            <a:fillRect/>
          </a:stretch>
        </p:blipFill>
        <p:spPr>
          <a:xfrm>
            <a:off x="274448" y="1641073"/>
            <a:ext cx="5929404" cy="4056342"/>
          </a:xfrm>
          <a:prstGeom prst="rect">
            <a:avLst/>
          </a:prstGeom>
        </p:spPr>
      </p:pic>
      <p:sp>
        <p:nvSpPr>
          <p:cNvPr id="7" name="TextBox 6">
            <a:extLst>
              <a:ext uri="{FF2B5EF4-FFF2-40B4-BE49-F238E27FC236}">
                <a16:creationId xmlns:a16="http://schemas.microsoft.com/office/drawing/2014/main" id="{7AF878E1-03D2-C557-62A5-57BF6E5F9B1D}"/>
              </a:ext>
            </a:extLst>
          </p:cNvPr>
          <p:cNvSpPr txBox="1"/>
          <p:nvPr/>
        </p:nvSpPr>
        <p:spPr>
          <a:xfrm>
            <a:off x="6239025" y="1641073"/>
            <a:ext cx="3023585" cy="1384995"/>
          </a:xfrm>
          <a:prstGeom prst="rect">
            <a:avLst/>
          </a:prstGeom>
          <a:noFill/>
        </p:spPr>
        <p:txBody>
          <a:bodyPr wrap="none" rtlCol="0">
            <a:spAutoFit/>
          </a:bodyPr>
          <a:lstStyle/>
          <a:p>
            <a:r>
              <a:rPr lang="en-US" dirty="0">
                <a:solidFill>
                  <a:srgbClr val="0070C0"/>
                </a:solidFill>
              </a:rPr>
              <a:t>This section is for you to</a:t>
            </a:r>
          </a:p>
          <a:p>
            <a:r>
              <a:rPr lang="en-US" dirty="0">
                <a:solidFill>
                  <a:srgbClr val="0070C0"/>
                </a:solidFill>
              </a:rPr>
              <a:t> describe your ORGANIZATIONAL </a:t>
            </a:r>
          </a:p>
          <a:p>
            <a:r>
              <a:rPr lang="en-US" dirty="0">
                <a:solidFill>
                  <a:srgbClr val="0070C0"/>
                </a:solidFill>
              </a:rPr>
              <a:t>and/ or  EXTERNAL non functional </a:t>
            </a:r>
          </a:p>
          <a:p>
            <a:r>
              <a:rPr lang="en-US" dirty="0">
                <a:solidFill>
                  <a:srgbClr val="0070C0"/>
                </a:solidFill>
              </a:rPr>
              <a:t>requirements (NFR)</a:t>
            </a:r>
          </a:p>
          <a:p>
            <a:endParaRPr lang="en-US" dirty="0">
              <a:solidFill>
                <a:srgbClr val="0070C0"/>
              </a:solidFill>
            </a:endParaRPr>
          </a:p>
          <a:p>
            <a:endParaRPr lang="en-MY" dirty="0">
              <a:solidFill>
                <a:srgbClr val="0070C0"/>
              </a:solidFill>
            </a:endParaRPr>
          </a:p>
        </p:txBody>
      </p:sp>
      <p:sp>
        <p:nvSpPr>
          <p:cNvPr id="8" name="Arrow: Down 7">
            <a:extLst>
              <a:ext uri="{FF2B5EF4-FFF2-40B4-BE49-F238E27FC236}">
                <a16:creationId xmlns:a16="http://schemas.microsoft.com/office/drawing/2014/main" id="{B9B457A5-52C2-305C-F1FD-146E7B6C5343}"/>
              </a:ext>
            </a:extLst>
          </p:cNvPr>
          <p:cNvSpPr/>
          <p:nvPr/>
        </p:nvSpPr>
        <p:spPr>
          <a:xfrm rot="5400000">
            <a:off x="5623982" y="1351308"/>
            <a:ext cx="493252" cy="73683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15247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p8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Calibri"/>
              <a:buNone/>
            </a:pPr>
            <a:r>
              <a:rPr lang="en-US" dirty="0"/>
              <a:t>SRS for Plan-Driven based system development </a:t>
            </a:r>
            <a:endParaRPr dirty="0"/>
          </a:p>
        </p:txBody>
      </p:sp>
      <p:sp>
        <p:nvSpPr>
          <p:cNvPr id="955" name="Google Shape;955;p8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rgbClr val="888888"/>
              </a:buClr>
              <a:buSzPts val="2000"/>
              <a:buNone/>
            </a:pPr>
            <a:r>
              <a:rPr lang="en-US" dirty="0"/>
              <a:t>Software Requirements Specification (SRS) Plant-Driven</a:t>
            </a:r>
            <a:endParaRPr dirty="0"/>
          </a:p>
        </p:txBody>
      </p:sp>
      <p:sp>
        <p:nvSpPr>
          <p:cNvPr id="956" name="Google Shape;956;p8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Prepared by </a:t>
            </a:r>
            <a:r>
              <a:rPr lang="en-US" dirty="0" err="1"/>
              <a:t>Shahliza</a:t>
            </a:r>
            <a:r>
              <a:rPr lang="en-US" dirty="0"/>
              <a:t> Abd Halim</a:t>
            </a:r>
          </a:p>
        </p:txBody>
      </p:sp>
      <p:sp>
        <p:nvSpPr>
          <p:cNvPr id="957" name="Google Shape;957;p8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958" name="Google Shape;958;p8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2024</a:t>
            </a:r>
            <a:endParaRPr dirty="0"/>
          </a:p>
        </p:txBody>
      </p:sp>
    </p:spTree>
    <p:extLst>
      <p:ext uri="{BB962C8B-B14F-4D97-AF65-F5344CB8AC3E}">
        <p14:creationId xmlns:p14="http://schemas.microsoft.com/office/powerpoint/2010/main" val="460946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p8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Section 2. Specific Requirements</a:t>
            </a:r>
            <a:endParaRPr dirty="0"/>
          </a:p>
        </p:txBody>
      </p:sp>
      <p:sp>
        <p:nvSpPr>
          <p:cNvPr id="985" name="Google Shape;985;p8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Prepared by </a:t>
            </a:r>
            <a:r>
              <a:rPr lang="en-US" dirty="0" err="1"/>
              <a:t>Shahliza</a:t>
            </a:r>
            <a:r>
              <a:rPr lang="en-US" dirty="0"/>
              <a:t> Abd Halim</a:t>
            </a:r>
          </a:p>
        </p:txBody>
      </p:sp>
      <p:sp>
        <p:nvSpPr>
          <p:cNvPr id="986" name="Google Shape;986;p8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987" name="Google Shape;987;p8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2024</a:t>
            </a:r>
            <a:endParaRPr dirty="0"/>
          </a:p>
        </p:txBody>
      </p:sp>
      <p:pic>
        <p:nvPicPr>
          <p:cNvPr id="4" name="Picture 3">
            <a:extLst>
              <a:ext uri="{FF2B5EF4-FFF2-40B4-BE49-F238E27FC236}">
                <a16:creationId xmlns:a16="http://schemas.microsoft.com/office/drawing/2014/main" id="{3C78C871-382F-F589-C72E-8D86F3C1A682}"/>
              </a:ext>
            </a:extLst>
          </p:cNvPr>
          <p:cNvPicPr>
            <a:picLocks noChangeAspect="1"/>
          </p:cNvPicPr>
          <p:nvPr/>
        </p:nvPicPr>
        <p:blipFill>
          <a:blip r:embed="rId3"/>
          <a:stretch>
            <a:fillRect/>
          </a:stretch>
        </p:blipFill>
        <p:spPr>
          <a:xfrm>
            <a:off x="395268" y="1417638"/>
            <a:ext cx="5629295" cy="4829210"/>
          </a:xfrm>
          <a:prstGeom prst="rect">
            <a:avLst/>
          </a:prstGeom>
        </p:spPr>
      </p:pic>
      <p:sp>
        <p:nvSpPr>
          <p:cNvPr id="5" name="TextBox 4">
            <a:extLst>
              <a:ext uri="{FF2B5EF4-FFF2-40B4-BE49-F238E27FC236}">
                <a16:creationId xmlns:a16="http://schemas.microsoft.com/office/drawing/2014/main" id="{7CBDA9B8-659C-5249-6250-83C59B8587C9}"/>
              </a:ext>
            </a:extLst>
          </p:cNvPr>
          <p:cNvSpPr txBox="1"/>
          <p:nvPr/>
        </p:nvSpPr>
        <p:spPr>
          <a:xfrm>
            <a:off x="6121983" y="2474893"/>
            <a:ext cx="3129383" cy="954107"/>
          </a:xfrm>
          <a:prstGeom prst="rect">
            <a:avLst/>
          </a:prstGeom>
          <a:noFill/>
        </p:spPr>
        <p:txBody>
          <a:bodyPr wrap="none" rtlCol="0">
            <a:spAutoFit/>
          </a:bodyPr>
          <a:lstStyle/>
          <a:p>
            <a:r>
              <a:rPr lang="en-US" dirty="0">
                <a:solidFill>
                  <a:srgbClr val="0070C0"/>
                </a:solidFill>
              </a:rPr>
              <a:t>Follow the description </a:t>
            </a:r>
          </a:p>
          <a:p>
            <a:r>
              <a:rPr lang="en-US" dirty="0">
                <a:solidFill>
                  <a:srgbClr val="0070C0"/>
                </a:solidFill>
              </a:rPr>
              <a:t>given to describe user characteristics</a:t>
            </a:r>
          </a:p>
          <a:p>
            <a:endParaRPr lang="en-US" dirty="0">
              <a:solidFill>
                <a:srgbClr val="0070C0"/>
              </a:solidFill>
            </a:endParaRPr>
          </a:p>
          <a:p>
            <a:endParaRPr lang="en-MY" dirty="0">
              <a:solidFill>
                <a:srgbClr val="0070C0"/>
              </a:solidFill>
            </a:endParaRPr>
          </a:p>
        </p:txBody>
      </p:sp>
      <p:sp>
        <p:nvSpPr>
          <p:cNvPr id="6" name="Arrow: Down 5">
            <a:extLst>
              <a:ext uri="{FF2B5EF4-FFF2-40B4-BE49-F238E27FC236}">
                <a16:creationId xmlns:a16="http://schemas.microsoft.com/office/drawing/2014/main" id="{49322917-90DF-A349-C648-25811F86FFC8}"/>
              </a:ext>
            </a:extLst>
          </p:cNvPr>
          <p:cNvSpPr/>
          <p:nvPr/>
        </p:nvSpPr>
        <p:spPr>
          <a:xfrm rot="5400000">
            <a:off x="5319182" y="2438847"/>
            <a:ext cx="493252" cy="73683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1007562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EAE62-C228-D068-2B4D-DE728B5B6883}"/>
              </a:ext>
            </a:extLst>
          </p:cNvPr>
          <p:cNvSpPr>
            <a:spLocks noGrp="1"/>
          </p:cNvSpPr>
          <p:nvPr>
            <p:ph type="title"/>
          </p:nvPr>
        </p:nvSpPr>
        <p:spPr/>
        <p:txBody>
          <a:bodyPr/>
          <a:lstStyle/>
          <a:p>
            <a:r>
              <a:rPr lang="en-US" dirty="0"/>
              <a:t>Sub-section 2.2 System Features</a:t>
            </a:r>
            <a:endParaRPr lang="en-MY" dirty="0"/>
          </a:p>
        </p:txBody>
      </p:sp>
      <p:sp>
        <p:nvSpPr>
          <p:cNvPr id="4" name="Slide Number Placeholder 3">
            <a:extLst>
              <a:ext uri="{FF2B5EF4-FFF2-40B4-BE49-F238E27FC236}">
                <a16:creationId xmlns:a16="http://schemas.microsoft.com/office/drawing/2014/main" id="{3B7CA149-0101-3B6D-9727-933149182D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6" name="Picture 5">
            <a:extLst>
              <a:ext uri="{FF2B5EF4-FFF2-40B4-BE49-F238E27FC236}">
                <a16:creationId xmlns:a16="http://schemas.microsoft.com/office/drawing/2014/main" id="{3940D564-6A6D-BDA9-E962-F0271525C406}"/>
              </a:ext>
            </a:extLst>
          </p:cNvPr>
          <p:cNvPicPr>
            <a:picLocks noChangeAspect="1"/>
          </p:cNvPicPr>
          <p:nvPr/>
        </p:nvPicPr>
        <p:blipFill>
          <a:blip r:embed="rId2"/>
          <a:stretch>
            <a:fillRect/>
          </a:stretch>
        </p:blipFill>
        <p:spPr>
          <a:xfrm>
            <a:off x="0" y="1600200"/>
            <a:ext cx="5681685" cy="2767013"/>
          </a:xfrm>
          <a:prstGeom prst="rect">
            <a:avLst/>
          </a:prstGeom>
        </p:spPr>
      </p:pic>
      <p:pic>
        <p:nvPicPr>
          <p:cNvPr id="8" name="Picture 7">
            <a:extLst>
              <a:ext uri="{FF2B5EF4-FFF2-40B4-BE49-F238E27FC236}">
                <a16:creationId xmlns:a16="http://schemas.microsoft.com/office/drawing/2014/main" id="{16247726-3823-DC7A-15A1-B0BCEDB8D936}"/>
              </a:ext>
            </a:extLst>
          </p:cNvPr>
          <p:cNvPicPr>
            <a:picLocks noChangeAspect="1"/>
          </p:cNvPicPr>
          <p:nvPr/>
        </p:nvPicPr>
        <p:blipFill>
          <a:blip r:embed="rId3"/>
          <a:stretch>
            <a:fillRect/>
          </a:stretch>
        </p:blipFill>
        <p:spPr>
          <a:xfrm>
            <a:off x="5295881" y="1417638"/>
            <a:ext cx="3662382" cy="3667143"/>
          </a:xfrm>
          <a:prstGeom prst="rect">
            <a:avLst/>
          </a:prstGeom>
        </p:spPr>
      </p:pic>
      <p:pic>
        <p:nvPicPr>
          <p:cNvPr id="12" name="Picture 11">
            <a:extLst>
              <a:ext uri="{FF2B5EF4-FFF2-40B4-BE49-F238E27FC236}">
                <a16:creationId xmlns:a16="http://schemas.microsoft.com/office/drawing/2014/main" id="{46ADAD6F-3A92-5E50-02EC-76BAC587253A}"/>
              </a:ext>
            </a:extLst>
          </p:cNvPr>
          <p:cNvPicPr>
            <a:picLocks noChangeAspect="1"/>
          </p:cNvPicPr>
          <p:nvPr/>
        </p:nvPicPr>
        <p:blipFill>
          <a:blip r:embed="rId4"/>
          <a:stretch>
            <a:fillRect/>
          </a:stretch>
        </p:blipFill>
        <p:spPr>
          <a:xfrm>
            <a:off x="5353050" y="5080722"/>
            <a:ext cx="3733820" cy="800106"/>
          </a:xfrm>
          <a:prstGeom prst="rect">
            <a:avLst/>
          </a:prstGeom>
        </p:spPr>
      </p:pic>
      <p:sp>
        <p:nvSpPr>
          <p:cNvPr id="13" name="TextBox 12">
            <a:extLst>
              <a:ext uri="{FF2B5EF4-FFF2-40B4-BE49-F238E27FC236}">
                <a16:creationId xmlns:a16="http://schemas.microsoft.com/office/drawing/2014/main" id="{952CA9FF-3334-58B0-1BB6-51B7982E9700}"/>
              </a:ext>
            </a:extLst>
          </p:cNvPr>
          <p:cNvSpPr txBox="1"/>
          <p:nvPr/>
        </p:nvSpPr>
        <p:spPr>
          <a:xfrm>
            <a:off x="856830" y="4835634"/>
            <a:ext cx="4530407" cy="1815882"/>
          </a:xfrm>
          <a:prstGeom prst="rect">
            <a:avLst/>
          </a:prstGeom>
          <a:noFill/>
        </p:spPr>
        <p:txBody>
          <a:bodyPr wrap="none" rtlCol="0">
            <a:spAutoFit/>
          </a:bodyPr>
          <a:lstStyle/>
          <a:p>
            <a:r>
              <a:rPr lang="en-US" sz="1050" dirty="0">
                <a:solidFill>
                  <a:srgbClr val="0070C0"/>
                </a:solidFill>
              </a:rPr>
              <a:t>Grouping use case should reflect the modularity of the system for easier </a:t>
            </a:r>
          </a:p>
          <a:p>
            <a:r>
              <a:rPr lang="en-US" sz="1050" dirty="0">
                <a:solidFill>
                  <a:srgbClr val="0070C0"/>
                </a:solidFill>
              </a:rPr>
              <a:t>implementation and maintenance. </a:t>
            </a:r>
            <a:r>
              <a:rPr lang="en-US" sz="1000" dirty="0">
                <a:solidFill>
                  <a:srgbClr val="0070C0"/>
                </a:solidFill>
              </a:rPr>
              <a:t>To determine which use case belongs </a:t>
            </a:r>
          </a:p>
          <a:p>
            <a:r>
              <a:rPr lang="en-US" sz="1000" dirty="0">
                <a:solidFill>
                  <a:srgbClr val="0070C0"/>
                </a:solidFill>
              </a:rPr>
              <a:t>to which module (though this is not an absolute method):</a:t>
            </a:r>
          </a:p>
          <a:p>
            <a:endParaRPr lang="en-US" sz="1000" dirty="0">
              <a:solidFill>
                <a:srgbClr val="0070C0"/>
              </a:solidFill>
            </a:endParaRPr>
          </a:p>
          <a:p>
            <a:pPr marL="171450" indent="-171450">
              <a:buFontTx/>
              <a:buChar char="-"/>
            </a:pPr>
            <a:r>
              <a:rPr lang="en-US" sz="1000" dirty="0">
                <a:solidFill>
                  <a:srgbClr val="0070C0"/>
                </a:solidFill>
              </a:rPr>
              <a:t>If one use case is an extension of another use case</a:t>
            </a:r>
          </a:p>
          <a:p>
            <a:pPr marL="171450" indent="-171450">
              <a:buFontTx/>
              <a:buChar char="-"/>
            </a:pPr>
            <a:r>
              <a:rPr lang="en-US" sz="1000" dirty="0">
                <a:solidFill>
                  <a:srgbClr val="0070C0"/>
                </a:solidFill>
              </a:rPr>
              <a:t>If use cases share a common goal or contribute to a specific functionality, </a:t>
            </a:r>
          </a:p>
          <a:p>
            <a:r>
              <a:rPr lang="en-US" sz="1000" dirty="0">
                <a:solidFill>
                  <a:srgbClr val="0070C0"/>
                </a:solidFill>
              </a:rPr>
              <a:t>group them in one module.</a:t>
            </a:r>
          </a:p>
          <a:p>
            <a:r>
              <a:rPr lang="en-US" sz="1000" dirty="0">
                <a:solidFill>
                  <a:srgbClr val="0070C0"/>
                </a:solidFill>
              </a:rPr>
              <a:t>- </a:t>
            </a:r>
            <a:r>
              <a:rPr lang="en-US" sz="1100" dirty="0">
                <a:solidFill>
                  <a:srgbClr val="0070C0"/>
                </a:solidFill>
              </a:rPr>
              <a:t>If ach module has a specific purpose and serves different actors</a:t>
            </a:r>
            <a:endParaRPr lang="en-US" sz="1000" dirty="0">
              <a:solidFill>
                <a:srgbClr val="0070C0"/>
              </a:solidFill>
            </a:endParaRPr>
          </a:p>
          <a:p>
            <a:pPr marL="285750" indent="-285750">
              <a:buAutoNum type="romanLcPeriod"/>
            </a:pPr>
            <a:endParaRPr lang="en-US" sz="800" dirty="0">
              <a:solidFill>
                <a:srgbClr val="0070C0"/>
              </a:solidFill>
            </a:endParaRPr>
          </a:p>
          <a:p>
            <a:endParaRPr lang="en-US" sz="1100" dirty="0">
              <a:solidFill>
                <a:srgbClr val="0070C0"/>
              </a:solidFill>
            </a:endParaRPr>
          </a:p>
          <a:p>
            <a:endParaRPr lang="en-MY" sz="1100" dirty="0">
              <a:solidFill>
                <a:srgbClr val="0070C0"/>
              </a:solidFill>
            </a:endParaRPr>
          </a:p>
        </p:txBody>
      </p:sp>
      <p:sp>
        <p:nvSpPr>
          <p:cNvPr id="14" name="Arrow: Down 13">
            <a:extLst>
              <a:ext uri="{FF2B5EF4-FFF2-40B4-BE49-F238E27FC236}">
                <a16:creationId xmlns:a16="http://schemas.microsoft.com/office/drawing/2014/main" id="{0A4D3A90-A33F-A433-AECC-6EEB0A6C007F}"/>
              </a:ext>
            </a:extLst>
          </p:cNvPr>
          <p:cNvSpPr/>
          <p:nvPr/>
        </p:nvSpPr>
        <p:spPr>
          <a:xfrm rot="13712864">
            <a:off x="4854630" y="4181358"/>
            <a:ext cx="493252" cy="73683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634735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79FB9-61C5-DADA-1A21-B9DAD11FED6A}"/>
              </a:ext>
            </a:extLst>
          </p:cNvPr>
          <p:cNvSpPr>
            <a:spLocks noGrp="1"/>
          </p:cNvSpPr>
          <p:nvPr>
            <p:ph type="title"/>
          </p:nvPr>
        </p:nvSpPr>
        <p:spPr/>
        <p:txBody>
          <a:bodyPr/>
          <a:lstStyle/>
          <a:p>
            <a:r>
              <a:rPr lang="en-US" dirty="0"/>
              <a:t>Sub-section 2.2 System Features</a:t>
            </a:r>
            <a:endParaRPr lang="en-MY" dirty="0"/>
          </a:p>
        </p:txBody>
      </p:sp>
      <p:sp>
        <p:nvSpPr>
          <p:cNvPr id="4" name="Slide Number Placeholder 3">
            <a:extLst>
              <a:ext uri="{FF2B5EF4-FFF2-40B4-BE49-F238E27FC236}">
                <a16:creationId xmlns:a16="http://schemas.microsoft.com/office/drawing/2014/main" id="{07B38698-9F1C-CEB5-CAE0-5B18A3D745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6" name="Picture 5">
            <a:extLst>
              <a:ext uri="{FF2B5EF4-FFF2-40B4-BE49-F238E27FC236}">
                <a16:creationId xmlns:a16="http://schemas.microsoft.com/office/drawing/2014/main" id="{DCB063A2-573C-125D-26A6-93FA8C21E9D3}"/>
              </a:ext>
            </a:extLst>
          </p:cNvPr>
          <p:cNvPicPr>
            <a:picLocks noChangeAspect="1"/>
          </p:cNvPicPr>
          <p:nvPr/>
        </p:nvPicPr>
        <p:blipFill>
          <a:blip r:embed="rId3"/>
          <a:stretch>
            <a:fillRect/>
          </a:stretch>
        </p:blipFill>
        <p:spPr>
          <a:xfrm>
            <a:off x="104775" y="2233596"/>
            <a:ext cx="5138761" cy="2957528"/>
          </a:xfrm>
          <a:prstGeom prst="rect">
            <a:avLst/>
          </a:prstGeom>
        </p:spPr>
      </p:pic>
      <p:pic>
        <p:nvPicPr>
          <p:cNvPr id="8" name="Picture 7">
            <a:extLst>
              <a:ext uri="{FF2B5EF4-FFF2-40B4-BE49-F238E27FC236}">
                <a16:creationId xmlns:a16="http://schemas.microsoft.com/office/drawing/2014/main" id="{5D68A1B5-92E8-916C-E237-CDBF02BDE2EC}"/>
              </a:ext>
            </a:extLst>
          </p:cNvPr>
          <p:cNvPicPr>
            <a:picLocks noChangeAspect="1"/>
          </p:cNvPicPr>
          <p:nvPr/>
        </p:nvPicPr>
        <p:blipFill>
          <a:blip r:embed="rId4"/>
          <a:stretch>
            <a:fillRect/>
          </a:stretch>
        </p:blipFill>
        <p:spPr>
          <a:xfrm>
            <a:off x="5243536" y="1666876"/>
            <a:ext cx="3714742" cy="3710002"/>
          </a:xfrm>
          <a:prstGeom prst="rect">
            <a:avLst/>
          </a:prstGeom>
        </p:spPr>
      </p:pic>
      <p:sp>
        <p:nvSpPr>
          <p:cNvPr id="11" name="TextBox 10">
            <a:extLst>
              <a:ext uri="{FF2B5EF4-FFF2-40B4-BE49-F238E27FC236}">
                <a16:creationId xmlns:a16="http://schemas.microsoft.com/office/drawing/2014/main" id="{F84EB078-30F8-8E30-7EA9-527F14D3BEBD}"/>
              </a:ext>
            </a:extLst>
          </p:cNvPr>
          <p:cNvSpPr txBox="1"/>
          <p:nvPr/>
        </p:nvSpPr>
        <p:spPr>
          <a:xfrm>
            <a:off x="768503" y="5306535"/>
            <a:ext cx="3355822" cy="1015663"/>
          </a:xfrm>
          <a:prstGeom prst="rect">
            <a:avLst/>
          </a:prstGeom>
          <a:noFill/>
        </p:spPr>
        <p:txBody>
          <a:bodyPr wrap="square" rtlCol="0">
            <a:spAutoFit/>
          </a:bodyPr>
          <a:lstStyle/>
          <a:p>
            <a:r>
              <a:rPr lang="en-US" sz="1000" dirty="0">
                <a:solidFill>
                  <a:srgbClr val="0070C0"/>
                </a:solidFill>
              </a:rPr>
              <a:t>To create a Domain Model for your system you can do the following: </a:t>
            </a:r>
          </a:p>
          <a:p>
            <a:r>
              <a:rPr lang="en-US" sz="1000" dirty="0">
                <a:solidFill>
                  <a:srgbClr val="0070C0"/>
                </a:solidFill>
              </a:rPr>
              <a:t>- Review system descriptions, use cases, or other documentation and extract nouns as potential candidates for classes.</a:t>
            </a:r>
          </a:p>
          <a:p>
            <a:endParaRPr lang="en-MY" sz="1000" dirty="0">
              <a:solidFill>
                <a:srgbClr val="0070C0"/>
              </a:solidFill>
            </a:endParaRPr>
          </a:p>
        </p:txBody>
      </p:sp>
      <p:sp>
        <p:nvSpPr>
          <p:cNvPr id="13" name="TextBox 12">
            <a:extLst>
              <a:ext uri="{FF2B5EF4-FFF2-40B4-BE49-F238E27FC236}">
                <a16:creationId xmlns:a16="http://schemas.microsoft.com/office/drawing/2014/main" id="{8DB0DDDE-2AED-4C0B-915C-C0B8E1EBDA22}"/>
              </a:ext>
            </a:extLst>
          </p:cNvPr>
          <p:cNvSpPr txBox="1"/>
          <p:nvPr/>
        </p:nvSpPr>
        <p:spPr>
          <a:xfrm>
            <a:off x="5716756" y="5343556"/>
            <a:ext cx="3355822" cy="1015663"/>
          </a:xfrm>
          <a:prstGeom prst="rect">
            <a:avLst/>
          </a:prstGeom>
          <a:noFill/>
        </p:spPr>
        <p:txBody>
          <a:bodyPr wrap="square" rtlCol="0">
            <a:spAutoFit/>
          </a:bodyPr>
          <a:lstStyle/>
          <a:p>
            <a:r>
              <a:rPr lang="en-US" sz="1000" dirty="0">
                <a:solidFill>
                  <a:srgbClr val="0070C0"/>
                </a:solidFill>
              </a:rPr>
              <a:t>To create  state diagram for your system you can identify a class which is significant within the domain. It should represent an entity or process that the system needs to manage or track.</a:t>
            </a:r>
          </a:p>
          <a:p>
            <a:r>
              <a:rPr lang="en-US" sz="1000" dirty="0">
                <a:solidFill>
                  <a:srgbClr val="0070C0"/>
                </a:solidFill>
              </a:rPr>
              <a:t> </a:t>
            </a:r>
          </a:p>
          <a:p>
            <a:endParaRPr lang="en-MY" sz="1000" dirty="0">
              <a:solidFill>
                <a:srgbClr val="0070C0"/>
              </a:solidFill>
            </a:endParaRPr>
          </a:p>
        </p:txBody>
      </p:sp>
    </p:spTree>
    <p:extLst>
      <p:ext uri="{BB962C8B-B14F-4D97-AF65-F5344CB8AC3E}">
        <p14:creationId xmlns:p14="http://schemas.microsoft.com/office/powerpoint/2010/main" val="2018222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9BCC8-5132-AAC6-62BD-8E7B07B22127}"/>
              </a:ext>
            </a:extLst>
          </p:cNvPr>
          <p:cNvSpPr>
            <a:spLocks noGrp="1"/>
          </p:cNvSpPr>
          <p:nvPr>
            <p:ph type="title"/>
          </p:nvPr>
        </p:nvSpPr>
        <p:spPr/>
        <p:txBody>
          <a:bodyPr/>
          <a:lstStyle/>
          <a:p>
            <a:r>
              <a:rPr lang="en-US" dirty="0"/>
              <a:t>Sub-section 2.3 Use Case Details</a:t>
            </a:r>
            <a:endParaRPr lang="en-MY" dirty="0"/>
          </a:p>
        </p:txBody>
      </p:sp>
      <p:sp>
        <p:nvSpPr>
          <p:cNvPr id="4" name="Slide Number Placeholder 3">
            <a:extLst>
              <a:ext uri="{FF2B5EF4-FFF2-40B4-BE49-F238E27FC236}">
                <a16:creationId xmlns:a16="http://schemas.microsoft.com/office/drawing/2014/main" id="{E9CBB8DC-328F-84BF-57F2-7987495C34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6" name="Picture 5">
            <a:extLst>
              <a:ext uri="{FF2B5EF4-FFF2-40B4-BE49-F238E27FC236}">
                <a16:creationId xmlns:a16="http://schemas.microsoft.com/office/drawing/2014/main" id="{3D2F13EC-3332-6D3F-B3F7-C9655EE1251E}"/>
              </a:ext>
            </a:extLst>
          </p:cNvPr>
          <p:cNvPicPr>
            <a:picLocks noChangeAspect="1"/>
          </p:cNvPicPr>
          <p:nvPr/>
        </p:nvPicPr>
        <p:blipFill>
          <a:blip r:embed="rId2"/>
          <a:stretch>
            <a:fillRect/>
          </a:stretch>
        </p:blipFill>
        <p:spPr>
          <a:xfrm>
            <a:off x="228583" y="1417638"/>
            <a:ext cx="4219593" cy="3316286"/>
          </a:xfrm>
          <a:prstGeom prst="rect">
            <a:avLst/>
          </a:prstGeom>
        </p:spPr>
      </p:pic>
      <p:pic>
        <p:nvPicPr>
          <p:cNvPr id="8" name="Picture 7">
            <a:extLst>
              <a:ext uri="{FF2B5EF4-FFF2-40B4-BE49-F238E27FC236}">
                <a16:creationId xmlns:a16="http://schemas.microsoft.com/office/drawing/2014/main" id="{38D6049E-8256-453F-F51B-8032EB57DA3E}"/>
              </a:ext>
            </a:extLst>
          </p:cNvPr>
          <p:cNvPicPr>
            <a:picLocks noChangeAspect="1"/>
          </p:cNvPicPr>
          <p:nvPr/>
        </p:nvPicPr>
        <p:blipFill>
          <a:blip r:embed="rId3"/>
          <a:stretch>
            <a:fillRect/>
          </a:stretch>
        </p:blipFill>
        <p:spPr>
          <a:xfrm>
            <a:off x="5695951" y="1470027"/>
            <a:ext cx="2562225" cy="1816100"/>
          </a:xfrm>
          <a:prstGeom prst="rect">
            <a:avLst/>
          </a:prstGeom>
        </p:spPr>
      </p:pic>
      <p:pic>
        <p:nvPicPr>
          <p:cNvPr id="10" name="Picture 9">
            <a:extLst>
              <a:ext uri="{FF2B5EF4-FFF2-40B4-BE49-F238E27FC236}">
                <a16:creationId xmlns:a16="http://schemas.microsoft.com/office/drawing/2014/main" id="{939AEA25-1B84-12F5-0C60-74998B54F199}"/>
              </a:ext>
            </a:extLst>
          </p:cNvPr>
          <p:cNvPicPr>
            <a:picLocks noChangeAspect="1"/>
          </p:cNvPicPr>
          <p:nvPr/>
        </p:nvPicPr>
        <p:blipFill>
          <a:blip r:embed="rId4"/>
          <a:stretch>
            <a:fillRect/>
          </a:stretch>
        </p:blipFill>
        <p:spPr>
          <a:xfrm>
            <a:off x="5536399" y="3429000"/>
            <a:ext cx="2881327" cy="2243149"/>
          </a:xfrm>
          <a:prstGeom prst="rect">
            <a:avLst/>
          </a:prstGeom>
        </p:spPr>
      </p:pic>
      <p:sp>
        <p:nvSpPr>
          <p:cNvPr id="11" name="TextBox 10">
            <a:extLst>
              <a:ext uri="{FF2B5EF4-FFF2-40B4-BE49-F238E27FC236}">
                <a16:creationId xmlns:a16="http://schemas.microsoft.com/office/drawing/2014/main" id="{B7066741-246D-C4B9-CA8D-CC3E621E70A5}"/>
              </a:ext>
            </a:extLst>
          </p:cNvPr>
          <p:cNvSpPr txBox="1"/>
          <p:nvPr/>
        </p:nvSpPr>
        <p:spPr>
          <a:xfrm>
            <a:off x="2214545" y="5398067"/>
            <a:ext cx="3124217" cy="900246"/>
          </a:xfrm>
          <a:prstGeom prst="rect">
            <a:avLst/>
          </a:prstGeom>
          <a:noFill/>
        </p:spPr>
        <p:txBody>
          <a:bodyPr wrap="square" rtlCol="0">
            <a:spAutoFit/>
          </a:bodyPr>
          <a:lstStyle/>
          <a:p>
            <a:r>
              <a:rPr lang="en-US" sz="1050" dirty="0">
                <a:solidFill>
                  <a:srgbClr val="0070C0"/>
                </a:solidFill>
              </a:rPr>
              <a:t>If you have 14 use cases as shown in the Emotion Chatbot Analyzer System, you must have 14 use case descriptions (UCD) with suitable  sequence diagram and activity diagram for each UCD,</a:t>
            </a:r>
            <a:endParaRPr lang="en-US" sz="1000" dirty="0">
              <a:solidFill>
                <a:srgbClr val="0070C0"/>
              </a:solidFill>
            </a:endParaRPr>
          </a:p>
        </p:txBody>
      </p:sp>
      <p:sp>
        <p:nvSpPr>
          <p:cNvPr id="12" name="Arrow: Down 11">
            <a:extLst>
              <a:ext uri="{FF2B5EF4-FFF2-40B4-BE49-F238E27FC236}">
                <a16:creationId xmlns:a16="http://schemas.microsoft.com/office/drawing/2014/main" id="{72FF682F-3626-04BC-6862-3BC75A372941}"/>
              </a:ext>
            </a:extLst>
          </p:cNvPr>
          <p:cNvSpPr/>
          <p:nvPr/>
        </p:nvSpPr>
        <p:spPr>
          <a:xfrm rot="13537196">
            <a:off x="4565875" y="4661332"/>
            <a:ext cx="493252" cy="75535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Arrow: Down 12">
            <a:extLst>
              <a:ext uri="{FF2B5EF4-FFF2-40B4-BE49-F238E27FC236}">
                <a16:creationId xmlns:a16="http://schemas.microsoft.com/office/drawing/2014/main" id="{4BE11868-DDB6-02CE-3964-31C53F4F4ACF}"/>
              </a:ext>
            </a:extLst>
          </p:cNvPr>
          <p:cNvSpPr/>
          <p:nvPr/>
        </p:nvSpPr>
        <p:spPr>
          <a:xfrm rot="7771195">
            <a:off x="2357127" y="4707262"/>
            <a:ext cx="493252" cy="66349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903663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3">
          <a:extLst>
            <a:ext uri="{FF2B5EF4-FFF2-40B4-BE49-F238E27FC236}">
              <a16:creationId xmlns:a16="http://schemas.microsoft.com/office/drawing/2014/main" id="{D6D323D6-19B9-9D3C-FECB-B57E1371DDAC}"/>
            </a:ext>
          </a:extLst>
        </p:cNvPr>
        <p:cNvGrpSpPr/>
        <p:nvPr/>
      </p:nvGrpSpPr>
      <p:grpSpPr>
        <a:xfrm>
          <a:off x="0" y="0"/>
          <a:ext cx="0" cy="0"/>
          <a:chOff x="0" y="0"/>
          <a:chExt cx="0" cy="0"/>
        </a:xfrm>
      </p:grpSpPr>
      <p:sp>
        <p:nvSpPr>
          <p:cNvPr id="954" name="Google Shape;954;p83">
            <a:extLst>
              <a:ext uri="{FF2B5EF4-FFF2-40B4-BE49-F238E27FC236}">
                <a16:creationId xmlns:a16="http://schemas.microsoft.com/office/drawing/2014/main" id="{B17184CC-E58A-F418-7421-D77566B90C50}"/>
              </a:ext>
            </a:extLst>
          </p:cNvPr>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4000"/>
              <a:buFont typeface="Calibri"/>
              <a:buNone/>
            </a:pPr>
            <a:r>
              <a:rPr lang="en-US" dirty="0"/>
              <a:t>SRS for Agile based system development </a:t>
            </a:r>
            <a:endParaRPr dirty="0"/>
          </a:p>
        </p:txBody>
      </p:sp>
      <p:sp>
        <p:nvSpPr>
          <p:cNvPr id="955" name="Google Shape;955;p83">
            <a:extLst>
              <a:ext uri="{FF2B5EF4-FFF2-40B4-BE49-F238E27FC236}">
                <a16:creationId xmlns:a16="http://schemas.microsoft.com/office/drawing/2014/main" id="{63A2E6F8-6054-6431-EBC9-EA9652D917B2}"/>
              </a:ext>
            </a:extLst>
          </p:cNvPr>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rgbClr val="888888"/>
              </a:buClr>
              <a:buSzPts val="2000"/>
              <a:buNone/>
            </a:pPr>
            <a:r>
              <a:rPr lang="en-US" dirty="0"/>
              <a:t>Software Requirements Specification (SRS) Agile</a:t>
            </a:r>
            <a:endParaRPr dirty="0"/>
          </a:p>
        </p:txBody>
      </p:sp>
      <p:sp>
        <p:nvSpPr>
          <p:cNvPr id="956" name="Google Shape;956;p83">
            <a:extLst>
              <a:ext uri="{FF2B5EF4-FFF2-40B4-BE49-F238E27FC236}">
                <a16:creationId xmlns:a16="http://schemas.microsoft.com/office/drawing/2014/main" id="{4F758D1D-6CFC-5C43-8031-5C2F4CBD5A0F}"/>
              </a:ext>
            </a:extLst>
          </p:cNvPr>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Prepared by </a:t>
            </a:r>
            <a:r>
              <a:rPr lang="en-US" dirty="0" err="1"/>
              <a:t>Shahliza</a:t>
            </a:r>
            <a:r>
              <a:rPr lang="en-US" dirty="0"/>
              <a:t> Abd Halim</a:t>
            </a:r>
          </a:p>
        </p:txBody>
      </p:sp>
      <p:sp>
        <p:nvSpPr>
          <p:cNvPr id="957" name="Google Shape;957;p83">
            <a:extLst>
              <a:ext uri="{FF2B5EF4-FFF2-40B4-BE49-F238E27FC236}">
                <a16:creationId xmlns:a16="http://schemas.microsoft.com/office/drawing/2014/main" id="{9D984992-2569-7CB5-0844-53BDBAE53ABD}"/>
              </a:ext>
            </a:extLst>
          </p:cNvPr>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958" name="Google Shape;958;p83">
            <a:extLst>
              <a:ext uri="{FF2B5EF4-FFF2-40B4-BE49-F238E27FC236}">
                <a16:creationId xmlns:a16="http://schemas.microsoft.com/office/drawing/2014/main" id="{4888B698-FD38-959A-918A-03C388AFCE7F}"/>
              </a:ext>
            </a:extLst>
          </p:cNvPr>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2024</a:t>
            </a:r>
            <a:endParaRPr dirty="0"/>
          </a:p>
        </p:txBody>
      </p:sp>
    </p:spTree>
    <p:extLst>
      <p:ext uri="{BB962C8B-B14F-4D97-AF65-F5344CB8AC3E}">
        <p14:creationId xmlns:p14="http://schemas.microsoft.com/office/powerpoint/2010/main" val="1449724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p9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en-US" dirty="0"/>
              <a:t>Sub-Section 2.1.1 Persona</a:t>
            </a:r>
            <a:endParaRPr dirty="0"/>
          </a:p>
        </p:txBody>
      </p:sp>
      <p:sp>
        <p:nvSpPr>
          <p:cNvPr id="1049" name="Google Shape;1049;p9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Prepared by </a:t>
            </a:r>
            <a:r>
              <a:rPr lang="en-US" dirty="0" err="1"/>
              <a:t>Shahliza</a:t>
            </a:r>
            <a:r>
              <a:rPr lang="en-US" dirty="0"/>
              <a:t> Abd Halim</a:t>
            </a:r>
          </a:p>
        </p:txBody>
      </p:sp>
      <p:sp>
        <p:nvSpPr>
          <p:cNvPr id="1050" name="Google Shape;1050;p9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1051" name="Google Shape;1051;p9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2024</a:t>
            </a:r>
            <a:endParaRPr dirty="0"/>
          </a:p>
        </p:txBody>
      </p:sp>
      <p:pic>
        <p:nvPicPr>
          <p:cNvPr id="5" name="Picture 4">
            <a:extLst>
              <a:ext uri="{FF2B5EF4-FFF2-40B4-BE49-F238E27FC236}">
                <a16:creationId xmlns:a16="http://schemas.microsoft.com/office/drawing/2014/main" id="{91D22054-22E9-665D-DE55-C8CF31993DF1}"/>
              </a:ext>
            </a:extLst>
          </p:cNvPr>
          <p:cNvPicPr>
            <a:picLocks noChangeAspect="1"/>
          </p:cNvPicPr>
          <p:nvPr/>
        </p:nvPicPr>
        <p:blipFill>
          <a:blip r:embed="rId3"/>
          <a:stretch>
            <a:fillRect/>
          </a:stretch>
        </p:blipFill>
        <p:spPr>
          <a:xfrm>
            <a:off x="219052" y="1552548"/>
            <a:ext cx="3824311" cy="3467127"/>
          </a:xfrm>
          <a:prstGeom prst="rect">
            <a:avLst/>
          </a:prstGeom>
        </p:spPr>
      </p:pic>
      <p:pic>
        <p:nvPicPr>
          <p:cNvPr id="7" name="Picture 6">
            <a:extLst>
              <a:ext uri="{FF2B5EF4-FFF2-40B4-BE49-F238E27FC236}">
                <a16:creationId xmlns:a16="http://schemas.microsoft.com/office/drawing/2014/main" id="{5408606A-C20F-0411-D537-54E72298F28B}"/>
              </a:ext>
            </a:extLst>
          </p:cNvPr>
          <p:cNvPicPr>
            <a:picLocks noChangeAspect="1"/>
          </p:cNvPicPr>
          <p:nvPr/>
        </p:nvPicPr>
        <p:blipFill>
          <a:blip r:embed="rId4"/>
          <a:stretch>
            <a:fillRect/>
          </a:stretch>
        </p:blipFill>
        <p:spPr>
          <a:xfrm>
            <a:off x="5836432" y="2557236"/>
            <a:ext cx="3043259" cy="2247483"/>
          </a:xfrm>
          <a:prstGeom prst="rect">
            <a:avLst/>
          </a:prstGeom>
        </p:spPr>
      </p:pic>
      <p:sp>
        <p:nvSpPr>
          <p:cNvPr id="8" name="TextBox 7">
            <a:extLst>
              <a:ext uri="{FF2B5EF4-FFF2-40B4-BE49-F238E27FC236}">
                <a16:creationId xmlns:a16="http://schemas.microsoft.com/office/drawing/2014/main" id="{3021CA76-4043-E2B9-B879-E89E9169541F}"/>
              </a:ext>
            </a:extLst>
          </p:cNvPr>
          <p:cNvSpPr txBox="1"/>
          <p:nvPr/>
        </p:nvSpPr>
        <p:spPr>
          <a:xfrm>
            <a:off x="3981432" y="3612085"/>
            <a:ext cx="2133601" cy="1654299"/>
          </a:xfrm>
          <a:prstGeom prst="rect">
            <a:avLst/>
          </a:prstGeom>
          <a:noFill/>
        </p:spPr>
        <p:txBody>
          <a:bodyPr wrap="square" rtlCol="0">
            <a:spAutoFit/>
          </a:bodyPr>
          <a:lstStyle/>
          <a:p>
            <a:r>
              <a:rPr lang="en-US" sz="1050" dirty="0">
                <a:solidFill>
                  <a:srgbClr val="0070C0"/>
                </a:solidFill>
              </a:rPr>
              <a:t>Example of persona based on the template (following the use case diagram for </a:t>
            </a:r>
            <a:r>
              <a:rPr lang="en-US" sz="1000" dirty="0">
                <a:solidFill>
                  <a:srgbClr val="0070C0"/>
                </a:solidFill>
              </a:rPr>
              <a:t>Emotion Chatbot Analyzer System)</a:t>
            </a:r>
          </a:p>
          <a:p>
            <a:endParaRPr lang="en-US" sz="1000" dirty="0">
              <a:solidFill>
                <a:srgbClr val="0070C0"/>
              </a:solidFill>
            </a:endParaRPr>
          </a:p>
          <a:p>
            <a:r>
              <a:rPr lang="en-US" sz="1000" dirty="0">
                <a:solidFill>
                  <a:srgbClr val="0070C0"/>
                </a:solidFill>
              </a:rPr>
              <a:t>Describe persona for every user/actor for your system </a:t>
            </a:r>
          </a:p>
          <a:p>
            <a:pPr marL="285750" indent="-285750">
              <a:buAutoNum type="romanLcPeriod"/>
            </a:pPr>
            <a:endParaRPr lang="en-US" sz="800" dirty="0">
              <a:solidFill>
                <a:srgbClr val="0070C0"/>
              </a:solidFill>
            </a:endParaRPr>
          </a:p>
          <a:p>
            <a:endParaRPr lang="en-US" sz="1100" dirty="0">
              <a:solidFill>
                <a:srgbClr val="0070C0"/>
              </a:solidFill>
            </a:endParaRPr>
          </a:p>
          <a:p>
            <a:endParaRPr lang="en-MY" sz="1100" dirty="0">
              <a:solidFill>
                <a:srgbClr val="0070C0"/>
              </a:solidFill>
            </a:endParaRPr>
          </a:p>
        </p:txBody>
      </p:sp>
      <p:sp>
        <p:nvSpPr>
          <p:cNvPr id="9" name="Arrow: Down 8">
            <a:extLst>
              <a:ext uri="{FF2B5EF4-FFF2-40B4-BE49-F238E27FC236}">
                <a16:creationId xmlns:a16="http://schemas.microsoft.com/office/drawing/2014/main" id="{4EB09783-E342-4457-FA93-18D8ADCB65BD}"/>
              </a:ext>
            </a:extLst>
          </p:cNvPr>
          <p:cNvSpPr/>
          <p:nvPr/>
        </p:nvSpPr>
        <p:spPr>
          <a:xfrm rot="16200000">
            <a:off x="4469860" y="2933278"/>
            <a:ext cx="493252" cy="66349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517589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9DCD6-ED63-1B37-4F5E-B37F4E2BD5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142330-34B3-3D1A-AE60-C715E744DD29}"/>
              </a:ext>
            </a:extLst>
          </p:cNvPr>
          <p:cNvSpPr>
            <a:spLocks noGrp="1"/>
          </p:cNvSpPr>
          <p:nvPr>
            <p:ph type="title"/>
          </p:nvPr>
        </p:nvSpPr>
        <p:spPr/>
        <p:txBody>
          <a:bodyPr/>
          <a:lstStyle/>
          <a:p>
            <a:r>
              <a:rPr lang="en-US" dirty="0"/>
              <a:t>Sub-section 2.2 System Features</a:t>
            </a:r>
            <a:endParaRPr lang="en-MY" dirty="0"/>
          </a:p>
        </p:txBody>
      </p:sp>
      <p:sp>
        <p:nvSpPr>
          <p:cNvPr id="4" name="Slide Number Placeholder 3">
            <a:extLst>
              <a:ext uri="{FF2B5EF4-FFF2-40B4-BE49-F238E27FC236}">
                <a16:creationId xmlns:a16="http://schemas.microsoft.com/office/drawing/2014/main" id="{C504F0E4-CBB8-B974-5480-3B45D78A3E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pic>
        <p:nvPicPr>
          <p:cNvPr id="6" name="Picture 5">
            <a:extLst>
              <a:ext uri="{FF2B5EF4-FFF2-40B4-BE49-F238E27FC236}">
                <a16:creationId xmlns:a16="http://schemas.microsoft.com/office/drawing/2014/main" id="{01FF799A-1F46-3E99-B2B8-6756BD9A5778}"/>
              </a:ext>
            </a:extLst>
          </p:cNvPr>
          <p:cNvPicPr>
            <a:picLocks noChangeAspect="1"/>
          </p:cNvPicPr>
          <p:nvPr/>
        </p:nvPicPr>
        <p:blipFill>
          <a:blip r:embed="rId2"/>
          <a:stretch>
            <a:fillRect/>
          </a:stretch>
        </p:blipFill>
        <p:spPr>
          <a:xfrm>
            <a:off x="0" y="1600200"/>
            <a:ext cx="5681685" cy="2767013"/>
          </a:xfrm>
          <a:prstGeom prst="rect">
            <a:avLst/>
          </a:prstGeom>
        </p:spPr>
      </p:pic>
      <p:pic>
        <p:nvPicPr>
          <p:cNvPr id="8" name="Picture 7">
            <a:extLst>
              <a:ext uri="{FF2B5EF4-FFF2-40B4-BE49-F238E27FC236}">
                <a16:creationId xmlns:a16="http://schemas.microsoft.com/office/drawing/2014/main" id="{AF8C5A96-17A4-CD3D-A25B-5F88D00303B8}"/>
              </a:ext>
            </a:extLst>
          </p:cNvPr>
          <p:cNvPicPr>
            <a:picLocks noChangeAspect="1"/>
          </p:cNvPicPr>
          <p:nvPr/>
        </p:nvPicPr>
        <p:blipFill>
          <a:blip r:embed="rId3"/>
          <a:stretch>
            <a:fillRect/>
          </a:stretch>
        </p:blipFill>
        <p:spPr>
          <a:xfrm>
            <a:off x="5295881" y="1417638"/>
            <a:ext cx="3662382" cy="3667143"/>
          </a:xfrm>
          <a:prstGeom prst="rect">
            <a:avLst/>
          </a:prstGeom>
        </p:spPr>
      </p:pic>
      <p:pic>
        <p:nvPicPr>
          <p:cNvPr id="12" name="Picture 11">
            <a:extLst>
              <a:ext uri="{FF2B5EF4-FFF2-40B4-BE49-F238E27FC236}">
                <a16:creationId xmlns:a16="http://schemas.microsoft.com/office/drawing/2014/main" id="{AD853BA7-411D-914D-9A73-901F8DC220D0}"/>
              </a:ext>
            </a:extLst>
          </p:cNvPr>
          <p:cNvPicPr>
            <a:picLocks noChangeAspect="1"/>
          </p:cNvPicPr>
          <p:nvPr/>
        </p:nvPicPr>
        <p:blipFill>
          <a:blip r:embed="rId4"/>
          <a:stretch>
            <a:fillRect/>
          </a:stretch>
        </p:blipFill>
        <p:spPr>
          <a:xfrm>
            <a:off x="5353050" y="5080722"/>
            <a:ext cx="3733820" cy="800106"/>
          </a:xfrm>
          <a:prstGeom prst="rect">
            <a:avLst/>
          </a:prstGeom>
        </p:spPr>
      </p:pic>
      <p:sp>
        <p:nvSpPr>
          <p:cNvPr id="13" name="TextBox 12">
            <a:extLst>
              <a:ext uri="{FF2B5EF4-FFF2-40B4-BE49-F238E27FC236}">
                <a16:creationId xmlns:a16="http://schemas.microsoft.com/office/drawing/2014/main" id="{4F92932F-C8A6-A352-E4DF-B28D80E4B8CC}"/>
              </a:ext>
            </a:extLst>
          </p:cNvPr>
          <p:cNvSpPr txBox="1"/>
          <p:nvPr/>
        </p:nvSpPr>
        <p:spPr>
          <a:xfrm>
            <a:off x="856830" y="4835634"/>
            <a:ext cx="4530407" cy="1815882"/>
          </a:xfrm>
          <a:prstGeom prst="rect">
            <a:avLst/>
          </a:prstGeom>
          <a:noFill/>
        </p:spPr>
        <p:txBody>
          <a:bodyPr wrap="none" rtlCol="0">
            <a:spAutoFit/>
          </a:bodyPr>
          <a:lstStyle/>
          <a:p>
            <a:r>
              <a:rPr lang="en-US" sz="1050" dirty="0">
                <a:solidFill>
                  <a:srgbClr val="0070C0"/>
                </a:solidFill>
              </a:rPr>
              <a:t>Grouping use case should reflect the modularity of the system for easier </a:t>
            </a:r>
          </a:p>
          <a:p>
            <a:r>
              <a:rPr lang="en-US" sz="1050" dirty="0">
                <a:solidFill>
                  <a:srgbClr val="0070C0"/>
                </a:solidFill>
              </a:rPr>
              <a:t>implementation and maintenance. </a:t>
            </a:r>
            <a:r>
              <a:rPr lang="en-US" sz="1000" dirty="0">
                <a:solidFill>
                  <a:srgbClr val="0070C0"/>
                </a:solidFill>
              </a:rPr>
              <a:t>To determine which use case belongs </a:t>
            </a:r>
          </a:p>
          <a:p>
            <a:r>
              <a:rPr lang="en-US" sz="1000" dirty="0">
                <a:solidFill>
                  <a:srgbClr val="0070C0"/>
                </a:solidFill>
              </a:rPr>
              <a:t>to which module (though this is not an absolute method):</a:t>
            </a:r>
          </a:p>
          <a:p>
            <a:endParaRPr lang="en-US" sz="1000" dirty="0">
              <a:solidFill>
                <a:srgbClr val="0070C0"/>
              </a:solidFill>
            </a:endParaRPr>
          </a:p>
          <a:p>
            <a:pPr marL="171450" indent="-171450">
              <a:buFontTx/>
              <a:buChar char="-"/>
            </a:pPr>
            <a:r>
              <a:rPr lang="en-US" sz="1000" dirty="0">
                <a:solidFill>
                  <a:srgbClr val="0070C0"/>
                </a:solidFill>
              </a:rPr>
              <a:t>If one use case is an extension of another use case</a:t>
            </a:r>
          </a:p>
          <a:p>
            <a:pPr marL="171450" indent="-171450">
              <a:buFontTx/>
              <a:buChar char="-"/>
            </a:pPr>
            <a:r>
              <a:rPr lang="en-US" sz="1000" dirty="0">
                <a:solidFill>
                  <a:srgbClr val="0070C0"/>
                </a:solidFill>
              </a:rPr>
              <a:t>If use cases share a common goal or contribute to a specific functionality, </a:t>
            </a:r>
          </a:p>
          <a:p>
            <a:r>
              <a:rPr lang="en-US" sz="1000" dirty="0">
                <a:solidFill>
                  <a:srgbClr val="0070C0"/>
                </a:solidFill>
              </a:rPr>
              <a:t>group them in one module.</a:t>
            </a:r>
          </a:p>
          <a:p>
            <a:r>
              <a:rPr lang="en-US" sz="1000" dirty="0">
                <a:solidFill>
                  <a:srgbClr val="0070C0"/>
                </a:solidFill>
              </a:rPr>
              <a:t>- </a:t>
            </a:r>
            <a:r>
              <a:rPr lang="en-US" sz="1100" dirty="0">
                <a:solidFill>
                  <a:srgbClr val="0070C0"/>
                </a:solidFill>
              </a:rPr>
              <a:t>If ach module has a specific purpose and serves different actors</a:t>
            </a:r>
            <a:endParaRPr lang="en-US" sz="1000" dirty="0">
              <a:solidFill>
                <a:srgbClr val="0070C0"/>
              </a:solidFill>
            </a:endParaRPr>
          </a:p>
          <a:p>
            <a:pPr marL="285750" indent="-285750">
              <a:buAutoNum type="romanLcPeriod"/>
            </a:pPr>
            <a:endParaRPr lang="en-US" sz="800" dirty="0">
              <a:solidFill>
                <a:srgbClr val="0070C0"/>
              </a:solidFill>
            </a:endParaRPr>
          </a:p>
          <a:p>
            <a:endParaRPr lang="en-US" sz="1100" dirty="0">
              <a:solidFill>
                <a:srgbClr val="0070C0"/>
              </a:solidFill>
            </a:endParaRPr>
          </a:p>
          <a:p>
            <a:endParaRPr lang="en-MY" sz="1100" dirty="0">
              <a:solidFill>
                <a:srgbClr val="0070C0"/>
              </a:solidFill>
            </a:endParaRPr>
          </a:p>
        </p:txBody>
      </p:sp>
      <p:sp>
        <p:nvSpPr>
          <p:cNvPr id="14" name="Arrow: Down 13">
            <a:extLst>
              <a:ext uri="{FF2B5EF4-FFF2-40B4-BE49-F238E27FC236}">
                <a16:creationId xmlns:a16="http://schemas.microsoft.com/office/drawing/2014/main" id="{32D28615-3F7E-2B50-7860-5693B00BC56A}"/>
              </a:ext>
            </a:extLst>
          </p:cNvPr>
          <p:cNvSpPr/>
          <p:nvPr/>
        </p:nvSpPr>
        <p:spPr>
          <a:xfrm rot="13712864">
            <a:off x="4854630" y="4181358"/>
            <a:ext cx="493252" cy="73683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4067897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E3DD1-FD7B-B316-227B-79A8861ECD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6B5CA-44F0-4FE7-ADC1-B946287A3EE3}"/>
              </a:ext>
            </a:extLst>
          </p:cNvPr>
          <p:cNvSpPr>
            <a:spLocks noGrp="1"/>
          </p:cNvSpPr>
          <p:nvPr>
            <p:ph type="title"/>
          </p:nvPr>
        </p:nvSpPr>
        <p:spPr/>
        <p:txBody>
          <a:bodyPr/>
          <a:lstStyle/>
          <a:p>
            <a:r>
              <a:rPr lang="en-US" dirty="0"/>
              <a:t>Sub-section 2.2 System Features</a:t>
            </a:r>
            <a:endParaRPr lang="en-MY" dirty="0"/>
          </a:p>
        </p:txBody>
      </p:sp>
      <p:sp>
        <p:nvSpPr>
          <p:cNvPr id="4" name="Slide Number Placeholder 3">
            <a:extLst>
              <a:ext uri="{FF2B5EF4-FFF2-40B4-BE49-F238E27FC236}">
                <a16:creationId xmlns:a16="http://schemas.microsoft.com/office/drawing/2014/main" id="{05A12696-E777-6AC3-F6B8-C7DF33F2BD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pic>
        <p:nvPicPr>
          <p:cNvPr id="6" name="Picture 5">
            <a:extLst>
              <a:ext uri="{FF2B5EF4-FFF2-40B4-BE49-F238E27FC236}">
                <a16:creationId xmlns:a16="http://schemas.microsoft.com/office/drawing/2014/main" id="{B285DDAD-66EC-FF4F-29A7-5FF1F84B0D71}"/>
              </a:ext>
            </a:extLst>
          </p:cNvPr>
          <p:cNvPicPr>
            <a:picLocks noChangeAspect="1"/>
          </p:cNvPicPr>
          <p:nvPr/>
        </p:nvPicPr>
        <p:blipFill>
          <a:blip r:embed="rId3"/>
          <a:stretch>
            <a:fillRect/>
          </a:stretch>
        </p:blipFill>
        <p:spPr>
          <a:xfrm>
            <a:off x="104775" y="2233596"/>
            <a:ext cx="5138761" cy="2957528"/>
          </a:xfrm>
          <a:prstGeom prst="rect">
            <a:avLst/>
          </a:prstGeom>
        </p:spPr>
      </p:pic>
      <p:pic>
        <p:nvPicPr>
          <p:cNvPr id="8" name="Picture 7">
            <a:extLst>
              <a:ext uri="{FF2B5EF4-FFF2-40B4-BE49-F238E27FC236}">
                <a16:creationId xmlns:a16="http://schemas.microsoft.com/office/drawing/2014/main" id="{F64C3BE0-8C3E-5481-F459-2F08BFD1FB78}"/>
              </a:ext>
            </a:extLst>
          </p:cNvPr>
          <p:cNvPicPr>
            <a:picLocks noChangeAspect="1"/>
          </p:cNvPicPr>
          <p:nvPr/>
        </p:nvPicPr>
        <p:blipFill>
          <a:blip r:embed="rId4"/>
          <a:stretch>
            <a:fillRect/>
          </a:stretch>
        </p:blipFill>
        <p:spPr>
          <a:xfrm>
            <a:off x="5243536" y="1666876"/>
            <a:ext cx="3714742" cy="3710002"/>
          </a:xfrm>
          <a:prstGeom prst="rect">
            <a:avLst/>
          </a:prstGeom>
        </p:spPr>
      </p:pic>
      <p:sp>
        <p:nvSpPr>
          <p:cNvPr id="11" name="TextBox 10">
            <a:extLst>
              <a:ext uri="{FF2B5EF4-FFF2-40B4-BE49-F238E27FC236}">
                <a16:creationId xmlns:a16="http://schemas.microsoft.com/office/drawing/2014/main" id="{60658D18-2884-81AF-8BF0-F0BEE8129059}"/>
              </a:ext>
            </a:extLst>
          </p:cNvPr>
          <p:cNvSpPr txBox="1"/>
          <p:nvPr/>
        </p:nvSpPr>
        <p:spPr>
          <a:xfrm>
            <a:off x="768503" y="5306535"/>
            <a:ext cx="3355822" cy="1015663"/>
          </a:xfrm>
          <a:prstGeom prst="rect">
            <a:avLst/>
          </a:prstGeom>
          <a:noFill/>
        </p:spPr>
        <p:txBody>
          <a:bodyPr wrap="square" rtlCol="0">
            <a:spAutoFit/>
          </a:bodyPr>
          <a:lstStyle/>
          <a:p>
            <a:r>
              <a:rPr lang="en-US" sz="1000" dirty="0">
                <a:solidFill>
                  <a:srgbClr val="0070C0"/>
                </a:solidFill>
              </a:rPr>
              <a:t>To create a Domain Model for your system you can do the following: </a:t>
            </a:r>
          </a:p>
          <a:p>
            <a:r>
              <a:rPr lang="en-US" sz="1000" dirty="0">
                <a:solidFill>
                  <a:srgbClr val="0070C0"/>
                </a:solidFill>
              </a:rPr>
              <a:t>- Review system descriptions, use cases, or other documentation and extract nouns as potential candidates for classes.</a:t>
            </a:r>
          </a:p>
          <a:p>
            <a:endParaRPr lang="en-MY" sz="1000" dirty="0">
              <a:solidFill>
                <a:srgbClr val="0070C0"/>
              </a:solidFill>
            </a:endParaRPr>
          </a:p>
        </p:txBody>
      </p:sp>
      <p:sp>
        <p:nvSpPr>
          <p:cNvPr id="13" name="TextBox 12">
            <a:extLst>
              <a:ext uri="{FF2B5EF4-FFF2-40B4-BE49-F238E27FC236}">
                <a16:creationId xmlns:a16="http://schemas.microsoft.com/office/drawing/2014/main" id="{E4D7D023-2983-6CCF-1112-97EBF76F4CCF}"/>
              </a:ext>
            </a:extLst>
          </p:cNvPr>
          <p:cNvSpPr txBox="1"/>
          <p:nvPr/>
        </p:nvSpPr>
        <p:spPr>
          <a:xfrm>
            <a:off x="5716756" y="5343556"/>
            <a:ext cx="3355822" cy="1015663"/>
          </a:xfrm>
          <a:prstGeom prst="rect">
            <a:avLst/>
          </a:prstGeom>
          <a:noFill/>
        </p:spPr>
        <p:txBody>
          <a:bodyPr wrap="square" rtlCol="0">
            <a:spAutoFit/>
          </a:bodyPr>
          <a:lstStyle/>
          <a:p>
            <a:r>
              <a:rPr lang="en-US" sz="1000" dirty="0">
                <a:solidFill>
                  <a:srgbClr val="0070C0"/>
                </a:solidFill>
              </a:rPr>
              <a:t>To create  state diagram for your system you can identify a class which is significant within the domain. It should represent an entity or process that the system needs to manage or track.</a:t>
            </a:r>
          </a:p>
          <a:p>
            <a:r>
              <a:rPr lang="en-US" sz="1000" dirty="0">
                <a:solidFill>
                  <a:srgbClr val="0070C0"/>
                </a:solidFill>
              </a:rPr>
              <a:t> </a:t>
            </a:r>
          </a:p>
          <a:p>
            <a:endParaRPr lang="en-MY" sz="1000" dirty="0">
              <a:solidFill>
                <a:srgbClr val="0070C0"/>
              </a:solidFill>
            </a:endParaRPr>
          </a:p>
        </p:txBody>
      </p:sp>
    </p:spTree>
    <p:extLst>
      <p:ext uri="{BB962C8B-B14F-4D97-AF65-F5344CB8AC3E}">
        <p14:creationId xmlns:p14="http://schemas.microsoft.com/office/powerpoint/2010/main" val="25254022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BE517-F89B-0E4D-116D-05166501483B}"/>
              </a:ext>
            </a:extLst>
          </p:cNvPr>
          <p:cNvSpPr>
            <a:spLocks noGrp="1"/>
          </p:cNvSpPr>
          <p:nvPr>
            <p:ph type="title"/>
          </p:nvPr>
        </p:nvSpPr>
        <p:spPr/>
        <p:txBody>
          <a:bodyPr/>
          <a:lstStyle/>
          <a:p>
            <a:r>
              <a:rPr lang="en-US" dirty="0"/>
              <a:t>Sub-section 2.3 System Features</a:t>
            </a:r>
            <a:endParaRPr lang="en-MY" dirty="0"/>
          </a:p>
        </p:txBody>
      </p:sp>
      <p:sp>
        <p:nvSpPr>
          <p:cNvPr id="4" name="Slide Number Placeholder 3">
            <a:extLst>
              <a:ext uri="{FF2B5EF4-FFF2-40B4-BE49-F238E27FC236}">
                <a16:creationId xmlns:a16="http://schemas.microsoft.com/office/drawing/2014/main" id="{D26D9FF0-0760-4551-9434-EC9CC1CCB4E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6" name="Picture 5">
            <a:extLst>
              <a:ext uri="{FF2B5EF4-FFF2-40B4-BE49-F238E27FC236}">
                <a16:creationId xmlns:a16="http://schemas.microsoft.com/office/drawing/2014/main" id="{608F3B7B-727F-B6B7-85CE-94DF130727CB}"/>
              </a:ext>
            </a:extLst>
          </p:cNvPr>
          <p:cNvPicPr>
            <a:picLocks noChangeAspect="1"/>
          </p:cNvPicPr>
          <p:nvPr/>
        </p:nvPicPr>
        <p:blipFill>
          <a:blip r:embed="rId2"/>
          <a:stretch>
            <a:fillRect/>
          </a:stretch>
        </p:blipFill>
        <p:spPr>
          <a:xfrm>
            <a:off x="404790" y="1802599"/>
            <a:ext cx="3986236" cy="3252802"/>
          </a:xfrm>
          <a:prstGeom prst="rect">
            <a:avLst/>
          </a:prstGeom>
        </p:spPr>
      </p:pic>
      <p:pic>
        <p:nvPicPr>
          <p:cNvPr id="8" name="Picture 7">
            <a:extLst>
              <a:ext uri="{FF2B5EF4-FFF2-40B4-BE49-F238E27FC236}">
                <a16:creationId xmlns:a16="http://schemas.microsoft.com/office/drawing/2014/main" id="{2AF6D934-8407-E9A6-AE32-34BA5076D2C9}"/>
              </a:ext>
            </a:extLst>
          </p:cNvPr>
          <p:cNvPicPr>
            <a:picLocks noChangeAspect="1"/>
          </p:cNvPicPr>
          <p:nvPr/>
        </p:nvPicPr>
        <p:blipFill>
          <a:blip r:embed="rId3"/>
          <a:stretch>
            <a:fillRect/>
          </a:stretch>
        </p:blipFill>
        <p:spPr>
          <a:xfrm>
            <a:off x="5824537" y="1466835"/>
            <a:ext cx="3143265" cy="2705116"/>
          </a:xfrm>
          <a:prstGeom prst="rect">
            <a:avLst/>
          </a:prstGeom>
        </p:spPr>
      </p:pic>
      <p:pic>
        <p:nvPicPr>
          <p:cNvPr id="9" name="Picture 8">
            <a:extLst>
              <a:ext uri="{FF2B5EF4-FFF2-40B4-BE49-F238E27FC236}">
                <a16:creationId xmlns:a16="http://schemas.microsoft.com/office/drawing/2014/main" id="{2CBA7EF9-CFAD-40D2-53BA-CE97DF93759F}"/>
              </a:ext>
            </a:extLst>
          </p:cNvPr>
          <p:cNvPicPr>
            <a:picLocks noChangeAspect="1"/>
          </p:cNvPicPr>
          <p:nvPr/>
        </p:nvPicPr>
        <p:blipFill>
          <a:blip r:embed="rId4"/>
          <a:stretch>
            <a:fillRect/>
          </a:stretch>
        </p:blipFill>
        <p:spPr>
          <a:xfrm>
            <a:off x="5874539" y="4336586"/>
            <a:ext cx="3043259" cy="1837681"/>
          </a:xfrm>
          <a:prstGeom prst="rect">
            <a:avLst/>
          </a:prstGeom>
        </p:spPr>
      </p:pic>
      <p:sp>
        <p:nvSpPr>
          <p:cNvPr id="12" name="TextBox 11">
            <a:extLst>
              <a:ext uri="{FF2B5EF4-FFF2-40B4-BE49-F238E27FC236}">
                <a16:creationId xmlns:a16="http://schemas.microsoft.com/office/drawing/2014/main" id="{A53705BB-8A60-9E53-2483-26F4E8FA135E}"/>
              </a:ext>
            </a:extLst>
          </p:cNvPr>
          <p:cNvSpPr txBox="1"/>
          <p:nvPr/>
        </p:nvSpPr>
        <p:spPr>
          <a:xfrm>
            <a:off x="4171526" y="1582273"/>
            <a:ext cx="1872512" cy="877163"/>
          </a:xfrm>
          <a:prstGeom prst="rect">
            <a:avLst/>
          </a:prstGeom>
          <a:noFill/>
        </p:spPr>
        <p:txBody>
          <a:bodyPr wrap="square" rtlCol="0">
            <a:spAutoFit/>
          </a:bodyPr>
          <a:lstStyle/>
          <a:p>
            <a:r>
              <a:rPr lang="en-US" sz="1050" dirty="0">
                <a:solidFill>
                  <a:srgbClr val="0070C0"/>
                </a:solidFill>
              </a:rPr>
              <a:t>State who are assigned to do the sprint</a:t>
            </a:r>
            <a:endParaRPr lang="en-US" sz="1000" dirty="0">
              <a:solidFill>
                <a:srgbClr val="0070C0"/>
              </a:solidFill>
            </a:endParaRPr>
          </a:p>
          <a:p>
            <a:pPr marL="285750" indent="-285750">
              <a:buAutoNum type="romanLcPeriod"/>
            </a:pPr>
            <a:endParaRPr lang="en-US" sz="800" dirty="0">
              <a:solidFill>
                <a:srgbClr val="0070C0"/>
              </a:solidFill>
            </a:endParaRPr>
          </a:p>
          <a:p>
            <a:endParaRPr lang="en-US" sz="1100" dirty="0">
              <a:solidFill>
                <a:srgbClr val="0070C0"/>
              </a:solidFill>
            </a:endParaRPr>
          </a:p>
          <a:p>
            <a:endParaRPr lang="en-MY" sz="1100" dirty="0">
              <a:solidFill>
                <a:srgbClr val="0070C0"/>
              </a:solidFill>
            </a:endParaRPr>
          </a:p>
        </p:txBody>
      </p:sp>
      <p:sp>
        <p:nvSpPr>
          <p:cNvPr id="13" name="Arrow: Down 12">
            <a:extLst>
              <a:ext uri="{FF2B5EF4-FFF2-40B4-BE49-F238E27FC236}">
                <a16:creationId xmlns:a16="http://schemas.microsoft.com/office/drawing/2014/main" id="{DD6EDE9D-0A15-AA41-31CC-E827FAE45E86}"/>
              </a:ext>
            </a:extLst>
          </p:cNvPr>
          <p:cNvSpPr/>
          <p:nvPr/>
        </p:nvSpPr>
        <p:spPr>
          <a:xfrm rot="2414194">
            <a:off x="4489410" y="2091098"/>
            <a:ext cx="397180" cy="4905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5" name="Left Brace 14">
            <a:extLst>
              <a:ext uri="{FF2B5EF4-FFF2-40B4-BE49-F238E27FC236}">
                <a16:creationId xmlns:a16="http://schemas.microsoft.com/office/drawing/2014/main" id="{2267BCAA-3FCA-3A3C-D6E7-35D235BB17B5}"/>
              </a:ext>
            </a:extLst>
          </p:cNvPr>
          <p:cNvSpPr/>
          <p:nvPr/>
        </p:nvSpPr>
        <p:spPr>
          <a:xfrm>
            <a:off x="5062324" y="1981200"/>
            <a:ext cx="697919" cy="374808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6" name="Arrow: Left-Up 15">
            <a:extLst>
              <a:ext uri="{FF2B5EF4-FFF2-40B4-BE49-F238E27FC236}">
                <a16:creationId xmlns:a16="http://schemas.microsoft.com/office/drawing/2014/main" id="{948088E4-5DEF-BD99-9BC6-B1C249F9FB31}"/>
              </a:ext>
            </a:extLst>
          </p:cNvPr>
          <p:cNvSpPr/>
          <p:nvPr/>
        </p:nvSpPr>
        <p:spPr>
          <a:xfrm>
            <a:off x="1252538" y="4730731"/>
            <a:ext cx="4090563" cy="831869"/>
          </a:xfrm>
          <a:prstGeom prst="leftUpArrow">
            <a:avLst>
              <a:gd name="adj1" fmla="val 24123"/>
              <a:gd name="adj2" fmla="val 2500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7" name="TextBox 16">
            <a:extLst>
              <a:ext uri="{FF2B5EF4-FFF2-40B4-BE49-F238E27FC236}">
                <a16:creationId xmlns:a16="http://schemas.microsoft.com/office/drawing/2014/main" id="{CB8BEC81-8E2D-4164-D332-23F2B47426E3}"/>
              </a:ext>
            </a:extLst>
          </p:cNvPr>
          <p:cNvSpPr txBox="1"/>
          <p:nvPr/>
        </p:nvSpPr>
        <p:spPr>
          <a:xfrm>
            <a:off x="2397908" y="5562600"/>
            <a:ext cx="1872512" cy="1192634"/>
          </a:xfrm>
          <a:prstGeom prst="rect">
            <a:avLst/>
          </a:prstGeom>
          <a:noFill/>
        </p:spPr>
        <p:txBody>
          <a:bodyPr wrap="square" rtlCol="0">
            <a:spAutoFit/>
          </a:bodyPr>
          <a:lstStyle/>
          <a:p>
            <a:r>
              <a:rPr lang="en-US" sz="1050" dirty="0">
                <a:solidFill>
                  <a:srgbClr val="0070C0"/>
                </a:solidFill>
              </a:rPr>
              <a:t>You can list which user story/ module that you want to develop 1</a:t>
            </a:r>
            <a:r>
              <a:rPr lang="en-US" sz="1050" baseline="30000" dirty="0">
                <a:solidFill>
                  <a:srgbClr val="0070C0"/>
                </a:solidFill>
              </a:rPr>
              <a:t>st</a:t>
            </a:r>
            <a:r>
              <a:rPr lang="en-US" sz="1000" dirty="0">
                <a:solidFill>
                  <a:srgbClr val="0070C0"/>
                </a:solidFill>
              </a:rPr>
              <a:t> 2 </a:t>
            </a:r>
            <a:r>
              <a:rPr lang="en-US" sz="1000" baseline="30000" dirty="0" err="1">
                <a:solidFill>
                  <a:srgbClr val="0070C0"/>
                </a:solidFill>
              </a:rPr>
              <a:t>st</a:t>
            </a:r>
            <a:r>
              <a:rPr lang="en-US" sz="1000" baseline="30000" dirty="0">
                <a:solidFill>
                  <a:srgbClr val="0070C0"/>
                </a:solidFill>
              </a:rPr>
              <a:t> </a:t>
            </a:r>
            <a:r>
              <a:rPr lang="en-US" sz="1000" dirty="0">
                <a:solidFill>
                  <a:srgbClr val="0070C0"/>
                </a:solidFill>
              </a:rPr>
              <a:t>and so forth in the product backlog</a:t>
            </a:r>
          </a:p>
          <a:p>
            <a:pPr marL="285750" indent="-285750">
              <a:buAutoNum type="romanLcPeriod"/>
            </a:pPr>
            <a:endParaRPr lang="en-US" sz="800" dirty="0">
              <a:solidFill>
                <a:srgbClr val="0070C0"/>
              </a:solidFill>
            </a:endParaRPr>
          </a:p>
          <a:p>
            <a:endParaRPr lang="en-US" sz="1100" dirty="0">
              <a:solidFill>
                <a:srgbClr val="0070C0"/>
              </a:solidFill>
            </a:endParaRPr>
          </a:p>
          <a:p>
            <a:endParaRPr lang="en-MY" sz="1100" dirty="0">
              <a:solidFill>
                <a:srgbClr val="0070C0"/>
              </a:solidFill>
            </a:endParaRPr>
          </a:p>
        </p:txBody>
      </p:sp>
    </p:spTree>
    <p:extLst>
      <p:ext uri="{BB962C8B-B14F-4D97-AF65-F5344CB8AC3E}">
        <p14:creationId xmlns:p14="http://schemas.microsoft.com/office/powerpoint/2010/main" val="1598165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CA1CD-C2BD-AC95-E746-E5FC3B277A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FCCFD-DB0B-48D1-8548-C903187A711A}"/>
              </a:ext>
            </a:extLst>
          </p:cNvPr>
          <p:cNvSpPr>
            <a:spLocks noGrp="1"/>
          </p:cNvSpPr>
          <p:nvPr>
            <p:ph type="title"/>
          </p:nvPr>
        </p:nvSpPr>
        <p:spPr/>
        <p:txBody>
          <a:bodyPr/>
          <a:lstStyle/>
          <a:p>
            <a:r>
              <a:rPr lang="en-US" dirty="0"/>
              <a:t>Section 2.4 User Story Details</a:t>
            </a:r>
            <a:endParaRPr lang="en-MY" dirty="0"/>
          </a:p>
        </p:txBody>
      </p:sp>
      <p:sp>
        <p:nvSpPr>
          <p:cNvPr id="4" name="Slide Number Placeholder 3">
            <a:extLst>
              <a:ext uri="{FF2B5EF4-FFF2-40B4-BE49-F238E27FC236}">
                <a16:creationId xmlns:a16="http://schemas.microsoft.com/office/drawing/2014/main" id="{305F0DB3-72B2-7E32-5B06-286FC412BBA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pic>
        <p:nvPicPr>
          <p:cNvPr id="8" name="Picture 7">
            <a:extLst>
              <a:ext uri="{FF2B5EF4-FFF2-40B4-BE49-F238E27FC236}">
                <a16:creationId xmlns:a16="http://schemas.microsoft.com/office/drawing/2014/main" id="{DE691C5F-3D89-80AE-B564-82200988C681}"/>
              </a:ext>
            </a:extLst>
          </p:cNvPr>
          <p:cNvPicPr>
            <a:picLocks noChangeAspect="1"/>
          </p:cNvPicPr>
          <p:nvPr/>
        </p:nvPicPr>
        <p:blipFill>
          <a:blip r:embed="rId2"/>
          <a:stretch>
            <a:fillRect/>
          </a:stretch>
        </p:blipFill>
        <p:spPr>
          <a:xfrm>
            <a:off x="5695951" y="1470027"/>
            <a:ext cx="2562225" cy="1816100"/>
          </a:xfrm>
          <a:prstGeom prst="rect">
            <a:avLst/>
          </a:prstGeom>
        </p:spPr>
      </p:pic>
      <p:pic>
        <p:nvPicPr>
          <p:cNvPr id="10" name="Picture 9">
            <a:extLst>
              <a:ext uri="{FF2B5EF4-FFF2-40B4-BE49-F238E27FC236}">
                <a16:creationId xmlns:a16="http://schemas.microsoft.com/office/drawing/2014/main" id="{C8C75CB1-53B8-111D-FE3A-952B49FC7067}"/>
              </a:ext>
            </a:extLst>
          </p:cNvPr>
          <p:cNvPicPr>
            <a:picLocks noChangeAspect="1"/>
          </p:cNvPicPr>
          <p:nvPr/>
        </p:nvPicPr>
        <p:blipFill>
          <a:blip r:embed="rId3"/>
          <a:stretch>
            <a:fillRect/>
          </a:stretch>
        </p:blipFill>
        <p:spPr>
          <a:xfrm>
            <a:off x="5536399" y="3429000"/>
            <a:ext cx="2881327" cy="2243149"/>
          </a:xfrm>
          <a:prstGeom prst="rect">
            <a:avLst/>
          </a:prstGeom>
        </p:spPr>
      </p:pic>
      <p:sp>
        <p:nvSpPr>
          <p:cNvPr id="11" name="TextBox 10">
            <a:extLst>
              <a:ext uri="{FF2B5EF4-FFF2-40B4-BE49-F238E27FC236}">
                <a16:creationId xmlns:a16="http://schemas.microsoft.com/office/drawing/2014/main" id="{2FEEAEEC-BE8A-FD53-A3BC-E24D78FC6153}"/>
              </a:ext>
            </a:extLst>
          </p:cNvPr>
          <p:cNvSpPr txBox="1"/>
          <p:nvPr/>
        </p:nvSpPr>
        <p:spPr>
          <a:xfrm>
            <a:off x="5414953" y="5634948"/>
            <a:ext cx="3124217" cy="1361911"/>
          </a:xfrm>
          <a:prstGeom prst="rect">
            <a:avLst/>
          </a:prstGeom>
          <a:noFill/>
        </p:spPr>
        <p:txBody>
          <a:bodyPr wrap="square" rtlCol="0">
            <a:spAutoFit/>
          </a:bodyPr>
          <a:lstStyle/>
          <a:p>
            <a:r>
              <a:rPr lang="en-US" sz="1050" dirty="0">
                <a:solidFill>
                  <a:srgbClr val="0070C0"/>
                </a:solidFill>
              </a:rPr>
              <a:t>If you have 14 user story/use cases as shown in the Emotion Chatbot Analyzer System, you must have 14 User Story Details with suitable  sequence diagram and activity diagram for each UCD,</a:t>
            </a:r>
            <a:endParaRPr lang="en-US" sz="1000" dirty="0">
              <a:solidFill>
                <a:srgbClr val="0070C0"/>
              </a:solidFill>
            </a:endParaRPr>
          </a:p>
          <a:p>
            <a:pPr marL="285750" indent="-285750">
              <a:buAutoNum type="romanLcPeriod"/>
            </a:pPr>
            <a:endParaRPr lang="en-US" sz="800" dirty="0">
              <a:solidFill>
                <a:srgbClr val="0070C0"/>
              </a:solidFill>
            </a:endParaRPr>
          </a:p>
          <a:p>
            <a:endParaRPr lang="en-US" sz="1100" dirty="0">
              <a:solidFill>
                <a:srgbClr val="0070C0"/>
              </a:solidFill>
            </a:endParaRPr>
          </a:p>
          <a:p>
            <a:endParaRPr lang="en-MY" sz="1100" dirty="0">
              <a:solidFill>
                <a:srgbClr val="0070C0"/>
              </a:solidFill>
            </a:endParaRPr>
          </a:p>
        </p:txBody>
      </p:sp>
      <p:pic>
        <p:nvPicPr>
          <p:cNvPr id="7" name="Picture 6">
            <a:extLst>
              <a:ext uri="{FF2B5EF4-FFF2-40B4-BE49-F238E27FC236}">
                <a16:creationId xmlns:a16="http://schemas.microsoft.com/office/drawing/2014/main" id="{87776C70-20B9-EFA4-5AFF-B4A195445B95}"/>
              </a:ext>
            </a:extLst>
          </p:cNvPr>
          <p:cNvPicPr>
            <a:picLocks noChangeAspect="1"/>
          </p:cNvPicPr>
          <p:nvPr/>
        </p:nvPicPr>
        <p:blipFill>
          <a:blip r:embed="rId4"/>
          <a:stretch>
            <a:fillRect/>
          </a:stretch>
        </p:blipFill>
        <p:spPr>
          <a:xfrm>
            <a:off x="114277" y="1511797"/>
            <a:ext cx="3543323" cy="1036141"/>
          </a:xfrm>
          <a:prstGeom prst="rect">
            <a:avLst/>
          </a:prstGeom>
        </p:spPr>
      </p:pic>
      <p:pic>
        <p:nvPicPr>
          <p:cNvPr id="14" name="Picture 13">
            <a:extLst>
              <a:ext uri="{FF2B5EF4-FFF2-40B4-BE49-F238E27FC236}">
                <a16:creationId xmlns:a16="http://schemas.microsoft.com/office/drawing/2014/main" id="{5FB340B4-D8C1-4070-DDA3-2EF779F8C7DF}"/>
              </a:ext>
            </a:extLst>
          </p:cNvPr>
          <p:cNvPicPr>
            <a:picLocks noChangeAspect="1"/>
          </p:cNvPicPr>
          <p:nvPr/>
        </p:nvPicPr>
        <p:blipFill>
          <a:blip r:embed="rId5"/>
          <a:stretch>
            <a:fillRect/>
          </a:stretch>
        </p:blipFill>
        <p:spPr>
          <a:xfrm>
            <a:off x="57127" y="2647535"/>
            <a:ext cx="2619398" cy="2243149"/>
          </a:xfrm>
          <a:prstGeom prst="rect">
            <a:avLst/>
          </a:prstGeom>
        </p:spPr>
      </p:pic>
      <p:pic>
        <p:nvPicPr>
          <p:cNvPr id="16" name="Picture 15">
            <a:extLst>
              <a:ext uri="{FF2B5EF4-FFF2-40B4-BE49-F238E27FC236}">
                <a16:creationId xmlns:a16="http://schemas.microsoft.com/office/drawing/2014/main" id="{2FD01812-EA30-5897-7496-B45D8B680BA7}"/>
              </a:ext>
            </a:extLst>
          </p:cNvPr>
          <p:cNvPicPr>
            <a:picLocks noChangeAspect="1"/>
          </p:cNvPicPr>
          <p:nvPr/>
        </p:nvPicPr>
        <p:blipFill>
          <a:blip r:embed="rId6"/>
          <a:stretch>
            <a:fillRect/>
          </a:stretch>
        </p:blipFill>
        <p:spPr>
          <a:xfrm>
            <a:off x="2706268" y="2910556"/>
            <a:ext cx="2681295" cy="1866913"/>
          </a:xfrm>
          <a:prstGeom prst="rect">
            <a:avLst/>
          </a:prstGeom>
        </p:spPr>
      </p:pic>
      <p:sp>
        <p:nvSpPr>
          <p:cNvPr id="17" name="TextBox 16">
            <a:extLst>
              <a:ext uri="{FF2B5EF4-FFF2-40B4-BE49-F238E27FC236}">
                <a16:creationId xmlns:a16="http://schemas.microsoft.com/office/drawing/2014/main" id="{B242392E-4BC4-1BAE-A8A4-60AD4B6BB92E}"/>
              </a:ext>
            </a:extLst>
          </p:cNvPr>
          <p:cNvSpPr txBox="1"/>
          <p:nvPr/>
        </p:nvSpPr>
        <p:spPr>
          <a:xfrm>
            <a:off x="2676525" y="4847930"/>
            <a:ext cx="2786063" cy="715581"/>
          </a:xfrm>
          <a:prstGeom prst="rect">
            <a:avLst/>
          </a:prstGeom>
          <a:noFill/>
        </p:spPr>
        <p:txBody>
          <a:bodyPr wrap="square" rtlCol="0">
            <a:spAutoFit/>
          </a:bodyPr>
          <a:lstStyle/>
          <a:p>
            <a:r>
              <a:rPr lang="en-US" sz="1050" dirty="0">
                <a:solidFill>
                  <a:srgbClr val="0070C0"/>
                </a:solidFill>
              </a:rPr>
              <a:t>Sample User Story based on the template</a:t>
            </a:r>
            <a:endParaRPr lang="en-US" sz="1000" dirty="0">
              <a:solidFill>
                <a:srgbClr val="0070C0"/>
              </a:solidFill>
            </a:endParaRPr>
          </a:p>
          <a:p>
            <a:pPr marL="285750" indent="-285750">
              <a:buAutoNum type="romanLcPeriod"/>
            </a:pPr>
            <a:endParaRPr lang="en-US" sz="800" dirty="0">
              <a:solidFill>
                <a:srgbClr val="0070C0"/>
              </a:solidFill>
            </a:endParaRPr>
          </a:p>
          <a:p>
            <a:endParaRPr lang="en-US" sz="1100" dirty="0">
              <a:solidFill>
                <a:srgbClr val="0070C0"/>
              </a:solidFill>
            </a:endParaRPr>
          </a:p>
          <a:p>
            <a:endParaRPr lang="en-MY" sz="1100" dirty="0">
              <a:solidFill>
                <a:srgbClr val="0070C0"/>
              </a:solidFill>
            </a:endParaRPr>
          </a:p>
        </p:txBody>
      </p:sp>
      <p:sp>
        <p:nvSpPr>
          <p:cNvPr id="18" name="Arrow: Down 17">
            <a:extLst>
              <a:ext uri="{FF2B5EF4-FFF2-40B4-BE49-F238E27FC236}">
                <a16:creationId xmlns:a16="http://schemas.microsoft.com/office/drawing/2014/main" id="{DC7C8F20-5AF2-849F-7917-3BCA56F7FB98}"/>
              </a:ext>
            </a:extLst>
          </p:cNvPr>
          <p:cNvSpPr/>
          <p:nvPr/>
        </p:nvSpPr>
        <p:spPr>
          <a:xfrm rot="8075939">
            <a:off x="8340580" y="2665288"/>
            <a:ext cx="397180" cy="4905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9" name="Arrow: Down 18">
            <a:extLst>
              <a:ext uri="{FF2B5EF4-FFF2-40B4-BE49-F238E27FC236}">
                <a16:creationId xmlns:a16="http://schemas.microsoft.com/office/drawing/2014/main" id="{C44127BF-081C-C39E-1FD0-FC8D5164CEB2}"/>
              </a:ext>
            </a:extLst>
          </p:cNvPr>
          <p:cNvSpPr/>
          <p:nvPr/>
        </p:nvSpPr>
        <p:spPr>
          <a:xfrm rot="2834497">
            <a:off x="8412254" y="4133835"/>
            <a:ext cx="397180" cy="4905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08905032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2668</TotalTime>
  <Words>905</Words>
  <Application>Microsoft Office PowerPoint</Application>
  <PresentationFormat>On-screen Show (4:3)</PresentationFormat>
  <Paragraphs>148</Paragraphs>
  <Slides>19</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19</vt:i4>
      </vt:variant>
    </vt:vector>
  </HeadingPairs>
  <TitlesOfParts>
    <vt:vector size="24" baseType="lpstr">
      <vt:lpstr>Arial</vt:lpstr>
      <vt:lpstr>Calibri</vt:lpstr>
      <vt:lpstr>Libre Baskerville</vt:lpstr>
      <vt:lpstr>Office Theme</vt:lpstr>
      <vt:lpstr>Custom Design</vt:lpstr>
      <vt:lpstr>REQUIREMENTS DOCUMENT</vt:lpstr>
      <vt:lpstr>System Documentation SD Template Document Content </vt:lpstr>
      <vt:lpstr>Process to complete the System Documentation Template </vt:lpstr>
      <vt:lpstr>SRS sections which are the same in both SRS Plan Driven and SRS Agile </vt:lpstr>
      <vt:lpstr>Revision Page (the same in both SRS Plan Driven and SRS Agile) </vt:lpstr>
      <vt:lpstr>Section 1</vt:lpstr>
      <vt:lpstr>Section 2.4 Performance and Other Requirements</vt:lpstr>
      <vt:lpstr>Section 2.5 Design Constraints </vt:lpstr>
      <vt:lpstr>SRS for Plan-Driven based system development </vt:lpstr>
      <vt:lpstr>Section 2. Specific Requirements</vt:lpstr>
      <vt:lpstr>Sub-section 2.2 System Features</vt:lpstr>
      <vt:lpstr>Sub-section 2.2 System Features</vt:lpstr>
      <vt:lpstr>Sub-section 2.3 Use Case Details</vt:lpstr>
      <vt:lpstr>SRS for Agile based system development </vt:lpstr>
      <vt:lpstr>Sub-Section 2.1.1 Persona</vt:lpstr>
      <vt:lpstr>Sub-section 2.2 System Features</vt:lpstr>
      <vt:lpstr>Sub-section 2.2 System Features</vt:lpstr>
      <vt:lpstr>Sub-section 2.3 System Features</vt:lpstr>
      <vt:lpstr>Section 2.4 User Story Details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DOCUMENT</dc:title>
  <dc:creator>Referee</dc:creator>
  <cp:lastModifiedBy>user</cp:lastModifiedBy>
  <cp:revision>9</cp:revision>
  <dcterms:created xsi:type="dcterms:W3CDTF">2012-07-30T02:22:03Z</dcterms:created>
  <dcterms:modified xsi:type="dcterms:W3CDTF">2024-11-17T08:15:46Z</dcterms:modified>
</cp:coreProperties>
</file>